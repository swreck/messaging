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7"/>
  </p:notesMasterIdLst>
  <p:handoutMasterIdLst>
    <p:handoutMasterId r:id="rId18"/>
  </p:handoutMasterIdLst>
  <p:sldIdLst>
    <p:sldId id="286" r:id="rId2"/>
    <p:sldId id="289" r:id="rId3"/>
    <p:sldId id="281" r:id="rId4"/>
    <p:sldId id="290" r:id="rId5"/>
    <p:sldId id="291" r:id="rId6"/>
    <p:sldId id="292" r:id="rId7"/>
    <p:sldId id="293" r:id="rId8"/>
    <p:sldId id="294" r:id="rId9"/>
    <p:sldId id="295" r:id="rId10"/>
    <p:sldId id="300" r:id="rId11"/>
    <p:sldId id="297" r:id="rId12"/>
    <p:sldId id="298" r:id="rId13"/>
    <p:sldId id="299" r:id="rId14"/>
    <p:sldId id="301" r:id="rId15"/>
    <p:sldId id="296" r:id="rId16"/>
  </p:sldIdLst>
  <p:sldSz cx="9144000" cy="6858000" type="screen4x3"/>
  <p:notesSz cx="7077075" cy="9363075"/>
  <p:defaultTextStyle>
    <a:defPPr>
      <a:defRPr lang="en-US"/>
    </a:defPPr>
    <a:lvl1pPr algn="ctr" rtl="0" fontAlgn="base">
      <a:spcBef>
        <a:spcPct val="0"/>
      </a:spcBef>
      <a:spcAft>
        <a:spcPct val="0"/>
      </a:spcAft>
      <a:defRPr sz="2400" kern="1200">
        <a:solidFill>
          <a:schemeClr val="tx1"/>
        </a:solidFill>
        <a:latin typeface="Times New Roman" pitchFamily="18" charset="0"/>
        <a:ea typeface="+mn-ea"/>
        <a:cs typeface="+mn-cs"/>
      </a:defRPr>
    </a:lvl1pPr>
    <a:lvl2pPr marL="457200" algn="ctr" rtl="0" fontAlgn="base">
      <a:spcBef>
        <a:spcPct val="0"/>
      </a:spcBef>
      <a:spcAft>
        <a:spcPct val="0"/>
      </a:spcAft>
      <a:defRPr sz="2400" kern="1200">
        <a:solidFill>
          <a:schemeClr val="tx1"/>
        </a:solidFill>
        <a:latin typeface="Times New Roman" pitchFamily="18" charset="0"/>
        <a:ea typeface="+mn-ea"/>
        <a:cs typeface="+mn-cs"/>
      </a:defRPr>
    </a:lvl2pPr>
    <a:lvl3pPr marL="914400" algn="ctr" rtl="0" fontAlgn="base">
      <a:spcBef>
        <a:spcPct val="0"/>
      </a:spcBef>
      <a:spcAft>
        <a:spcPct val="0"/>
      </a:spcAft>
      <a:defRPr sz="2400" kern="1200">
        <a:solidFill>
          <a:schemeClr val="tx1"/>
        </a:solidFill>
        <a:latin typeface="Times New Roman" pitchFamily="18" charset="0"/>
        <a:ea typeface="+mn-ea"/>
        <a:cs typeface="+mn-cs"/>
      </a:defRPr>
    </a:lvl3pPr>
    <a:lvl4pPr marL="1371600" algn="ctr" rtl="0" fontAlgn="base">
      <a:spcBef>
        <a:spcPct val="0"/>
      </a:spcBef>
      <a:spcAft>
        <a:spcPct val="0"/>
      </a:spcAft>
      <a:defRPr sz="2400" kern="1200">
        <a:solidFill>
          <a:schemeClr val="tx1"/>
        </a:solidFill>
        <a:latin typeface="Times New Roman" pitchFamily="18" charset="0"/>
        <a:ea typeface="+mn-ea"/>
        <a:cs typeface="+mn-cs"/>
      </a:defRPr>
    </a:lvl4pPr>
    <a:lvl5pPr marL="1828800" algn="ctr"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528" userDrawn="1">
          <p15:clr>
            <a:srgbClr val="A4A3A4"/>
          </p15:clr>
        </p15:guide>
        <p15:guide id="2" orient="horz" pos="1896" userDrawn="1">
          <p15:clr>
            <a:srgbClr val="A4A3A4"/>
          </p15:clr>
        </p15:guide>
        <p15:guide id="3" pos="254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BB6"/>
    <a:srgbClr val="FFFF01"/>
    <a:srgbClr val="A96037"/>
    <a:srgbClr val="75D580"/>
    <a:srgbClr val="71E181"/>
    <a:srgbClr val="7ED969"/>
    <a:srgbClr val="FDA599"/>
    <a:srgbClr val="FC5C46"/>
    <a:srgbClr val="A51603"/>
    <a:srgbClr val="97B1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113" autoAdjust="0"/>
    <p:restoredTop sz="90929"/>
  </p:normalViewPr>
  <p:slideViewPr>
    <p:cSldViewPr snapToGrid="0">
      <p:cViewPr varScale="1">
        <p:scale>
          <a:sx n="124" d="100"/>
          <a:sy n="124" d="100"/>
        </p:scale>
        <p:origin x="600" y="176"/>
      </p:cViewPr>
      <p:guideLst>
        <p:guide orient="horz" pos="3528"/>
        <p:guide orient="horz" pos="1896"/>
        <p:guide pos="2544"/>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128" d="100"/>
          <a:sy n="128" d="100"/>
        </p:scale>
        <p:origin x="1512" y="1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3" Type="http://schemas.openxmlformats.org/officeDocument/2006/relationships/slide" Target="slides/slide5.xml"/><Relationship Id="rId7" Type="http://schemas.openxmlformats.org/officeDocument/2006/relationships/slide" Target="slides/slide9.xml"/><Relationship Id="rId2" Type="http://schemas.openxmlformats.org/officeDocument/2006/relationships/slide" Target="slides/slide4.xml"/><Relationship Id="rId1" Type="http://schemas.openxmlformats.org/officeDocument/2006/relationships/slide" Target="slides/slide3.xml"/><Relationship Id="rId6" Type="http://schemas.openxmlformats.org/officeDocument/2006/relationships/slide" Target="slides/slide8.xml"/><Relationship Id="rId11" Type="http://schemas.openxmlformats.org/officeDocument/2006/relationships/slide" Target="slides/slide13.xml"/><Relationship Id="rId5" Type="http://schemas.openxmlformats.org/officeDocument/2006/relationships/slide" Target="slides/slide7.xml"/><Relationship Id="rId10" Type="http://schemas.openxmlformats.org/officeDocument/2006/relationships/slide" Target="slides/slide12.xml"/><Relationship Id="rId4" Type="http://schemas.openxmlformats.org/officeDocument/2006/relationships/slide" Target="slides/slide6.xml"/><Relationship Id="rId9" Type="http://schemas.openxmlformats.org/officeDocument/2006/relationships/slide" Target="slides/slide1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8790D9-0B37-4B23-B620-09D5BECDB87C}"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602698D8-C482-48B3-8063-D9C851B1A1EC}">
      <dgm:prSet phldrT="[Text]"/>
      <dgm:spPr/>
      <dgm:t>
        <a:bodyPr/>
        <a:lstStyle/>
        <a:p>
          <a:r>
            <a:rPr lang="en-US" dirty="0">
              <a:latin typeface="Arial Narrow" panose="020B0606020202030204" pitchFamily="34" charset="0"/>
            </a:rPr>
            <a:t>Persuasive!</a:t>
          </a:r>
        </a:p>
      </dgm:t>
    </dgm:pt>
    <dgm:pt modelId="{597862E6-02A9-43B4-81D5-A5C9E278C796}" type="parTrans" cxnId="{D0F9087E-5459-4F38-B2ED-2347DA380F97}">
      <dgm:prSet/>
      <dgm:spPr/>
      <dgm:t>
        <a:bodyPr/>
        <a:lstStyle/>
        <a:p>
          <a:endParaRPr lang="en-US">
            <a:latin typeface="Arial Narrow" panose="020B0606020202030204" pitchFamily="34" charset="0"/>
          </a:endParaRPr>
        </a:p>
      </dgm:t>
    </dgm:pt>
    <dgm:pt modelId="{AA5BCC50-5B27-49CB-B12C-A4DED0471000}" type="sibTrans" cxnId="{D0F9087E-5459-4F38-B2ED-2347DA380F97}">
      <dgm:prSet/>
      <dgm:spPr/>
      <dgm:t>
        <a:bodyPr/>
        <a:lstStyle/>
        <a:p>
          <a:endParaRPr lang="en-US">
            <a:latin typeface="Arial Narrow" panose="020B0606020202030204" pitchFamily="34" charset="0"/>
          </a:endParaRPr>
        </a:p>
      </dgm:t>
    </dgm:pt>
    <dgm:pt modelId="{A86C07C4-AB82-4674-BD2A-8103ECAEB0A3}">
      <dgm:prSet phldrT="[Text]"/>
      <dgm:spPr/>
      <dgm:t>
        <a:bodyPr/>
        <a:lstStyle/>
        <a:p>
          <a:r>
            <a:rPr lang="en-US" dirty="0">
              <a:latin typeface="Arial Narrow" panose="020B0606020202030204" pitchFamily="34" charset="0"/>
            </a:rPr>
            <a:t>Focused on Audience Value</a:t>
          </a:r>
        </a:p>
      </dgm:t>
    </dgm:pt>
    <dgm:pt modelId="{24D45BD9-7875-40BF-AF2C-36A76DD20226}" type="parTrans" cxnId="{26099B5E-FFEF-4A32-B73F-C46184104F95}">
      <dgm:prSet/>
      <dgm:spPr/>
      <dgm:t>
        <a:bodyPr/>
        <a:lstStyle/>
        <a:p>
          <a:endParaRPr lang="en-US">
            <a:latin typeface="Arial Narrow" panose="020B0606020202030204" pitchFamily="34" charset="0"/>
          </a:endParaRPr>
        </a:p>
      </dgm:t>
    </dgm:pt>
    <dgm:pt modelId="{690440B2-5410-4546-BD24-77AEFACCF237}" type="sibTrans" cxnId="{26099B5E-FFEF-4A32-B73F-C46184104F95}">
      <dgm:prSet/>
      <dgm:spPr/>
      <dgm:t>
        <a:bodyPr/>
        <a:lstStyle/>
        <a:p>
          <a:endParaRPr lang="en-US">
            <a:latin typeface="Arial Narrow" panose="020B0606020202030204" pitchFamily="34" charset="0"/>
          </a:endParaRPr>
        </a:p>
      </dgm:t>
    </dgm:pt>
    <dgm:pt modelId="{DA2015CE-FB21-4698-A2D6-CD45E6066A1D}">
      <dgm:prSet phldrT="[Text]"/>
      <dgm:spPr/>
      <dgm:t>
        <a:bodyPr/>
        <a:lstStyle/>
        <a:p>
          <a:r>
            <a:rPr lang="en-US" dirty="0">
              <a:latin typeface="Arial Narrow" panose="020B0606020202030204" pitchFamily="34" charset="0"/>
            </a:rPr>
            <a:t>Easy to Create</a:t>
          </a:r>
        </a:p>
      </dgm:t>
    </dgm:pt>
    <dgm:pt modelId="{1CFC80B0-349B-44C6-972E-B6680660CD94}" type="parTrans" cxnId="{EB3B010C-8A5A-484E-AA00-220374488DA5}">
      <dgm:prSet/>
      <dgm:spPr/>
      <dgm:t>
        <a:bodyPr/>
        <a:lstStyle/>
        <a:p>
          <a:endParaRPr lang="en-US">
            <a:latin typeface="Arial Narrow" panose="020B0606020202030204" pitchFamily="34" charset="0"/>
          </a:endParaRPr>
        </a:p>
      </dgm:t>
    </dgm:pt>
    <dgm:pt modelId="{B091EDDB-C87B-4DCA-820A-F1CA9068053E}" type="sibTrans" cxnId="{EB3B010C-8A5A-484E-AA00-220374488DA5}">
      <dgm:prSet/>
      <dgm:spPr/>
      <dgm:t>
        <a:bodyPr/>
        <a:lstStyle/>
        <a:p>
          <a:endParaRPr lang="en-US">
            <a:latin typeface="Arial Narrow" panose="020B0606020202030204" pitchFamily="34" charset="0"/>
          </a:endParaRPr>
        </a:p>
      </dgm:t>
    </dgm:pt>
    <dgm:pt modelId="{8FA75E77-A40F-46B8-96AD-685D30494497}">
      <dgm:prSet phldrT="[Text]"/>
      <dgm:spPr/>
      <dgm:t>
        <a:bodyPr/>
        <a:lstStyle/>
        <a:p>
          <a:r>
            <a:rPr lang="en-US" dirty="0">
              <a:latin typeface="Arial Narrow" panose="020B0606020202030204" pitchFamily="34" charset="0"/>
            </a:rPr>
            <a:t>Easy to Remember</a:t>
          </a:r>
        </a:p>
      </dgm:t>
    </dgm:pt>
    <dgm:pt modelId="{77C04E21-2891-49A5-8417-FC7CCD6407BD}" type="parTrans" cxnId="{441D2B3A-CCC9-4BD6-9E11-C6311C12F93A}">
      <dgm:prSet/>
      <dgm:spPr/>
      <dgm:t>
        <a:bodyPr/>
        <a:lstStyle/>
        <a:p>
          <a:endParaRPr lang="en-US">
            <a:latin typeface="Arial Narrow" panose="020B0606020202030204" pitchFamily="34" charset="0"/>
          </a:endParaRPr>
        </a:p>
      </dgm:t>
    </dgm:pt>
    <dgm:pt modelId="{25D88390-B37F-4BB8-9744-4BDB47DD2D76}" type="sibTrans" cxnId="{441D2B3A-CCC9-4BD6-9E11-C6311C12F93A}">
      <dgm:prSet/>
      <dgm:spPr/>
      <dgm:t>
        <a:bodyPr/>
        <a:lstStyle/>
        <a:p>
          <a:endParaRPr lang="en-US">
            <a:latin typeface="Arial Narrow" panose="020B0606020202030204" pitchFamily="34" charset="0"/>
          </a:endParaRPr>
        </a:p>
      </dgm:t>
    </dgm:pt>
    <dgm:pt modelId="{083E9F29-8E31-4522-BFEF-3FE374F2C70F}">
      <dgm:prSet phldrT="[Text]"/>
      <dgm:spPr/>
      <dgm:t>
        <a:bodyPr/>
        <a:lstStyle/>
        <a:p>
          <a:r>
            <a:rPr lang="en-US" dirty="0">
              <a:latin typeface="Arial Narrow" panose="020B0606020202030204" pitchFamily="34" charset="0"/>
            </a:rPr>
            <a:t>Works in Short &amp; Long Discussions</a:t>
          </a:r>
        </a:p>
      </dgm:t>
    </dgm:pt>
    <dgm:pt modelId="{FA45E0DA-C422-4C2D-A02B-7D5ED6C46239}" type="parTrans" cxnId="{1594B675-EE98-43D6-9339-FE58BE8F698D}">
      <dgm:prSet/>
      <dgm:spPr/>
      <dgm:t>
        <a:bodyPr/>
        <a:lstStyle/>
        <a:p>
          <a:endParaRPr lang="en-US">
            <a:latin typeface="Arial Narrow" panose="020B0606020202030204" pitchFamily="34" charset="0"/>
          </a:endParaRPr>
        </a:p>
      </dgm:t>
    </dgm:pt>
    <dgm:pt modelId="{86A8D18F-F8C3-421E-806C-758A45DE49C4}" type="sibTrans" cxnId="{1594B675-EE98-43D6-9339-FE58BE8F698D}">
      <dgm:prSet/>
      <dgm:spPr/>
      <dgm:t>
        <a:bodyPr/>
        <a:lstStyle/>
        <a:p>
          <a:endParaRPr lang="en-US">
            <a:latin typeface="Arial Narrow" panose="020B0606020202030204" pitchFamily="34" charset="0"/>
          </a:endParaRPr>
        </a:p>
      </dgm:t>
    </dgm:pt>
    <dgm:pt modelId="{C610E0F0-B5BF-4495-9C51-2B39CDE68F17}">
      <dgm:prSet phldrT="[Text]"/>
      <dgm:spPr/>
      <dgm:t>
        <a:bodyPr/>
        <a:lstStyle/>
        <a:p>
          <a:r>
            <a:rPr lang="en-US" dirty="0">
              <a:latin typeface="Arial Narrow" panose="020B0606020202030204" pitchFamily="34" charset="0"/>
            </a:rPr>
            <a:t>Easy to Teach</a:t>
          </a:r>
        </a:p>
      </dgm:t>
    </dgm:pt>
    <dgm:pt modelId="{484B3F97-F868-4573-90FD-BAB9F1CD7E2D}" type="parTrans" cxnId="{C23D384D-C7A6-4126-8B6B-D090AB847084}">
      <dgm:prSet/>
      <dgm:spPr/>
      <dgm:t>
        <a:bodyPr/>
        <a:lstStyle/>
        <a:p>
          <a:endParaRPr lang="en-US"/>
        </a:p>
      </dgm:t>
    </dgm:pt>
    <dgm:pt modelId="{56467A04-E040-4807-A2A0-B567C98AF094}" type="sibTrans" cxnId="{C23D384D-C7A6-4126-8B6B-D090AB847084}">
      <dgm:prSet/>
      <dgm:spPr/>
      <dgm:t>
        <a:bodyPr/>
        <a:lstStyle/>
        <a:p>
          <a:endParaRPr lang="en-US"/>
        </a:p>
      </dgm:t>
    </dgm:pt>
    <dgm:pt modelId="{10F0F5AB-58B6-4537-ACC8-0D35023F57D5}" type="pres">
      <dgm:prSet presAssocID="{378790D9-0B37-4B23-B620-09D5BECDB87C}" presName="diagram" presStyleCnt="0">
        <dgm:presLayoutVars>
          <dgm:dir/>
          <dgm:resizeHandles val="exact"/>
        </dgm:presLayoutVars>
      </dgm:prSet>
      <dgm:spPr/>
    </dgm:pt>
    <dgm:pt modelId="{B2E83402-53E4-434F-B026-7053EDA956B2}" type="pres">
      <dgm:prSet presAssocID="{602698D8-C482-48B3-8063-D9C851B1A1EC}" presName="node" presStyleLbl="node1" presStyleIdx="0" presStyleCnt="6">
        <dgm:presLayoutVars>
          <dgm:bulletEnabled val="1"/>
        </dgm:presLayoutVars>
      </dgm:prSet>
      <dgm:spPr/>
    </dgm:pt>
    <dgm:pt modelId="{773F4C8A-7D1B-4BE9-93E3-EF4D7321859D}" type="pres">
      <dgm:prSet presAssocID="{AA5BCC50-5B27-49CB-B12C-A4DED0471000}" presName="sibTrans" presStyleCnt="0"/>
      <dgm:spPr/>
    </dgm:pt>
    <dgm:pt modelId="{207F3D59-E3B6-4572-AF0B-D18723B3537F}" type="pres">
      <dgm:prSet presAssocID="{A86C07C4-AB82-4674-BD2A-8103ECAEB0A3}" presName="node" presStyleLbl="node1" presStyleIdx="1" presStyleCnt="6">
        <dgm:presLayoutVars>
          <dgm:bulletEnabled val="1"/>
        </dgm:presLayoutVars>
      </dgm:prSet>
      <dgm:spPr/>
    </dgm:pt>
    <dgm:pt modelId="{17256F4E-8013-4CA0-9FB0-D95FF73647A0}" type="pres">
      <dgm:prSet presAssocID="{690440B2-5410-4546-BD24-77AEFACCF237}" presName="sibTrans" presStyleCnt="0"/>
      <dgm:spPr/>
    </dgm:pt>
    <dgm:pt modelId="{F541A1BE-BB67-4E6F-A64C-D94EC6B77AF1}" type="pres">
      <dgm:prSet presAssocID="{DA2015CE-FB21-4698-A2D6-CD45E6066A1D}" presName="node" presStyleLbl="node1" presStyleIdx="2" presStyleCnt="6">
        <dgm:presLayoutVars>
          <dgm:bulletEnabled val="1"/>
        </dgm:presLayoutVars>
      </dgm:prSet>
      <dgm:spPr/>
    </dgm:pt>
    <dgm:pt modelId="{59CF6FE8-F064-425C-BC2D-CD3FDBDF03B3}" type="pres">
      <dgm:prSet presAssocID="{B091EDDB-C87B-4DCA-820A-F1CA9068053E}" presName="sibTrans" presStyleCnt="0"/>
      <dgm:spPr/>
    </dgm:pt>
    <dgm:pt modelId="{E1EF683E-A356-40C1-B84D-089967B0F4A2}" type="pres">
      <dgm:prSet presAssocID="{8FA75E77-A40F-46B8-96AD-685D30494497}" presName="node" presStyleLbl="node1" presStyleIdx="3" presStyleCnt="6">
        <dgm:presLayoutVars>
          <dgm:bulletEnabled val="1"/>
        </dgm:presLayoutVars>
      </dgm:prSet>
      <dgm:spPr/>
    </dgm:pt>
    <dgm:pt modelId="{8D2FF7A5-F872-437D-B66B-7663695B0586}" type="pres">
      <dgm:prSet presAssocID="{25D88390-B37F-4BB8-9744-4BDB47DD2D76}" presName="sibTrans" presStyleCnt="0"/>
      <dgm:spPr/>
    </dgm:pt>
    <dgm:pt modelId="{CD43622C-4366-4F15-8FC4-AA9004075A8E}" type="pres">
      <dgm:prSet presAssocID="{C610E0F0-B5BF-4495-9C51-2B39CDE68F17}" presName="node" presStyleLbl="node1" presStyleIdx="4" presStyleCnt="6">
        <dgm:presLayoutVars>
          <dgm:bulletEnabled val="1"/>
        </dgm:presLayoutVars>
      </dgm:prSet>
      <dgm:spPr/>
    </dgm:pt>
    <dgm:pt modelId="{D6864A79-9F7B-401E-95D9-A10483288632}" type="pres">
      <dgm:prSet presAssocID="{56467A04-E040-4807-A2A0-B567C98AF094}" presName="sibTrans" presStyleCnt="0"/>
      <dgm:spPr/>
    </dgm:pt>
    <dgm:pt modelId="{EEBF7C4F-F352-4BE0-B553-ABBF7A438C2A}" type="pres">
      <dgm:prSet presAssocID="{083E9F29-8E31-4522-BFEF-3FE374F2C70F}" presName="node" presStyleLbl="node1" presStyleIdx="5" presStyleCnt="6">
        <dgm:presLayoutVars>
          <dgm:bulletEnabled val="1"/>
        </dgm:presLayoutVars>
      </dgm:prSet>
      <dgm:spPr/>
    </dgm:pt>
  </dgm:ptLst>
  <dgm:cxnLst>
    <dgm:cxn modelId="{EB3B010C-8A5A-484E-AA00-220374488DA5}" srcId="{378790D9-0B37-4B23-B620-09D5BECDB87C}" destId="{DA2015CE-FB21-4698-A2D6-CD45E6066A1D}" srcOrd="2" destOrd="0" parTransId="{1CFC80B0-349B-44C6-972E-B6680660CD94}" sibTransId="{B091EDDB-C87B-4DCA-820A-F1CA9068053E}"/>
    <dgm:cxn modelId="{3D3C2533-1D0C-492B-AE5E-7B93C2E943A6}" type="presOf" srcId="{C610E0F0-B5BF-4495-9C51-2B39CDE68F17}" destId="{CD43622C-4366-4F15-8FC4-AA9004075A8E}" srcOrd="0" destOrd="0" presId="urn:microsoft.com/office/officeart/2005/8/layout/default"/>
    <dgm:cxn modelId="{441D2B3A-CCC9-4BD6-9E11-C6311C12F93A}" srcId="{378790D9-0B37-4B23-B620-09D5BECDB87C}" destId="{8FA75E77-A40F-46B8-96AD-685D30494497}" srcOrd="3" destOrd="0" parTransId="{77C04E21-2891-49A5-8417-FC7CCD6407BD}" sibTransId="{25D88390-B37F-4BB8-9744-4BDB47DD2D76}"/>
    <dgm:cxn modelId="{FE53E83C-C1FF-4050-8839-F7D9BBD49787}" type="presOf" srcId="{378790D9-0B37-4B23-B620-09D5BECDB87C}" destId="{10F0F5AB-58B6-4537-ACC8-0D35023F57D5}" srcOrd="0" destOrd="0" presId="urn:microsoft.com/office/officeart/2005/8/layout/default"/>
    <dgm:cxn modelId="{C23D384D-C7A6-4126-8B6B-D090AB847084}" srcId="{378790D9-0B37-4B23-B620-09D5BECDB87C}" destId="{C610E0F0-B5BF-4495-9C51-2B39CDE68F17}" srcOrd="4" destOrd="0" parTransId="{484B3F97-F868-4573-90FD-BAB9F1CD7E2D}" sibTransId="{56467A04-E040-4807-A2A0-B567C98AF094}"/>
    <dgm:cxn modelId="{26099B5E-FFEF-4A32-B73F-C46184104F95}" srcId="{378790D9-0B37-4B23-B620-09D5BECDB87C}" destId="{A86C07C4-AB82-4674-BD2A-8103ECAEB0A3}" srcOrd="1" destOrd="0" parTransId="{24D45BD9-7875-40BF-AF2C-36A76DD20226}" sibTransId="{690440B2-5410-4546-BD24-77AEFACCF237}"/>
    <dgm:cxn modelId="{EFCC5269-1392-4875-AC8A-0EBF0F9FBE4F}" type="presOf" srcId="{A86C07C4-AB82-4674-BD2A-8103ECAEB0A3}" destId="{207F3D59-E3B6-4572-AF0B-D18723B3537F}" srcOrd="0" destOrd="0" presId="urn:microsoft.com/office/officeart/2005/8/layout/default"/>
    <dgm:cxn modelId="{1594B675-EE98-43D6-9339-FE58BE8F698D}" srcId="{378790D9-0B37-4B23-B620-09D5BECDB87C}" destId="{083E9F29-8E31-4522-BFEF-3FE374F2C70F}" srcOrd="5" destOrd="0" parTransId="{FA45E0DA-C422-4C2D-A02B-7D5ED6C46239}" sibTransId="{86A8D18F-F8C3-421E-806C-758A45DE49C4}"/>
    <dgm:cxn modelId="{D0F9087E-5459-4F38-B2ED-2347DA380F97}" srcId="{378790D9-0B37-4B23-B620-09D5BECDB87C}" destId="{602698D8-C482-48B3-8063-D9C851B1A1EC}" srcOrd="0" destOrd="0" parTransId="{597862E6-02A9-43B4-81D5-A5C9E278C796}" sibTransId="{AA5BCC50-5B27-49CB-B12C-A4DED0471000}"/>
    <dgm:cxn modelId="{7BE02F8B-F73D-4705-8E1E-1918AEA691F3}" type="presOf" srcId="{8FA75E77-A40F-46B8-96AD-685D30494497}" destId="{E1EF683E-A356-40C1-B84D-089967B0F4A2}" srcOrd="0" destOrd="0" presId="urn:microsoft.com/office/officeart/2005/8/layout/default"/>
    <dgm:cxn modelId="{914908AD-A835-4336-9F85-F372D77CDAAB}" type="presOf" srcId="{083E9F29-8E31-4522-BFEF-3FE374F2C70F}" destId="{EEBF7C4F-F352-4BE0-B553-ABBF7A438C2A}" srcOrd="0" destOrd="0" presId="urn:microsoft.com/office/officeart/2005/8/layout/default"/>
    <dgm:cxn modelId="{4C8816CB-B3E5-44FB-A678-36280984EC66}" type="presOf" srcId="{602698D8-C482-48B3-8063-D9C851B1A1EC}" destId="{B2E83402-53E4-434F-B026-7053EDA956B2}" srcOrd="0" destOrd="0" presId="urn:microsoft.com/office/officeart/2005/8/layout/default"/>
    <dgm:cxn modelId="{A3F939F2-EA76-4C7D-B3D3-62B9CCDF77BB}" type="presOf" srcId="{DA2015CE-FB21-4698-A2D6-CD45E6066A1D}" destId="{F541A1BE-BB67-4E6F-A64C-D94EC6B77AF1}" srcOrd="0" destOrd="0" presId="urn:microsoft.com/office/officeart/2005/8/layout/default"/>
    <dgm:cxn modelId="{E42EAC63-63D5-4743-B5D3-22A241BBA575}" type="presParOf" srcId="{10F0F5AB-58B6-4537-ACC8-0D35023F57D5}" destId="{B2E83402-53E4-434F-B026-7053EDA956B2}" srcOrd="0" destOrd="0" presId="urn:microsoft.com/office/officeart/2005/8/layout/default"/>
    <dgm:cxn modelId="{B6B5888C-22AE-4551-A0A5-F309473E4F39}" type="presParOf" srcId="{10F0F5AB-58B6-4537-ACC8-0D35023F57D5}" destId="{773F4C8A-7D1B-4BE9-93E3-EF4D7321859D}" srcOrd="1" destOrd="0" presId="urn:microsoft.com/office/officeart/2005/8/layout/default"/>
    <dgm:cxn modelId="{192F9399-1B73-4C51-9D8A-5BB12249145A}" type="presParOf" srcId="{10F0F5AB-58B6-4537-ACC8-0D35023F57D5}" destId="{207F3D59-E3B6-4572-AF0B-D18723B3537F}" srcOrd="2" destOrd="0" presId="urn:microsoft.com/office/officeart/2005/8/layout/default"/>
    <dgm:cxn modelId="{18438BF8-75ED-4EB8-BC65-B4DFC998BCB8}" type="presParOf" srcId="{10F0F5AB-58B6-4537-ACC8-0D35023F57D5}" destId="{17256F4E-8013-4CA0-9FB0-D95FF73647A0}" srcOrd="3" destOrd="0" presId="urn:microsoft.com/office/officeart/2005/8/layout/default"/>
    <dgm:cxn modelId="{2E7FE4AD-FD43-4F73-A0AB-B93FA3E4C564}" type="presParOf" srcId="{10F0F5AB-58B6-4537-ACC8-0D35023F57D5}" destId="{F541A1BE-BB67-4E6F-A64C-D94EC6B77AF1}" srcOrd="4" destOrd="0" presId="urn:microsoft.com/office/officeart/2005/8/layout/default"/>
    <dgm:cxn modelId="{996C4E40-4298-44C9-A2A3-40DED0AE0B7F}" type="presParOf" srcId="{10F0F5AB-58B6-4537-ACC8-0D35023F57D5}" destId="{59CF6FE8-F064-425C-BC2D-CD3FDBDF03B3}" srcOrd="5" destOrd="0" presId="urn:microsoft.com/office/officeart/2005/8/layout/default"/>
    <dgm:cxn modelId="{E5B0F72F-4D96-45F9-B5A7-875EB65F398A}" type="presParOf" srcId="{10F0F5AB-58B6-4537-ACC8-0D35023F57D5}" destId="{E1EF683E-A356-40C1-B84D-089967B0F4A2}" srcOrd="6" destOrd="0" presId="urn:microsoft.com/office/officeart/2005/8/layout/default"/>
    <dgm:cxn modelId="{8249074F-A885-484C-A0C0-1BF97C4CD132}" type="presParOf" srcId="{10F0F5AB-58B6-4537-ACC8-0D35023F57D5}" destId="{8D2FF7A5-F872-437D-B66B-7663695B0586}" srcOrd="7" destOrd="0" presId="urn:microsoft.com/office/officeart/2005/8/layout/default"/>
    <dgm:cxn modelId="{2E2736E0-878F-459E-95A5-202396C59C44}" type="presParOf" srcId="{10F0F5AB-58B6-4537-ACC8-0D35023F57D5}" destId="{CD43622C-4366-4F15-8FC4-AA9004075A8E}" srcOrd="8" destOrd="0" presId="urn:microsoft.com/office/officeart/2005/8/layout/default"/>
    <dgm:cxn modelId="{BEC28353-E234-4584-80E8-8A4E88643E99}" type="presParOf" srcId="{10F0F5AB-58B6-4537-ACC8-0D35023F57D5}" destId="{D6864A79-9F7B-401E-95D9-A10483288632}" srcOrd="9" destOrd="0" presId="urn:microsoft.com/office/officeart/2005/8/layout/default"/>
    <dgm:cxn modelId="{9EE20E9F-32B9-48A1-B595-B199127D817C}" type="presParOf" srcId="{10F0F5AB-58B6-4537-ACC8-0D35023F57D5}" destId="{EEBF7C4F-F352-4BE0-B553-ABBF7A438C2A}"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83402-53E4-434F-B026-7053EDA956B2}">
      <dsp:nvSpPr>
        <dsp:cNvPr id="0" name=""/>
        <dsp:cNvSpPr/>
      </dsp:nvSpPr>
      <dsp:spPr>
        <a:xfrm>
          <a:off x="0" y="770710"/>
          <a:ext cx="2675929" cy="1605557"/>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Arial Narrow" panose="020B0606020202030204" pitchFamily="34" charset="0"/>
            </a:rPr>
            <a:t>Persuasive!</a:t>
          </a:r>
        </a:p>
      </dsp:txBody>
      <dsp:txXfrm>
        <a:off x="0" y="770710"/>
        <a:ext cx="2675929" cy="1605557"/>
      </dsp:txXfrm>
    </dsp:sp>
    <dsp:sp modelId="{207F3D59-E3B6-4572-AF0B-D18723B3537F}">
      <dsp:nvSpPr>
        <dsp:cNvPr id="0" name=""/>
        <dsp:cNvSpPr/>
      </dsp:nvSpPr>
      <dsp:spPr>
        <a:xfrm>
          <a:off x="2943522" y="770710"/>
          <a:ext cx="2675929" cy="1605557"/>
        </a:xfrm>
        <a:prstGeom prst="rect">
          <a:avLst/>
        </a:prstGeom>
        <a:solidFill>
          <a:schemeClr val="accent3">
            <a:hueOff val="-1870117"/>
            <a:satOff val="-3882"/>
            <a:lumOff val="6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Arial Narrow" panose="020B0606020202030204" pitchFamily="34" charset="0"/>
            </a:rPr>
            <a:t>Focused on Audience Value</a:t>
          </a:r>
        </a:p>
      </dsp:txBody>
      <dsp:txXfrm>
        <a:off x="2943522" y="770710"/>
        <a:ext cx="2675929" cy="1605557"/>
      </dsp:txXfrm>
    </dsp:sp>
    <dsp:sp modelId="{F541A1BE-BB67-4E6F-A64C-D94EC6B77AF1}">
      <dsp:nvSpPr>
        <dsp:cNvPr id="0" name=""/>
        <dsp:cNvSpPr/>
      </dsp:nvSpPr>
      <dsp:spPr>
        <a:xfrm>
          <a:off x="5887045" y="770710"/>
          <a:ext cx="2675929" cy="1605557"/>
        </a:xfrm>
        <a:prstGeom prst="rect">
          <a:avLst/>
        </a:prstGeom>
        <a:solidFill>
          <a:schemeClr val="accent3">
            <a:hueOff val="-3740234"/>
            <a:satOff val="-7764"/>
            <a:lumOff val="12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Arial Narrow" panose="020B0606020202030204" pitchFamily="34" charset="0"/>
            </a:rPr>
            <a:t>Easy to Create</a:t>
          </a:r>
        </a:p>
      </dsp:txBody>
      <dsp:txXfrm>
        <a:off x="5887045" y="770710"/>
        <a:ext cx="2675929" cy="1605557"/>
      </dsp:txXfrm>
    </dsp:sp>
    <dsp:sp modelId="{E1EF683E-A356-40C1-B84D-089967B0F4A2}">
      <dsp:nvSpPr>
        <dsp:cNvPr id="0" name=""/>
        <dsp:cNvSpPr/>
      </dsp:nvSpPr>
      <dsp:spPr>
        <a:xfrm>
          <a:off x="0" y="2643861"/>
          <a:ext cx="2675929" cy="1605557"/>
        </a:xfrm>
        <a:prstGeom prst="rect">
          <a:avLst/>
        </a:prstGeom>
        <a:solidFill>
          <a:schemeClr val="accent3">
            <a:hueOff val="-5610351"/>
            <a:satOff val="-11645"/>
            <a:lumOff val="184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Arial Narrow" panose="020B0606020202030204" pitchFamily="34" charset="0"/>
            </a:rPr>
            <a:t>Easy to Remember</a:t>
          </a:r>
        </a:p>
      </dsp:txBody>
      <dsp:txXfrm>
        <a:off x="0" y="2643861"/>
        <a:ext cx="2675929" cy="1605557"/>
      </dsp:txXfrm>
    </dsp:sp>
    <dsp:sp modelId="{CD43622C-4366-4F15-8FC4-AA9004075A8E}">
      <dsp:nvSpPr>
        <dsp:cNvPr id="0" name=""/>
        <dsp:cNvSpPr/>
      </dsp:nvSpPr>
      <dsp:spPr>
        <a:xfrm>
          <a:off x="2943522" y="2643861"/>
          <a:ext cx="2675929" cy="1605557"/>
        </a:xfrm>
        <a:prstGeom prst="rect">
          <a:avLst/>
        </a:prstGeom>
        <a:solidFill>
          <a:schemeClr val="accent3">
            <a:hueOff val="-7480467"/>
            <a:satOff val="-15527"/>
            <a:lumOff val="2462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Arial Narrow" panose="020B0606020202030204" pitchFamily="34" charset="0"/>
            </a:rPr>
            <a:t>Easy to Teach</a:t>
          </a:r>
        </a:p>
      </dsp:txBody>
      <dsp:txXfrm>
        <a:off x="2943522" y="2643861"/>
        <a:ext cx="2675929" cy="1605557"/>
      </dsp:txXfrm>
    </dsp:sp>
    <dsp:sp modelId="{EEBF7C4F-F352-4BE0-B553-ABBF7A438C2A}">
      <dsp:nvSpPr>
        <dsp:cNvPr id="0" name=""/>
        <dsp:cNvSpPr/>
      </dsp:nvSpPr>
      <dsp:spPr>
        <a:xfrm>
          <a:off x="5887045" y="2643861"/>
          <a:ext cx="2675929" cy="1605557"/>
        </a:xfrm>
        <a:prstGeom prst="rect">
          <a:avLst/>
        </a:prstGeom>
        <a:solidFill>
          <a:schemeClr val="accent3">
            <a:hueOff val="-9350584"/>
            <a:satOff val="-19409"/>
            <a:lumOff val="307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Arial Narrow" panose="020B0606020202030204" pitchFamily="34" charset="0"/>
            </a:rPr>
            <a:t>Works in Short &amp; Long Discussions</a:t>
          </a:r>
        </a:p>
      </dsp:txBody>
      <dsp:txXfrm>
        <a:off x="5887045" y="2643861"/>
        <a:ext cx="2675929" cy="160555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2"/>
            <a:ext cx="3066733" cy="467909"/>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lvl1pPr algn="l">
              <a:defRPr sz="1200" smtClean="0"/>
            </a:lvl1pPr>
          </a:lstStyle>
          <a:p>
            <a:pPr>
              <a:defRPr/>
            </a:pPr>
            <a:endParaRPr lang="en-US"/>
          </a:p>
        </p:txBody>
      </p:sp>
      <p:sp>
        <p:nvSpPr>
          <p:cNvPr id="9219" name="Rectangle 3"/>
          <p:cNvSpPr>
            <a:spLocks noGrp="1" noChangeArrowheads="1"/>
          </p:cNvSpPr>
          <p:nvPr>
            <p:ph type="dt" sz="quarter" idx="1"/>
          </p:nvPr>
        </p:nvSpPr>
        <p:spPr bwMode="auto">
          <a:xfrm>
            <a:off x="4010343" y="2"/>
            <a:ext cx="3066733" cy="467909"/>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lvl1pPr algn="r">
              <a:defRPr sz="1200" smtClean="0"/>
            </a:lvl1pPr>
          </a:lstStyle>
          <a:p>
            <a:pPr>
              <a:defRPr/>
            </a:pPr>
            <a:endParaRPr lang="en-US"/>
          </a:p>
        </p:txBody>
      </p:sp>
      <p:sp>
        <p:nvSpPr>
          <p:cNvPr id="9220" name="Rectangle 4"/>
          <p:cNvSpPr>
            <a:spLocks noGrp="1" noChangeArrowheads="1"/>
          </p:cNvSpPr>
          <p:nvPr>
            <p:ph type="ftr" sz="quarter" idx="2"/>
          </p:nvPr>
        </p:nvSpPr>
        <p:spPr bwMode="auto">
          <a:xfrm>
            <a:off x="0" y="8895168"/>
            <a:ext cx="3066733" cy="467909"/>
          </a:xfrm>
          <a:prstGeom prst="rect">
            <a:avLst/>
          </a:prstGeom>
          <a:noFill/>
          <a:ln w="9525">
            <a:noFill/>
            <a:miter lim="800000"/>
            <a:headEnd/>
            <a:tailEnd/>
          </a:ln>
          <a:effectLst/>
        </p:spPr>
        <p:txBody>
          <a:bodyPr vert="horz" wrap="square" lIns="94096" tIns="47049" rIns="94096" bIns="47049" numCol="1" anchor="b" anchorCtr="0" compatLnSpc="1">
            <a:prstTxWarp prst="textNoShape">
              <a:avLst/>
            </a:prstTxWarp>
          </a:bodyPr>
          <a:lstStyle>
            <a:lvl1pPr algn="l">
              <a:defRPr sz="1200" smtClean="0"/>
            </a:lvl1pPr>
          </a:lstStyle>
          <a:p>
            <a:pPr>
              <a:defRPr/>
            </a:pPr>
            <a:endParaRPr lang="en-US"/>
          </a:p>
        </p:txBody>
      </p:sp>
      <p:sp>
        <p:nvSpPr>
          <p:cNvPr id="9221" name="Rectangle 5"/>
          <p:cNvSpPr>
            <a:spLocks noGrp="1" noChangeArrowheads="1"/>
          </p:cNvSpPr>
          <p:nvPr>
            <p:ph type="sldNum" sz="quarter" idx="3"/>
          </p:nvPr>
        </p:nvSpPr>
        <p:spPr bwMode="auto">
          <a:xfrm>
            <a:off x="4010343" y="8895168"/>
            <a:ext cx="3066733" cy="467909"/>
          </a:xfrm>
          <a:prstGeom prst="rect">
            <a:avLst/>
          </a:prstGeom>
          <a:noFill/>
          <a:ln w="9525">
            <a:noFill/>
            <a:miter lim="800000"/>
            <a:headEnd/>
            <a:tailEnd/>
          </a:ln>
          <a:effectLst/>
        </p:spPr>
        <p:txBody>
          <a:bodyPr vert="horz" wrap="square" lIns="94096" tIns="47049" rIns="94096" bIns="47049" numCol="1" anchor="b" anchorCtr="0" compatLnSpc="1">
            <a:prstTxWarp prst="textNoShape">
              <a:avLst/>
            </a:prstTxWarp>
          </a:bodyPr>
          <a:lstStyle>
            <a:lvl1pPr algn="r">
              <a:defRPr sz="1200" smtClean="0"/>
            </a:lvl1pPr>
          </a:lstStyle>
          <a:p>
            <a:pPr>
              <a:defRPr/>
            </a:pPr>
            <a:fld id="{0D5F180D-C9E5-4F36-B95B-F9A7EE486964}" type="slidenum">
              <a:rPr lang="en-US"/>
              <a:pPr>
                <a:defRPr/>
              </a:pPr>
              <a:t>‹#›</a:t>
            </a:fld>
            <a:endParaRPr lang="en-US"/>
          </a:p>
        </p:txBody>
      </p:sp>
    </p:spTree>
    <p:extLst>
      <p:ext uri="{BB962C8B-B14F-4D97-AF65-F5344CB8AC3E}">
        <p14:creationId xmlns:p14="http://schemas.microsoft.com/office/powerpoint/2010/main" val="35143899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1026"/>
          <p:cNvSpPr>
            <a:spLocks noGrp="1" noChangeArrowheads="1"/>
          </p:cNvSpPr>
          <p:nvPr>
            <p:ph type="hdr" sz="quarter"/>
          </p:nvPr>
        </p:nvSpPr>
        <p:spPr bwMode="auto">
          <a:xfrm>
            <a:off x="0" y="3"/>
            <a:ext cx="3066733" cy="469539"/>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lvl1pPr algn="l">
              <a:defRPr sz="1200" smtClean="0"/>
            </a:lvl1pPr>
          </a:lstStyle>
          <a:p>
            <a:pPr>
              <a:defRPr/>
            </a:pPr>
            <a:endParaRPr lang="en-US"/>
          </a:p>
        </p:txBody>
      </p:sp>
      <p:sp>
        <p:nvSpPr>
          <p:cNvPr id="15363" name="Rectangle 1027"/>
          <p:cNvSpPr>
            <a:spLocks noGrp="1" noChangeArrowheads="1"/>
          </p:cNvSpPr>
          <p:nvPr>
            <p:ph type="dt" idx="1"/>
          </p:nvPr>
        </p:nvSpPr>
        <p:spPr bwMode="auto">
          <a:xfrm>
            <a:off x="4010343" y="3"/>
            <a:ext cx="3066733" cy="469539"/>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lvl1pPr algn="r">
              <a:defRPr sz="1200" smtClean="0"/>
            </a:lvl1pPr>
          </a:lstStyle>
          <a:p>
            <a:pPr>
              <a:defRPr/>
            </a:pPr>
            <a:endParaRPr lang="en-US"/>
          </a:p>
        </p:txBody>
      </p:sp>
      <p:sp>
        <p:nvSpPr>
          <p:cNvPr id="10244" name="Rectangle 1028"/>
          <p:cNvSpPr>
            <a:spLocks noGrp="1" noRot="1" noChangeAspect="1" noChangeArrowheads="1" noTextEdit="1"/>
          </p:cNvSpPr>
          <p:nvPr>
            <p:ph type="sldImg" idx="2"/>
          </p:nvPr>
        </p:nvSpPr>
        <p:spPr bwMode="auto">
          <a:xfrm>
            <a:off x="1189038" y="703263"/>
            <a:ext cx="4699000" cy="3524250"/>
          </a:xfrm>
          <a:prstGeom prst="rect">
            <a:avLst/>
          </a:prstGeom>
          <a:noFill/>
          <a:ln w="9525">
            <a:solidFill>
              <a:srgbClr val="000000"/>
            </a:solidFill>
            <a:miter lim="800000"/>
            <a:headEnd/>
            <a:tailEnd/>
          </a:ln>
        </p:spPr>
      </p:sp>
      <p:sp>
        <p:nvSpPr>
          <p:cNvPr id="15365" name="Rectangle 1029"/>
          <p:cNvSpPr>
            <a:spLocks noGrp="1" noChangeArrowheads="1"/>
          </p:cNvSpPr>
          <p:nvPr>
            <p:ph type="body" sz="quarter" idx="3"/>
          </p:nvPr>
        </p:nvSpPr>
        <p:spPr bwMode="auto">
          <a:xfrm>
            <a:off x="943611" y="4460628"/>
            <a:ext cx="5189856" cy="4225855"/>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1030"/>
          <p:cNvSpPr>
            <a:spLocks noGrp="1" noChangeArrowheads="1"/>
          </p:cNvSpPr>
          <p:nvPr>
            <p:ph type="ftr" sz="quarter" idx="4"/>
          </p:nvPr>
        </p:nvSpPr>
        <p:spPr bwMode="auto">
          <a:xfrm>
            <a:off x="0" y="8921252"/>
            <a:ext cx="3066733" cy="469539"/>
          </a:xfrm>
          <a:prstGeom prst="rect">
            <a:avLst/>
          </a:prstGeom>
          <a:noFill/>
          <a:ln w="9525">
            <a:noFill/>
            <a:miter lim="800000"/>
            <a:headEnd/>
            <a:tailEnd/>
          </a:ln>
          <a:effectLst/>
        </p:spPr>
        <p:txBody>
          <a:bodyPr vert="horz" wrap="square" lIns="94096" tIns="47049" rIns="94096" bIns="47049" numCol="1" anchor="b" anchorCtr="0" compatLnSpc="1">
            <a:prstTxWarp prst="textNoShape">
              <a:avLst/>
            </a:prstTxWarp>
          </a:bodyPr>
          <a:lstStyle>
            <a:lvl1pPr algn="l">
              <a:defRPr sz="1200" smtClean="0"/>
            </a:lvl1pPr>
          </a:lstStyle>
          <a:p>
            <a:pPr>
              <a:defRPr/>
            </a:pPr>
            <a:endParaRPr lang="en-US"/>
          </a:p>
        </p:txBody>
      </p:sp>
      <p:sp>
        <p:nvSpPr>
          <p:cNvPr id="15367" name="Rectangle 1031"/>
          <p:cNvSpPr>
            <a:spLocks noGrp="1" noChangeArrowheads="1"/>
          </p:cNvSpPr>
          <p:nvPr>
            <p:ph type="sldNum" sz="quarter" idx="5"/>
          </p:nvPr>
        </p:nvSpPr>
        <p:spPr bwMode="auto">
          <a:xfrm>
            <a:off x="4010343" y="8921252"/>
            <a:ext cx="3066733" cy="469539"/>
          </a:xfrm>
          <a:prstGeom prst="rect">
            <a:avLst/>
          </a:prstGeom>
          <a:noFill/>
          <a:ln w="9525">
            <a:noFill/>
            <a:miter lim="800000"/>
            <a:headEnd/>
            <a:tailEnd/>
          </a:ln>
          <a:effectLst/>
        </p:spPr>
        <p:txBody>
          <a:bodyPr vert="horz" wrap="square" lIns="94096" tIns="47049" rIns="94096" bIns="47049" numCol="1" anchor="b" anchorCtr="0" compatLnSpc="1">
            <a:prstTxWarp prst="textNoShape">
              <a:avLst/>
            </a:prstTxWarp>
          </a:bodyPr>
          <a:lstStyle>
            <a:lvl1pPr algn="r">
              <a:defRPr sz="1200" smtClean="0"/>
            </a:lvl1pPr>
          </a:lstStyle>
          <a:p>
            <a:pPr>
              <a:defRPr/>
            </a:pPr>
            <a:fld id="{0CB8D491-9511-4988-8060-948D6DEB7FDD}" type="slidenum">
              <a:rPr lang="en-US"/>
              <a:pPr>
                <a:defRPr/>
              </a:pPr>
              <a:t>‹#›</a:t>
            </a:fld>
            <a:endParaRPr lang="en-US"/>
          </a:p>
        </p:txBody>
      </p:sp>
    </p:spTree>
    <p:extLst>
      <p:ext uri="{BB962C8B-B14F-4D97-AF65-F5344CB8AC3E}">
        <p14:creationId xmlns:p14="http://schemas.microsoft.com/office/powerpoint/2010/main" val="5579724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3</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1170750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4</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2772032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5</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1395159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6</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611756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7</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490532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8</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957431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9</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3554093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10</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3200061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11</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175969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12</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2033149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6"/>
          <p:cNvSpPr>
            <a:spLocks noGrp="1" noChangeArrowheads="1"/>
          </p:cNvSpPr>
          <p:nvPr>
            <p:ph type="ftr" sz="quarter" idx="4"/>
          </p:nvPr>
        </p:nvSpPr>
        <p:spPr>
          <a:noFill/>
        </p:spPr>
        <p:txBody>
          <a:bodyPr/>
          <a:lstStyle/>
          <a:p>
            <a:r>
              <a:rPr lang="en-US"/>
              <a:t>Theory &amp; Practice</a:t>
            </a:r>
          </a:p>
        </p:txBody>
      </p:sp>
      <p:sp>
        <p:nvSpPr>
          <p:cNvPr id="133123" name="Rectangle 7"/>
          <p:cNvSpPr>
            <a:spLocks noGrp="1" noChangeArrowheads="1"/>
          </p:cNvSpPr>
          <p:nvPr>
            <p:ph type="sldNum" sz="quarter" idx="5"/>
          </p:nvPr>
        </p:nvSpPr>
        <p:spPr>
          <a:noFill/>
        </p:spPr>
        <p:txBody>
          <a:bodyPr/>
          <a:lstStyle/>
          <a:p>
            <a:fld id="{DA92EFE6-D7A8-42C2-9133-5D9FAAFF0D62}" type="slidenum">
              <a:rPr lang="en-US" smtClean="0"/>
              <a:pPr/>
              <a:t>13</a:t>
            </a:fld>
            <a:endParaRPr lang="en-US"/>
          </a:p>
        </p:txBody>
      </p:sp>
      <p:sp>
        <p:nvSpPr>
          <p:cNvPr id="133124" name="Rectangle 2"/>
          <p:cNvSpPr>
            <a:spLocks noGrp="1" noRot="1" noChangeAspect="1" noChangeArrowheads="1" noTextEdit="1"/>
          </p:cNvSpPr>
          <p:nvPr>
            <p:ph type="sldImg"/>
          </p:nvPr>
        </p:nvSpPr>
        <p:spPr>
          <a:xfrm>
            <a:off x="1200150" y="703263"/>
            <a:ext cx="4678363" cy="3509962"/>
          </a:xfrm>
          <a:ln/>
        </p:spPr>
      </p:sp>
      <p:sp>
        <p:nvSpPr>
          <p:cNvPr id="133125" name="Rectangle 3"/>
          <p:cNvSpPr>
            <a:spLocks noGrp="1" noChangeArrowheads="1"/>
          </p:cNvSpPr>
          <p:nvPr>
            <p:ph type="body" idx="1"/>
          </p:nvPr>
        </p:nvSpPr>
        <p:spPr>
          <a:noFill/>
          <a:ln/>
        </p:spPr>
        <p:txBody>
          <a:bodyPr/>
          <a:lstStyle/>
          <a:p>
            <a:pPr>
              <a:lnSpc>
                <a:spcPct val="80000"/>
              </a:lnSpc>
              <a:buSzPct val="75000"/>
            </a:pPr>
            <a:r>
              <a:rPr lang="en-US" sz="1300"/>
              <a:t>BlueArc offers storage optimized to speed drug discovery.</a:t>
            </a:r>
          </a:p>
          <a:p>
            <a:pPr>
              <a:lnSpc>
                <a:spcPct val="80000"/>
              </a:lnSpc>
              <a:buSzPct val="75000"/>
            </a:pPr>
            <a:r>
              <a:rPr lang="en-US" sz="1300"/>
              <a:t>We at BlueArc are focused on Life Science</a:t>
            </a:r>
          </a:p>
          <a:p>
            <a:pPr lvl="1"/>
            <a:r>
              <a:rPr lang="en-US">
                <a:solidFill>
                  <a:srgbClr val="005400"/>
                </a:solidFill>
              </a:rPr>
              <a:t>Life Science is a CORE market for us, so we tune our company &amp; product direction to ensure that we’re offering high value for customers in this environment. And that focus has paid off: We have TOP players in the field, including Harvard, Merck, Princeton—and even software vendors like Accelrys—doing some of their most critical work on BlueArc.</a:t>
            </a:r>
          </a:p>
          <a:p>
            <a:pPr>
              <a:lnSpc>
                <a:spcPct val="80000"/>
              </a:lnSpc>
              <a:buSzPct val="75000"/>
            </a:pPr>
            <a:r>
              <a:rPr lang="en-US" sz="1300"/>
              <a:t>The reason we fit well it that we offer extremely high performance storage to support both compute and data-intensive work.</a:t>
            </a:r>
          </a:p>
          <a:p>
            <a:pPr lvl="1">
              <a:buClr>
                <a:schemeClr val="tx2"/>
              </a:buClr>
            </a:pPr>
            <a:r>
              <a:rPr lang="en-US">
                <a:solidFill>
                  <a:srgbClr val="005400"/>
                </a:solidFill>
              </a:rPr>
              <a:t>And our customers tell us this is critical because continuous improvements in CPU performance and networking </a:t>
            </a:r>
            <a:r>
              <a:rPr lang="en-US">
                <a:solidFill>
                  <a:srgbClr val="005400"/>
                </a:solidFill>
                <a:sym typeface="Wingdings" pitchFamily="2" charset="2"/>
              </a:rPr>
              <a:t>mean that</a:t>
            </a:r>
            <a:r>
              <a:rPr lang="en-US">
                <a:solidFill>
                  <a:srgbClr val="005400"/>
                </a:solidFill>
              </a:rPr>
              <a:t> storage performance is more and more often the bottleneck</a:t>
            </a:r>
          </a:p>
          <a:p>
            <a:pPr>
              <a:lnSpc>
                <a:spcPct val="80000"/>
              </a:lnSpc>
              <a:buSzPct val="75000"/>
            </a:pPr>
            <a:r>
              <a:rPr lang="en-US" sz="1300"/>
              <a:t>We also offer industry-leading scalability and easily configured multi-tiered storage to drive down the total cost of ownership (TCO) of our systems.</a:t>
            </a:r>
          </a:p>
          <a:p>
            <a:pPr lvl="1">
              <a:buClr>
                <a:schemeClr val="tx2"/>
              </a:buClr>
            </a:pPr>
            <a:r>
              <a:rPr lang="en-US">
                <a:solidFill>
                  <a:srgbClr val="005400"/>
                </a:solidFill>
              </a:rPr>
              <a:t>With BlueArc, you can upgrade every component, so you can buy as you go without “fork-lift upgrades”. And, because we expect our customers to be able to keep our systems—with various upgrades as needed—for years to come, we don’t have jumps in the cost of our support contracts after 3 or 4 years like other companies do.</a:t>
            </a:r>
          </a:p>
          <a:p>
            <a:pPr lvl="1">
              <a:buClr>
                <a:schemeClr val="tx2"/>
              </a:buClr>
            </a:pPr>
            <a:r>
              <a:rPr lang="en-US">
                <a:solidFill>
                  <a:srgbClr val="005400"/>
                </a:solidFill>
              </a:rPr>
              <a:t>And we make it easy to implement Multi-Tier storage to ensure that you’re using the most cost-effective storage for any particular dataset without necessarily managing multiple boxes. </a:t>
            </a:r>
          </a:p>
          <a:p>
            <a:pPr>
              <a:lnSpc>
                <a:spcPct val="80000"/>
              </a:lnSpc>
              <a:buSzPct val="75000"/>
            </a:pPr>
            <a:r>
              <a:rPr lang="en-US" sz="1300"/>
              <a:t>Finally, only BlueArc offers this sort of performance and TCO innovation in stable, battle-tested storage products. Other vendors promising high performance without a full SAN installation install bleeding-edge products that require a great deal of management—or force you to accept painful downtime.</a:t>
            </a:r>
          </a:p>
          <a:p>
            <a:pPr lvl="1">
              <a:buClr>
                <a:schemeClr val="tx2"/>
              </a:buClr>
            </a:pPr>
            <a:r>
              <a:rPr lang="en-US">
                <a:solidFill>
                  <a:srgbClr val="005400"/>
                </a:solidFill>
              </a:rPr>
              <a:t>We offer proven technology that has made us the “#3 Enterprise Storage Vendor.” We can point to large numbers of satisfied customers in both Life Science, such as the ones I mentioned earlier plus companies in other industries such as Biz Rate, Western Geco, and C.O.R.E.</a:t>
            </a:r>
          </a:p>
          <a:p>
            <a:pPr>
              <a:buClr>
                <a:schemeClr val="tx2"/>
              </a:buClr>
            </a:pPr>
            <a:r>
              <a:rPr lang="en-US">
                <a:solidFill>
                  <a:srgbClr val="005400"/>
                </a:solidFill>
              </a:rPr>
              <a:t>So if you agree that your storage needs to keep pace with your drug discovery research—and that it needs to do that while cutting TCO, let’s talk about ways that we might be able to help.</a:t>
            </a:r>
          </a:p>
          <a:p>
            <a:pPr lvl="1">
              <a:buClr>
                <a:schemeClr val="tx2"/>
              </a:buClr>
            </a:pPr>
            <a:endParaRPr lang="en-US">
              <a:solidFill>
                <a:srgbClr val="005400"/>
              </a:solidFill>
            </a:endParaRPr>
          </a:p>
          <a:p>
            <a:endParaRPr lang="en-US"/>
          </a:p>
        </p:txBody>
      </p:sp>
    </p:spTree>
    <p:extLst>
      <p:ext uri="{BB962C8B-B14F-4D97-AF65-F5344CB8AC3E}">
        <p14:creationId xmlns:p14="http://schemas.microsoft.com/office/powerpoint/2010/main" val="949144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F2AF14-84B5-2446-8EB3-F0E2889F8EFC}"/>
              </a:ext>
            </a:extLst>
          </p:cNvPr>
          <p:cNvGrpSpPr/>
          <p:nvPr userDrawn="1"/>
        </p:nvGrpSpPr>
        <p:grpSpPr>
          <a:xfrm>
            <a:off x="-1439" y="3819553"/>
            <a:ext cx="9152450" cy="3039054"/>
            <a:chOff x="-1439" y="3819553"/>
            <a:chExt cx="9152450" cy="3039054"/>
          </a:xfrm>
        </p:grpSpPr>
        <p:sp>
          <p:nvSpPr>
            <p:cNvPr id="9" name="Freeform: Shape 2">
              <a:extLst>
                <a:ext uri="{FF2B5EF4-FFF2-40B4-BE49-F238E27FC236}">
                  <a16:creationId xmlns:a16="http://schemas.microsoft.com/office/drawing/2014/main" id="{7E147BFF-6729-A143-B3BC-152D518EEA88}"/>
                </a:ext>
              </a:extLst>
            </p:cNvPr>
            <p:cNvSpPr/>
            <p:nvPr userDrawn="1"/>
          </p:nvSpPr>
          <p:spPr bwMode="auto">
            <a:xfrm>
              <a:off x="-1439" y="3873668"/>
              <a:ext cx="9152450" cy="2984939"/>
            </a:xfrm>
            <a:custGeom>
              <a:avLst/>
              <a:gdLst>
                <a:gd name="connsiteX0" fmla="*/ 6824 w 9144000"/>
                <a:gd name="connsiteY0" fmla="*/ 68239 h 4026090"/>
                <a:gd name="connsiteX1" fmla="*/ 3336877 w 9144000"/>
                <a:gd name="connsiteY1" fmla="*/ 0 h 4026090"/>
                <a:gd name="connsiteX2" fmla="*/ 9144000 w 9144000"/>
                <a:gd name="connsiteY2" fmla="*/ 1323833 h 4026090"/>
                <a:gd name="connsiteX3" fmla="*/ 9123528 w 9144000"/>
                <a:gd name="connsiteY3" fmla="*/ 4026090 h 4026090"/>
                <a:gd name="connsiteX4" fmla="*/ 0 w 9144000"/>
                <a:gd name="connsiteY4" fmla="*/ 4019266 h 4026090"/>
                <a:gd name="connsiteX5" fmla="*/ 6824 w 9144000"/>
                <a:gd name="connsiteY5" fmla="*/ 68239 h 4026090"/>
                <a:gd name="connsiteX0" fmla="*/ 6824 w 9144000"/>
                <a:gd name="connsiteY0" fmla="*/ 374179 h 4332030"/>
                <a:gd name="connsiteX1" fmla="*/ 3336877 w 9144000"/>
                <a:gd name="connsiteY1" fmla="*/ 305940 h 4332030"/>
                <a:gd name="connsiteX2" fmla="*/ 9144000 w 9144000"/>
                <a:gd name="connsiteY2" fmla="*/ 1629773 h 4332030"/>
                <a:gd name="connsiteX3" fmla="*/ 9123528 w 9144000"/>
                <a:gd name="connsiteY3" fmla="*/ 4332030 h 4332030"/>
                <a:gd name="connsiteX4" fmla="*/ 0 w 9144000"/>
                <a:gd name="connsiteY4" fmla="*/ 4325206 h 4332030"/>
                <a:gd name="connsiteX5" fmla="*/ 6824 w 9144000"/>
                <a:gd name="connsiteY5" fmla="*/ 374179 h 4332030"/>
                <a:gd name="connsiteX0" fmla="*/ 6824 w 9144000"/>
                <a:gd name="connsiteY0" fmla="*/ 317631 h 4275482"/>
                <a:gd name="connsiteX1" fmla="*/ 3336877 w 9144000"/>
                <a:gd name="connsiteY1" fmla="*/ 249392 h 4275482"/>
                <a:gd name="connsiteX2" fmla="*/ 9144000 w 9144000"/>
                <a:gd name="connsiteY2" fmla="*/ 1573225 h 4275482"/>
                <a:gd name="connsiteX3" fmla="*/ 9123528 w 9144000"/>
                <a:gd name="connsiteY3" fmla="*/ 4275482 h 4275482"/>
                <a:gd name="connsiteX4" fmla="*/ 0 w 9144000"/>
                <a:gd name="connsiteY4" fmla="*/ 4268658 h 4275482"/>
                <a:gd name="connsiteX5" fmla="*/ 6824 w 9144000"/>
                <a:gd name="connsiteY5" fmla="*/ 317631 h 4275482"/>
                <a:gd name="connsiteX0" fmla="*/ 6824 w 9144000"/>
                <a:gd name="connsiteY0" fmla="*/ 137877 h 4095728"/>
                <a:gd name="connsiteX1" fmla="*/ 3336877 w 9144000"/>
                <a:gd name="connsiteY1" fmla="*/ 69638 h 4095728"/>
                <a:gd name="connsiteX2" fmla="*/ 9144000 w 9144000"/>
                <a:gd name="connsiteY2" fmla="*/ 1393471 h 4095728"/>
                <a:gd name="connsiteX3" fmla="*/ 9123528 w 9144000"/>
                <a:gd name="connsiteY3" fmla="*/ 4095728 h 4095728"/>
                <a:gd name="connsiteX4" fmla="*/ 0 w 9144000"/>
                <a:gd name="connsiteY4" fmla="*/ 4088904 h 4095728"/>
                <a:gd name="connsiteX5" fmla="*/ 6824 w 9144000"/>
                <a:gd name="connsiteY5" fmla="*/ 137877 h 4095728"/>
                <a:gd name="connsiteX0" fmla="*/ 27296 w 9144000"/>
                <a:gd name="connsiteY0" fmla="*/ 274409 h 4123078"/>
                <a:gd name="connsiteX1" fmla="*/ 3336877 w 9144000"/>
                <a:gd name="connsiteY1" fmla="*/ 96988 h 4123078"/>
                <a:gd name="connsiteX2" fmla="*/ 9144000 w 9144000"/>
                <a:gd name="connsiteY2" fmla="*/ 1420821 h 4123078"/>
                <a:gd name="connsiteX3" fmla="*/ 9123528 w 9144000"/>
                <a:gd name="connsiteY3" fmla="*/ 4123078 h 4123078"/>
                <a:gd name="connsiteX4" fmla="*/ 0 w 9144000"/>
                <a:gd name="connsiteY4" fmla="*/ 4116254 h 4123078"/>
                <a:gd name="connsiteX5" fmla="*/ 27296 w 9144000"/>
                <a:gd name="connsiteY5" fmla="*/ 274409 h 4123078"/>
                <a:gd name="connsiteX0" fmla="*/ 34120 w 9144000"/>
                <a:gd name="connsiteY0" fmla="*/ 211714 h 4169565"/>
                <a:gd name="connsiteX1" fmla="*/ 3336877 w 9144000"/>
                <a:gd name="connsiteY1" fmla="*/ 143475 h 4169565"/>
                <a:gd name="connsiteX2" fmla="*/ 9144000 w 9144000"/>
                <a:gd name="connsiteY2" fmla="*/ 1467308 h 4169565"/>
                <a:gd name="connsiteX3" fmla="*/ 9123528 w 9144000"/>
                <a:gd name="connsiteY3" fmla="*/ 4169565 h 4169565"/>
                <a:gd name="connsiteX4" fmla="*/ 0 w 9144000"/>
                <a:gd name="connsiteY4" fmla="*/ 4162741 h 4169565"/>
                <a:gd name="connsiteX5" fmla="*/ 34120 w 9144000"/>
                <a:gd name="connsiteY5" fmla="*/ 211714 h 4169565"/>
                <a:gd name="connsiteX0" fmla="*/ 34120 w 9144000"/>
                <a:gd name="connsiteY0" fmla="*/ 143288 h 4101139"/>
                <a:gd name="connsiteX1" fmla="*/ 3336877 w 9144000"/>
                <a:gd name="connsiteY1" fmla="*/ 75049 h 4101139"/>
                <a:gd name="connsiteX2" fmla="*/ 9144000 w 9144000"/>
                <a:gd name="connsiteY2" fmla="*/ 1398882 h 4101139"/>
                <a:gd name="connsiteX3" fmla="*/ 9123528 w 9144000"/>
                <a:gd name="connsiteY3" fmla="*/ 4101139 h 4101139"/>
                <a:gd name="connsiteX4" fmla="*/ 0 w 9144000"/>
                <a:gd name="connsiteY4" fmla="*/ 4094315 h 4101139"/>
                <a:gd name="connsiteX5" fmla="*/ 34120 w 9144000"/>
                <a:gd name="connsiteY5" fmla="*/ 143288 h 4101139"/>
                <a:gd name="connsiteX0" fmla="*/ 34120 w 9144000"/>
                <a:gd name="connsiteY0" fmla="*/ 150007 h 4107858"/>
                <a:gd name="connsiteX1" fmla="*/ 3336877 w 9144000"/>
                <a:gd name="connsiteY1" fmla="*/ 81768 h 4107858"/>
                <a:gd name="connsiteX2" fmla="*/ 9144000 w 9144000"/>
                <a:gd name="connsiteY2" fmla="*/ 1405601 h 4107858"/>
                <a:gd name="connsiteX3" fmla="*/ 9123528 w 9144000"/>
                <a:gd name="connsiteY3" fmla="*/ 4107858 h 4107858"/>
                <a:gd name="connsiteX4" fmla="*/ 0 w 9144000"/>
                <a:gd name="connsiteY4" fmla="*/ 4101034 h 4107858"/>
                <a:gd name="connsiteX5" fmla="*/ 34120 w 9144000"/>
                <a:gd name="connsiteY5" fmla="*/ 150007 h 4107858"/>
                <a:gd name="connsiteX0" fmla="*/ 34120 w 9144000"/>
                <a:gd name="connsiteY0" fmla="*/ 150007 h 4107858"/>
                <a:gd name="connsiteX1" fmla="*/ 3336877 w 9144000"/>
                <a:gd name="connsiteY1" fmla="*/ 81768 h 4107858"/>
                <a:gd name="connsiteX2" fmla="*/ 9144000 w 9144000"/>
                <a:gd name="connsiteY2" fmla="*/ 1405601 h 4107858"/>
                <a:gd name="connsiteX3" fmla="*/ 9123528 w 9144000"/>
                <a:gd name="connsiteY3" fmla="*/ 4107858 h 4107858"/>
                <a:gd name="connsiteX4" fmla="*/ 0 w 9144000"/>
                <a:gd name="connsiteY4" fmla="*/ 4101034 h 4107858"/>
                <a:gd name="connsiteX5" fmla="*/ 34120 w 9144000"/>
                <a:gd name="connsiteY5" fmla="*/ 150007 h 4107858"/>
                <a:gd name="connsiteX0" fmla="*/ 302 w 9151125"/>
                <a:gd name="connsiteY0" fmla="*/ 175397 h 4099128"/>
                <a:gd name="connsiteX1" fmla="*/ 3344002 w 9151125"/>
                <a:gd name="connsiteY1" fmla="*/ 73038 h 4099128"/>
                <a:gd name="connsiteX2" fmla="*/ 9151125 w 9151125"/>
                <a:gd name="connsiteY2" fmla="*/ 1396871 h 4099128"/>
                <a:gd name="connsiteX3" fmla="*/ 9130653 w 9151125"/>
                <a:gd name="connsiteY3" fmla="*/ 4099128 h 4099128"/>
                <a:gd name="connsiteX4" fmla="*/ 7125 w 9151125"/>
                <a:gd name="connsiteY4" fmla="*/ 4092304 h 4099128"/>
                <a:gd name="connsiteX5" fmla="*/ 302 w 9151125"/>
                <a:gd name="connsiteY5" fmla="*/ 175397 h 4099128"/>
                <a:gd name="connsiteX0" fmla="*/ 302 w 9151125"/>
                <a:gd name="connsiteY0" fmla="*/ 180865 h 4104596"/>
                <a:gd name="connsiteX1" fmla="*/ 3344002 w 9151125"/>
                <a:gd name="connsiteY1" fmla="*/ 78506 h 4104596"/>
                <a:gd name="connsiteX2" fmla="*/ 9151125 w 9151125"/>
                <a:gd name="connsiteY2" fmla="*/ 1402339 h 4104596"/>
                <a:gd name="connsiteX3" fmla="*/ 9130653 w 9151125"/>
                <a:gd name="connsiteY3" fmla="*/ 4104596 h 4104596"/>
                <a:gd name="connsiteX4" fmla="*/ 7125 w 9151125"/>
                <a:gd name="connsiteY4" fmla="*/ 4097772 h 4104596"/>
                <a:gd name="connsiteX5" fmla="*/ 302 w 9151125"/>
                <a:gd name="connsiteY5" fmla="*/ 180865 h 4104596"/>
                <a:gd name="connsiteX0" fmla="*/ 302 w 9151125"/>
                <a:gd name="connsiteY0" fmla="*/ 161172 h 4112199"/>
                <a:gd name="connsiteX1" fmla="*/ 3344002 w 9151125"/>
                <a:gd name="connsiteY1" fmla="*/ 86109 h 4112199"/>
                <a:gd name="connsiteX2" fmla="*/ 9151125 w 9151125"/>
                <a:gd name="connsiteY2" fmla="*/ 1409942 h 4112199"/>
                <a:gd name="connsiteX3" fmla="*/ 9130653 w 9151125"/>
                <a:gd name="connsiteY3" fmla="*/ 4112199 h 4112199"/>
                <a:gd name="connsiteX4" fmla="*/ 7125 w 9151125"/>
                <a:gd name="connsiteY4" fmla="*/ 4105375 h 4112199"/>
                <a:gd name="connsiteX5" fmla="*/ 302 w 9151125"/>
                <a:gd name="connsiteY5" fmla="*/ 161172 h 4112199"/>
                <a:gd name="connsiteX0" fmla="*/ 302 w 9146968"/>
                <a:gd name="connsiteY0" fmla="*/ 196157 h 4147184"/>
                <a:gd name="connsiteX1" fmla="*/ 3344002 w 9146968"/>
                <a:gd name="connsiteY1" fmla="*/ 121094 h 4147184"/>
                <a:gd name="connsiteX2" fmla="*/ 9146968 w 9146968"/>
                <a:gd name="connsiteY2" fmla="*/ 1919521 h 4147184"/>
                <a:gd name="connsiteX3" fmla="*/ 9130653 w 9146968"/>
                <a:gd name="connsiteY3" fmla="*/ 4147184 h 4147184"/>
                <a:gd name="connsiteX4" fmla="*/ 7125 w 9146968"/>
                <a:gd name="connsiteY4" fmla="*/ 4140360 h 4147184"/>
                <a:gd name="connsiteX5" fmla="*/ 302 w 9146968"/>
                <a:gd name="connsiteY5" fmla="*/ 196157 h 4147184"/>
                <a:gd name="connsiteX0" fmla="*/ 302 w 9146968"/>
                <a:gd name="connsiteY0" fmla="*/ 196157 h 4147184"/>
                <a:gd name="connsiteX1" fmla="*/ 3344002 w 9146968"/>
                <a:gd name="connsiteY1" fmla="*/ 121094 h 4147184"/>
                <a:gd name="connsiteX2" fmla="*/ 9146968 w 9146968"/>
                <a:gd name="connsiteY2" fmla="*/ 1919521 h 4147184"/>
                <a:gd name="connsiteX3" fmla="*/ 9130653 w 9146968"/>
                <a:gd name="connsiteY3" fmla="*/ 4147184 h 4147184"/>
                <a:gd name="connsiteX4" fmla="*/ 7125 w 9146968"/>
                <a:gd name="connsiteY4" fmla="*/ 4140360 h 4147184"/>
                <a:gd name="connsiteX5" fmla="*/ 302 w 9146968"/>
                <a:gd name="connsiteY5" fmla="*/ 196157 h 4147184"/>
                <a:gd name="connsiteX0" fmla="*/ 302 w 9146968"/>
                <a:gd name="connsiteY0" fmla="*/ 204650 h 4155677"/>
                <a:gd name="connsiteX1" fmla="*/ 3344002 w 9146968"/>
                <a:gd name="connsiteY1" fmla="*/ 129587 h 4155677"/>
                <a:gd name="connsiteX2" fmla="*/ 9146968 w 9146968"/>
                <a:gd name="connsiteY2" fmla="*/ 1928014 h 4155677"/>
                <a:gd name="connsiteX3" fmla="*/ 9130653 w 9146968"/>
                <a:gd name="connsiteY3" fmla="*/ 4155677 h 4155677"/>
                <a:gd name="connsiteX4" fmla="*/ 7125 w 9146968"/>
                <a:gd name="connsiteY4" fmla="*/ 4148853 h 4155677"/>
                <a:gd name="connsiteX5" fmla="*/ 302 w 9146968"/>
                <a:gd name="connsiteY5" fmla="*/ 204650 h 4155677"/>
                <a:gd name="connsiteX0" fmla="*/ 534 w 9147200"/>
                <a:gd name="connsiteY0" fmla="*/ 204650 h 4155677"/>
                <a:gd name="connsiteX1" fmla="*/ 3344234 w 9147200"/>
                <a:gd name="connsiteY1" fmla="*/ 129587 h 4155677"/>
                <a:gd name="connsiteX2" fmla="*/ 9147200 w 9147200"/>
                <a:gd name="connsiteY2" fmla="*/ 1928014 h 4155677"/>
                <a:gd name="connsiteX3" fmla="*/ 9130885 w 9147200"/>
                <a:gd name="connsiteY3" fmla="*/ 4155677 h 4155677"/>
                <a:gd name="connsiteX4" fmla="*/ 1849 w 9147200"/>
                <a:gd name="connsiteY4" fmla="*/ 4148854 h 4155677"/>
                <a:gd name="connsiteX5" fmla="*/ 534 w 9147200"/>
                <a:gd name="connsiteY5" fmla="*/ 204650 h 4155677"/>
                <a:gd name="connsiteX0" fmla="*/ 1439 w 9148105"/>
                <a:gd name="connsiteY0" fmla="*/ 204650 h 4156525"/>
                <a:gd name="connsiteX1" fmla="*/ 3345139 w 9148105"/>
                <a:gd name="connsiteY1" fmla="*/ 129587 h 4156525"/>
                <a:gd name="connsiteX2" fmla="*/ 9148105 w 9148105"/>
                <a:gd name="connsiteY2" fmla="*/ 1928014 h 4156525"/>
                <a:gd name="connsiteX3" fmla="*/ 9131790 w 9148105"/>
                <a:gd name="connsiteY3" fmla="*/ 4155677 h 4156525"/>
                <a:gd name="connsiteX4" fmla="*/ 0 w 9148105"/>
                <a:gd name="connsiteY4" fmla="*/ 4156525 h 4156525"/>
                <a:gd name="connsiteX5" fmla="*/ 1439 w 9148105"/>
                <a:gd name="connsiteY5" fmla="*/ 204650 h 4156525"/>
                <a:gd name="connsiteX0" fmla="*/ 1439 w 9148105"/>
                <a:gd name="connsiteY0" fmla="*/ 204650 h 4156525"/>
                <a:gd name="connsiteX1" fmla="*/ 3345139 w 9148105"/>
                <a:gd name="connsiteY1" fmla="*/ 129587 h 4156525"/>
                <a:gd name="connsiteX2" fmla="*/ 9148105 w 9148105"/>
                <a:gd name="connsiteY2" fmla="*/ 1928014 h 4156525"/>
                <a:gd name="connsiteX3" fmla="*/ 9138464 w 9148105"/>
                <a:gd name="connsiteY3" fmla="*/ 4155677 h 4156525"/>
                <a:gd name="connsiteX4" fmla="*/ 0 w 9148105"/>
                <a:gd name="connsiteY4" fmla="*/ 4156525 h 4156525"/>
                <a:gd name="connsiteX5" fmla="*/ 1439 w 9148105"/>
                <a:gd name="connsiteY5" fmla="*/ 204650 h 4156525"/>
                <a:gd name="connsiteX0" fmla="*/ 1439 w 9152450"/>
                <a:gd name="connsiteY0" fmla="*/ 204650 h 4156525"/>
                <a:gd name="connsiteX1" fmla="*/ 3345139 w 9152450"/>
                <a:gd name="connsiteY1" fmla="*/ 129587 h 4156525"/>
                <a:gd name="connsiteX2" fmla="*/ 9148105 w 9152450"/>
                <a:gd name="connsiteY2" fmla="*/ 1928014 h 4156525"/>
                <a:gd name="connsiteX3" fmla="*/ 9151812 w 9152450"/>
                <a:gd name="connsiteY3" fmla="*/ 4155677 h 4156525"/>
                <a:gd name="connsiteX4" fmla="*/ 0 w 9152450"/>
                <a:gd name="connsiteY4" fmla="*/ 4156525 h 4156525"/>
                <a:gd name="connsiteX5" fmla="*/ 1439 w 9152450"/>
                <a:gd name="connsiteY5" fmla="*/ 204650 h 4156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52450" h="4156525">
                  <a:moveTo>
                    <a:pt x="1439" y="204650"/>
                  </a:moveTo>
                  <a:cubicBezTo>
                    <a:pt x="720179" y="108406"/>
                    <a:pt x="1820695" y="-157640"/>
                    <a:pt x="3345139" y="129587"/>
                  </a:cubicBezTo>
                  <a:cubicBezTo>
                    <a:pt x="4869583" y="416814"/>
                    <a:pt x="8116603" y="1365396"/>
                    <a:pt x="9148105" y="1928014"/>
                  </a:cubicBezTo>
                  <a:cubicBezTo>
                    <a:pt x="9144891" y="2670568"/>
                    <a:pt x="9155026" y="3413123"/>
                    <a:pt x="9151812" y="4155677"/>
                  </a:cubicBezTo>
                  <a:lnTo>
                    <a:pt x="0" y="4156525"/>
                  </a:lnTo>
                  <a:cubicBezTo>
                    <a:pt x="2275" y="2839516"/>
                    <a:pt x="-836" y="1521659"/>
                    <a:pt x="1439" y="204650"/>
                  </a:cubicBezTo>
                  <a:close/>
                </a:path>
              </a:pathLst>
            </a:custGeom>
            <a:solidFill>
              <a:srgbClr val="C5A125"/>
            </a:solidFill>
            <a:ln w="38100" cap="flat" cmpd="sng" algn="ctr">
              <a:no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FF01"/>
                </a:solidFill>
                <a:effectLst/>
                <a:latin typeface="Times New Roman" pitchFamily="18" charset="0"/>
              </a:endParaRPr>
            </a:p>
          </p:txBody>
        </p:sp>
        <p:sp>
          <p:nvSpPr>
            <p:cNvPr id="10" name="Freeform: Shape 1">
              <a:extLst>
                <a:ext uri="{FF2B5EF4-FFF2-40B4-BE49-F238E27FC236}">
                  <a16:creationId xmlns:a16="http://schemas.microsoft.com/office/drawing/2014/main" id="{9198422E-C561-6149-A790-3C29782F2A84}"/>
                </a:ext>
              </a:extLst>
            </p:cNvPr>
            <p:cNvSpPr/>
            <p:nvPr userDrawn="1"/>
          </p:nvSpPr>
          <p:spPr bwMode="auto">
            <a:xfrm>
              <a:off x="6818" y="3819553"/>
              <a:ext cx="9144005" cy="1498571"/>
            </a:xfrm>
            <a:custGeom>
              <a:avLst/>
              <a:gdLst>
                <a:gd name="connsiteX0" fmla="*/ 0 w 9144000"/>
                <a:gd name="connsiteY0" fmla="*/ 0 h 1392072"/>
                <a:gd name="connsiteX1" fmla="*/ 9144000 w 9144000"/>
                <a:gd name="connsiteY1" fmla="*/ 1153236 h 1392072"/>
                <a:gd name="connsiteX2" fmla="*/ 9123528 w 9144000"/>
                <a:gd name="connsiteY2" fmla="*/ 1392072 h 1392072"/>
                <a:gd name="connsiteX3" fmla="*/ 0 w 9144000"/>
                <a:gd name="connsiteY3" fmla="*/ 0 h 1392072"/>
                <a:gd name="connsiteX0" fmla="*/ 0 w 9144000"/>
                <a:gd name="connsiteY0" fmla="*/ 0 h 1392072"/>
                <a:gd name="connsiteX1" fmla="*/ 3903260 w 9144000"/>
                <a:gd name="connsiteY1" fmla="*/ 491320 h 1392072"/>
                <a:gd name="connsiteX2" fmla="*/ 9144000 w 9144000"/>
                <a:gd name="connsiteY2" fmla="*/ 1153236 h 1392072"/>
                <a:gd name="connsiteX3" fmla="*/ 9123528 w 9144000"/>
                <a:gd name="connsiteY3" fmla="*/ 1392072 h 1392072"/>
                <a:gd name="connsiteX4" fmla="*/ 0 w 9144000"/>
                <a:gd name="connsiteY4" fmla="*/ 0 h 1392072"/>
                <a:gd name="connsiteX0" fmla="*/ 0 w 9144000"/>
                <a:gd name="connsiteY0" fmla="*/ 0 h 1392072"/>
                <a:gd name="connsiteX1" fmla="*/ 3985146 w 9144000"/>
                <a:gd name="connsiteY1" fmla="*/ 245660 h 1392072"/>
                <a:gd name="connsiteX2" fmla="*/ 9144000 w 9144000"/>
                <a:gd name="connsiteY2" fmla="*/ 1153236 h 1392072"/>
                <a:gd name="connsiteX3" fmla="*/ 9123528 w 9144000"/>
                <a:gd name="connsiteY3" fmla="*/ 1392072 h 1392072"/>
                <a:gd name="connsiteX4" fmla="*/ 0 w 9144000"/>
                <a:gd name="connsiteY4" fmla="*/ 0 h 1392072"/>
                <a:gd name="connsiteX0" fmla="*/ 139062 w 9283062"/>
                <a:gd name="connsiteY0" fmla="*/ 69285 h 1461357"/>
                <a:gd name="connsiteX1" fmla="*/ 4124208 w 9283062"/>
                <a:gd name="connsiteY1" fmla="*/ 314945 h 1461357"/>
                <a:gd name="connsiteX2" fmla="*/ 9283062 w 9283062"/>
                <a:gd name="connsiteY2" fmla="*/ 1222521 h 1461357"/>
                <a:gd name="connsiteX3" fmla="*/ 9262590 w 9283062"/>
                <a:gd name="connsiteY3" fmla="*/ 1461357 h 1461357"/>
                <a:gd name="connsiteX4" fmla="*/ 139062 w 9283062"/>
                <a:gd name="connsiteY4" fmla="*/ 69285 h 1461357"/>
                <a:gd name="connsiteX0" fmla="*/ 143964 w 9287964"/>
                <a:gd name="connsiteY0" fmla="*/ 62819 h 1454891"/>
                <a:gd name="connsiteX1" fmla="*/ 4129110 w 9287964"/>
                <a:gd name="connsiteY1" fmla="*/ 308479 h 1454891"/>
                <a:gd name="connsiteX2" fmla="*/ 9287964 w 9287964"/>
                <a:gd name="connsiteY2" fmla="*/ 1216055 h 1454891"/>
                <a:gd name="connsiteX3" fmla="*/ 9267492 w 9287964"/>
                <a:gd name="connsiteY3" fmla="*/ 1454891 h 1454891"/>
                <a:gd name="connsiteX4" fmla="*/ 143964 w 9287964"/>
                <a:gd name="connsiteY4" fmla="*/ 62819 h 1454891"/>
                <a:gd name="connsiteX0" fmla="*/ 142225 w 9286225"/>
                <a:gd name="connsiteY0" fmla="*/ 107326 h 1499398"/>
                <a:gd name="connsiteX1" fmla="*/ 4175138 w 9286225"/>
                <a:gd name="connsiteY1" fmla="*/ 155093 h 1499398"/>
                <a:gd name="connsiteX2" fmla="*/ 9286225 w 9286225"/>
                <a:gd name="connsiteY2" fmla="*/ 1260562 h 1499398"/>
                <a:gd name="connsiteX3" fmla="*/ 9265753 w 9286225"/>
                <a:gd name="connsiteY3" fmla="*/ 1499398 h 1499398"/>
                <a:gd name="connsiteX4" fmla="*/ 142225 w 9286225"/>
                <a:gd name="connsiteY4" fmla="*/ 107326 h 1499398"/>
                <a:gd name="connsiteX0" fmla="*/ 0 w 9144000"/>
                <a:gd name="connsiteY0" fmla="*/ 24597 h 1416669"/>
                <a:gd name="connsiteX1" fmla="*/ 4032913 w 9144000"/>
                <a:gd name="connsiteY1" fmla="*/ 72364 h 1416669"/>
                <a:gd name="connsiteX2" fmla="*/ 9144000 w 9144000"/>
                <a:gd name="connsiteY2" fmla="*/ 1177833 h 1416669"/>
                <a:gd name="connsiteX3" fmla="*/ 9123528 w 9144000"/>
                <a:gd name="connsiteY3" fmla="*/ 1416669 h 1416669"/>
                <a:gd name="connsiteX4" fmla="*/ 0 w 9144000"/>
                <a:gd name="connsiteY4" fmla="*/ 24597 h 1416669"/>
                <a:gd name="connsiteX0" fmla="*/ 0 w 9144000"/>
                <a:gd name="connsiteY0" fmla="*/ 24597 h 1396197"/>
                <a:gd name="connsiteX1" fmla="*/ 4032913 w 9144000"/>
                <a:gd name="connsiteY1" fmla="*/ 72364 h 1396197"/>
                <a:gd name="connsiteX2" fmla="*/ 9144000 w 9144000"/>
                <a:gd name="connsiteY2" fmla="*/ 1177833 h 1396197"/>
                <a:gd name="connsiteX3" fmla="*/ 9130352 w 9144000"/>
                <a:gd name="connsiteY3" fmla="*/ 1396197 h 1396197"/>
                <a:gd name="connsiteX4" fmla="*/ 0 w 9144000"/>
                <a:gd name="connsiteY4" fmla="*/ 24597 h 1396197"/>
                <a:gd name="connsiteX0" fmla="*/ 0 w 9150823"/>
                <a:gd name="connsiteY0" fmla="*/ 24597 h 1396197"/>
                <a:gd name="connsiteX1" fmla="*/ 4032913 w 9150823"/>
                <a:gd name="connsiteY1" fmla="*/ 72364 h 1396197"/>
                <a:gd name="connsiteX2" fmla="*/ 9144000 w 9150823"/>
                <a:gd name="connsiteY2" fmla="*/ 1177833 h 1396197"/>
                <a:gd name="connsiteX3" fmla="*/ 9150823 w 9150823"/>
                <a:gd name="connsiteY3" fmla="*/ 1396197 h 1396197"/>
                <a:gd name="connsiteX4" fmla="*/ 0 w 9150823"/>
                <a:gd name="connsiteY4" fmla="*/ 24597 h 1396197"/>
                <a:gd name="connsiteX0" fmla="*/ 0 w 9150823"/>
                <a:gd name="connsiteY0" fmla="*/ 86539 h 1458139"/>
                <a:gd name="connsiteX1" fmla="*/ 4026090 w 9150823"/>
                <a:gd name="connsiteY1" fmla="*/ 52419 h 1458139"/>
                <a:gd name="connsiteX2" fmla="*/ 9144000 w 9150823"/>
                <a:gd name="connsiteY2" fmla="*/ 1239775 h 1458139"/>
                <a:gd name="connsiteX3" fmla="*/ 9150823 w 9150823"/>
                <a:gd name="connsiteY3" fmla="*/ 1458139 h 1458139"/>
                <a:gd name="connsiteX4" fmla="*/ 0 w 9150823"/>
                <a:gd name="connsiteY4" fmla="*/ 86539 h 1458139"/>
                <a:gd name="connsiteX0" fmla="*/ 0 w 9150823"/>
                <a:gd name="connsiteY0" fmla="*/ 105764 h 1477364"/>
                <a:gd name="connsiteX1" fmla="*/ 4026090 w 9150823"/>
                <a:gd name="connsiteY1" fmla="*/ 71644 h 1477364"/>
                <a:gd name="connsiteX2" fmla="*/ 9144000 w 9150823"/>
                <a:gd name="connsiteY2" fmla="*/ 1259000 h 1477364"/>
                <a:gd name="connsiteX3" fmla="*/ 9150823 w 9150823"/>
                <a:gd name="connsiteY3" fmla="*/ 1477364 h 1477364"/>
                <a:gd name="connsiteX4" fmla="*/ 0 w 9150823"/>
                <a:gd name="connsiteY4" fmla="*/ 105764 h 1477364"/>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0 w 9150823"/>
                <a:gd name="connsiteY4" fmla="*/ 125409 h 1497009"/>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3753133 w 9150823"/>
                <a:gd name="connsiteY4" fmla="*/ 698617 h 1497009"/>
                <a:gd name="connsiteX5" fmla="*/ 0 w 9150823"/>
                <a:gd name="connsiteY5" fmla="*/ 125409 h 1497009"/>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4005616 w 9150823"/>
                <a:gd name="connsiteY4" fmla="*/ 255065 h 1497009"/>
                <a:gd name="connsiteX5" fmla="*/ 0 w 9150823"/>
                <a:gd name="connsiteY5" fmla="*/ 125409 h 1497009"/>
                <a:gd name="connsiteX0" fmla="*/ 3 w 9150826"/>
                <a:gd name="connsiteY0" fmla="*/ 125409 h 1497009"/>
                <a:gd name="connsiteX1" fmla="*/ 4026093 w 9150826"/>
                <a:gd name="connsiteY1" fmla="*/ 91289 h 1497009"/>
                <a:gd name="connsiteX2" fmla="*/ 9144003 w 9150826"/>
                <a:gd name="connsiteY2" fmla="*/ 1278645 h 1497009"/>
                <a:gd name="connsiteX3" fmla="*/ 9150826 w 9150826"/>
                <a:gd name="connsiteY3" fmla="*/ 1497009 h 1497009"/>
                <a:gd name="connsiteX4" fmla="*/ 4005619 w 9150826"/>
                <a:gd name="connsiteY4" fmla="*/ 255065 h 1497009"/>
                <a:gd name="connsiteX5" fmla="*/ 3 w 9150826"/>
                <a:gd name="connsiteY5" fmla="*/ 125409 h 1497009"/>
                <a:gd name="connsiteX0" fmla="*/ 3 w 9150826"/>
                <a:gd name="connsiteY0" fmla="*/ 125409 h 1497009"/>
                <a:gd name="connsiteX1" fmla="*/ 4026093 w 9150826"/>
                <a:gd name="connsiteY1" fmla="*/ 91289 h 1497009"/>
                <a:gd name="connsiteX2" fmla="*/ 9144003 w 9150826"/>
                <a:gd name="connsiteY2" fmla="*/ 1278645 h 1497009"/>
                <a:gd name="connsiteX3" fmla="*/ 9150826 w 9150826"/>
                <a:gd name="connsiteY3" fmla="*/ 1497009 h 1497009"/>
                <a:gd name="connsiteX4" fmla="*/ 4005619 w 9150826"/>
                <a:gd name="connsiteY4" fmla="*/ 255065 h 1497009"/>
                <a:gd name="connsiteX5" fmla="*/ 3 w 9150826"/>
                <a:gd name="connsiteY5" fmla="*/ 125409 h 1497009"/>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91798 h 1488335"/>
                <a:gd name="connsiteX1" fmla="*/ 3507479 w 9144003"/>
                <a:gd name="connsiteY1" fmla="*/ 62144 h 1488335"/>
                <a:gd name="connsiteX2" fmla="*/ 9144003 w 9144003"/>
                <a:gd name="connsiteY2" fmla="*/ 1345034 h 1488335"/>
                <a:gd name="connsiteX3" fmla="*/ 9144002 w 9144003"/>
                <a:gd name="connsiteY3" fmla="*/ 1488335 h 1488335"/>
                <a:gd name="connsiteX4" fmla="*/ 4005619 w 9144003"/>
                <a:gd name="connsiteY4" fmla="*/ 321454 h 1488335"/>
                <a:gd name="connsiteX5" fmla="*/ 3 w 9144003"/>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78152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202034 h 1498571"/>
                <a:gd name="connsiteX1" fmla="*/ 3507480 w 9144004"/>
                <a:gd name="connsiteY1" fmla="*/ 72380 h 1498571"/>
                <a:gd name="connsiteX2" fmla="*/ 9144004 w 9144004"/>
                <a:gd name="connsiteY2" fmla="*/ 1355270 h 1498571"/>
                <a:gd name="connsiteX3" fmla="*/ 9144003 w 9144004"/>
                <a:gd name="connsiteY3" fmla="*/ 1498571 h 1498571"/>
                <a:gd name="connsiteX4" fmla="*/ 3466533 w 9144004"/>
                <a:gd name="connsiteY4" fmla="*/ 208860 h 1498571"/>
                <a:gd name="connsiteX5" fmla="*/ 4 w 9144004"/>
                <a:gd name="connsiteY5" fmla="*/ 202034 h 1498571"/>
                <a:gd name="connsiteX0" fmla="*/ 5 w 9144005"/>
                <a:gd name="connsiteY0" fmla="*/ 202034 h 1498571"/>
                <a:gd name="connsiteX1" fmla="*/ 3507481 w 9144005"/>
                <a:gd name="connsiteY1" fmla="*/ 72380 h 1498571"/>
                <a:gd name="connsiteX2" fmla="*/ 9144005 w 9144005"/>
                <a:gd name="connsiteY2" fmla="*/ 1355270 h 1498571"/>
                <a:gd name="connsiteX3" fmla="*/ 9144004 w 9144005"/>
                <a:gd name="connsiteY3" fmla="*/ 1498571 h 1498571"/>
                <a:gd name="connsiteX4" fmla="*/ 3466534 w 9144005"/>
                <a:gd name="connsiteY4" fmla="*/ 208860 h 1498571"/>
                <a:gd name="connsiteX5" fmla="*/ 5 w 9144005"/>
                <a:gd name="connsiteY5" fmla="*/ 202034 h 149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5" h="1498571">
                  <a:moveTo>
                    <a:pt x="5" y="202034"/>
                  </a:moveTo>
                  <a:cubicBezTo>
                    <a:pt x="1108886" y="14376"/>
                    <a:pt x="1840180" y="-72059"/>
                    <a:pt x="3507481" y="72380"/>
                  </a:cubicBezTo>
                  <a:cubicBezTo>
                    <a:pt x="5174782" y="216819"/>
                    <a:pt x="8314903" y="1082315"/>
                    <a:pt x="9144005" y="1355270"/>
                  </a:cubicBezTo>
                  <a:cubicBezTo>
                    <a:pt x="9144005" y="1403037"/>
                    <a:pt x="9144004" y="1450804"/>
                    <a:pt x="9144004" y="1498571"/>
                  </a:cubicBezTo>
                  <a:cubicBezTo>
                    <a:pt x="8349022" y="1116433"/>
                    <a:pt x="5202074" y="424950"/>
                    <a:pt x="3466534" y="208860"/>
                  </a:cubicBezTo>
                  <a:cubicBezTo>
                    <a:pt x="1730994" y="-7230"/>
                    <a:pt x="-3407" y="229330"/>
                    <a:pt x="5" y="202034"/>
                  </a:cubicBezTo>
                  <a:close/>
                </a:path>
              </a:pathLst>
            </a:custGeom>
            <a:solidFill>
              <a:srgbClr val="B06C46"/>
            </a:solidFill>
            <a:ln w="38100" cap="flat" cmpd="sng" algn="ctr">
              <a:no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grpSp>
      <p:sp>
        <p:nvSpPr>
          <p:cNvPr id="356442" name="Rectangle 90"/>
          <p:cNvSpPr>
            <a:spLocks noGrp="1" noChangeArrowheads="1"/>
          </p:cNvSpPr>
          <p:nvPr>
            <p:ph type="ctrTitle"/>
          </p:nvPr>
        </p:nvSpPr>
        <p:spPr>
          <a:xfrm>
            <a:off x="369095" y="293725"/>
            <a:ext cx="6933595" cy="763976"/>
          </a:xfrm>
        </p:spPr>
        <p:txBody>
          <a:bodyPr/>
          <a:lstStyle>
            <a:lvl1pPr>
              <a:defRPr b="1">
                <a:solidFill>
                  <a:schemeClr val="tx1"/>
                </a:solidFill>
                <a:latin typeface="Arial Narrow" panose="020B0606020202030204" pitchFamily="34" charset="0"/>
              </a:defRPr>
            </a:lvl1pPr>
          </a:lstStyle>
          <a:p>
            <a:endParaRPr lang="en-US" dirty="0"/>
          </a:p>
        </p:txBody>
      </p:sp>
      <p:sp>
        <p:nvSpPr>
          <p:cNvPr id="356443" name="Rectangle 91"/>
          <p:cNvSpPr>
            <a:spLocks noGrp="1" noChangeArrowheads="1"/>
          </p:cNvSpPr>
          <p:nvPr>
            <p:ph type="subTitle" idx="1"/>
          </p:nvPr>
        </p:nvSpPr>
        <p:spPr>
          <a:xfrm>
            <a:off x="621579" y="4202374"/>
            <a:ext cx="6933595" cy="1294805"/>
          </a:xfrm>
        </p:spPr>
        <p:txBody>
          <a:bodyPr/>
          <a:lstStyle>
            <a:lvl1pPr marL="0" indent="0">
              <a:buFont typeface="Wingdings" pitchFamily="2" charset="2"/>
              <a:buNone/>
              <a:defRPr>
                <a:solidFill>
                  <a:schemeClr val="tx1"/>
                </a:solidFill>
              </a:defRPr>
            </a:lvl1pPr>
          </a:lstStyle>
          <a:p>
            <a:r>
              <a:rPr lang="en-US" dirty="0"/>
              <a:t>Click to edit Master subtitle style</a:t>
            </a:r>
          </a:p>
        </p:txBody>
      </p:sp>
      <p:sp>
        <p:nvSpPr>
          <p:cNvPr id="11" name="TextBox 10">
            <a:extLst>
              <a:ext uri="{FF2B5EF4-FFF2-40B4-BE49-F238E27FC236}">
                <a16:creationId xmlns:a16="http://schemas.microsoft.com/office/drawing/2014/main" id="{B1958E55-6970-2641-9E7F-BAB39145175F}"/>
              </a:ext>
            </a:extLst>
          </p:cNvPr>
          <p:cNvSpPr txBox="1"/>
          <p:nvPr userDrawn="1"/>
        </p:nvSpPr>
        <p:spPr>
          <a:xfrm>
            <a:off x="6510957" y="6657943"/>
            <a:ext cx="2372765" cy="200055"/>
          </a:xfrm>
          <a:prstGeom prst="rect">
            <a:avLst/>
          </a:prstGeom>
          <a:noFill/>
        </p:spPr>
        <p:txBody>
          <a:bodyPr wrap="none" rtlCol="0">
            <a:spAutoFit/>
          </a:bodyPr>
          <a:lstStyle/>
          <a:p>
            <a:r>
              <a:rPr lang="en-US" sz="700" dirty="0">
                <a:solidFill>
                  <a:schemeClr val="tx2">
                    <a:lumMod val="75000"/>
                  </a:schemeClr>
                </a:solidFill>
                <a:latin typeface="Calibri Light" panose="020F0302020204030204" pitchFamily="34" charset="0"/>
                <a:cs typeface="Calibri Light" panose="020F0302020204030204" pitchFamily="34" charset="0"/>
              </a:rPr>
              <a:t>© Ken Rosen, Performance Works</a:t>
            </a:r>
            <a:r>
              <a:rPr lang="en-US" sz="700" baseline="0" dirty="0">
                <a:solidFill>
                  <a:schemeClr val="tx2">
                    <a:lumMod val="75000"/>
                  </a:schemeClr>
                </a:solidFill>
                <a:latin typeface="Calibri Light" panose="020F0302020204030204" pitchFamily="34" charset="0"/>
                <a:cs typeface="Calibri Light" panose="020F0302020204030204" pitchFamily="34" charset="0"/>
              </a:rPr>
              <a:t> 2020</a:t>
            </a:r>
            <a:r>
              <a:rPr lang="en-US" sz="700" dirty="0">
                <a:solidFill>
                  <a:schemeClr val="tx2">
                    <a:lumMod val="75000"/>
                  </a:schemeClr>
                </a:solidFill>
                <a:latin typeface="Calibri Light" panose="020F0302020204030204" pitchFamily="34" charset="0"/>
                <a:cs typeface="Calibri Light" panose="020F0302020204030204" pitchFamily="34" charset="0"/>
              </a:rPr>
              <a:t>.</a:t>
            </a:r>
            <a:r>
              <a:rPr lang="en-US" sz="700" baseline="0" dirty="0">
                <a:solidFill>
                  <a:schemeClr val="tx2">
                    <a:lumMod val="75000"/>
                  </a:schemeClr>
                </a:solidFill>
                <a:latin typeface="Calibri Light" panose="020F0302020204030204" pitchFamily="34" charset="0"/>
                <a:cs typeface="Calibri Light" panose="020F0302020204030204" pitchFamily="34" charset="0"/>
              </a:rPr>
              <a:t> All Rights Reserved.</a:t>
            </a:r>
            <a:endParaRPr lang="en-US" sz="700" dirty="0">
              <a:solidFill>
                <a:schemeClr val="tx2">
                  <a:lumMod val="75000"/>
                </a:schemeClr>
              </a:solidFill>
              <a:latin typeface="Calibri Light" panose="020F0302020204030204" pitchFamily="34" charset="0"/>
              <a:cs typeface="Calibri Light" panose="020F03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2857" y="182900"/>
            <a:ext cx="8563429" cy="669727"/>
          </a:xfrm>
        </p:spPr>
        <p:txBody>
          <a:bodyPr/>
          <a:lstStyle>
            <a:lvl1pPr>
              <a:defRPr sz="2400" b="0">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marL="169863" indent="-169863">
              <a:buClr>
                <a:srgbClr val="2952A3"/>
              </a:buClr>
              <a:buSzPct val="60000"/>
              <a:defRPr sz="1600">
                <a:latin typeface="Calibri" pitchFamily="34" charset="0"/>
                <a:cs typeface="Calibri" pitchFamily="34" charset="0"/>
              </a:defRPr>
            </a:lvl1pPr>
            <a:lvl2pPr marL="344488" indent="-174625">
              <a:defRPr sz="1400">
                <a:latin typeface="Calibri" pitchFamily="34" charset="0"/>
                <a:cs typeface="Calibri" pitchFamily="34" charset="0"/>
              </a:defRPr>
            </a:lvl2pPr>
            <a:lvl3pPr marL="688975" indent="-227013">
              <a:defRPr sz="1400">
                <a:latin typeface="Calibri" pitchFamily="34" charset="0"/>
                <a:cs typeface="Calibri" pitchFamily="34" charset="0"/>
              </a:defRPr>
            </a:lvl3pPr>
            <a:lvl4pPr>
              <a:defRPr sz="1200">
                <a:latin typeface="Calibri" pitchFamily="34" charset="0"/>
                <a:cs typeface="Calibri" pitchFamily="34" charset="0"/>
              </a:defRPr>
            </a:lvl4pPr>
            <a:lvl5pPr>
              <a:defRPr sz="1200">
                <a:latin typeface="Calibri" pitchFamily="34" charset="0"/>
                <a:cs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57"/>
          <p:cNvSpPr>
            <a:spLocks noGrp="1" noChangeArrowheads="1"/>
          </p:cNvSpPr>
          <p:nvPr>
            <p:ph type="sldNum" sz="quarter" idx="10"/>
          </p:nvPr>
        </p:nvSpPr>
        <p:spPr>
          <a:ln/>
        </p:spPr>
        <p:txBody>
          <a:bodyPr/>
          <a:lstStyle>
            <a:lvl1pPr>
              <a:defRPr/>
            </a:lvl1pPr>
          </a:lstStyle>
          <a:p>
            <a:pPr>
              <a:defRPr/>
            </a:pPr>
            <a:fld id="{2C4E6AFA-3FAE-4255-BB1C-23F1C25378E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690" y="4406801"/>
            <a:ext cx="7772703" cy="1361777"/>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22690" y="2906613"/>
            <a:ext cx="7772703" cy="1500188"/>
          </a:xfrm>
        </p:spPr>
        <p:txBody>
          <a:bodyPr anchor="b"/>
          <a:lstStyle>
            <a:lvl1pPr marL="0" indent="0">
              <a:buNone/>
              <a:defRPr sz="1900"/>
            </a:lvl1pPr>
            <a:lvl2pPr marL="432465" indent="0">
              <a:buNone/>
              <a:defRPr sz="1700"/>
            </a:lvl2pPr>
            <a:lvl3pPr marL="864931" indent="0">
              <a:buNone/>
              <a:defRPr sz="1500"/>
            </a:lvl3pPr>
            <a:lvl4pPr marL="1297396" indent="0">
              <a:buNone/>
              <a:defRPr sz="1300"/>
            </a:lvl4pPr>
            <a:lvl5pPr marL="1729862" indent="0">
              <a:buNone/>
              <a:defRPr sz="1300"/>
            </a:lvl5pPr>
            <a:lvl6pPr marL="2162327" indent="0">
              <a:buNone/>
              <a:defRPr sz="1300"/>
            </a:lvl6pPr>
            <a:lvl7pPr marL="2594793" indent="0">
              <a:buNone/>
              <a:defRPr sz="1300"/>
            </a:lvl7pPr>
            <a:lvl8pPr marL="3027258" indent="0">
              <a:buNone/>
              <a:defRPr sz="1300"/>
            </a:lvl8pPr>
            <a:lvl9pPr marL="3459724" indent="0">
              <a:buNone/>
              <a:defRPr sz="1300"/>
            </a:lvl9pPr>
          </a:lstStyle>
          <a:p>
            <a:pPr lvl="0"/>
            <a:r>
              <a:rPr lang="en-US"/>
              <a:t>Click to edit Master text styles</a:t>
            </a:r>
          </a:p>
        </p:txBody>
      </p:sp>
      <p:sp>
        <p:nvSpPr>
          <p:cNvPr id="4" name="Rectangle 157"/>
          <p:cNvSpPr>
            <a:spLocks noGrp="1" noChangeArrowheads="1"/>
          </p:cNvSpPr>
          <p:nvPr>
            <p:ph type="sldNum" sz="quarter" idx="10"/>
          </p:nvPr>
        </p:nvSpPr>
        <p:spPr>
          <a:ln/>
        </p:spPr>
        <p:txBody>
          <a:bodyPr/>
          <a:lstStyle>
            <a:lvl1pPr>
              <a:defRPr/>
            </a:lvl1pPr>
          </a:lstStyle>
          <a:p>
            <a:pPr>
              <a:defRPr/>
            </a:pPr>
            <a:fld id="{32D93DDA-24AC-42C9-A811-08E9933800C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9834" y="1357312"/>
            <a:ext cx="4319512" cy="4786313"/>
          </a:xfrm>
        </p:spPr>
        <p:txBody>
          <a:bodyPr/>
          <a:lstStyle>
            <a:lvl1pPr>
              <a:defRPr sz="26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24489" y="1357312"/>
            <a:ext cx="4319511" cy="4786313"/>
          </a:xfrm>
        </p:spPr>
        <p:txBody>
          <a:bodyPr/>
          <a:lstStyle>
            <a:lvl1pPr>
              <a:defRPr sz="26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57"/>
          <p:cNvSpPr>
            <a:spLocks noGrp="1" noChangeArrowheads="1"/>
          </p:cNvSpPr>
          <p:nvPr>
            <p:ph type="sldNum" sz="quarter" idx="10"/>
          </p:nvPr>
        </p:nvSpPr>
        <p:spPr>
          <a:ln/>
        </p:spPr>
        <p:txBody>
          <a:bodyPr/>
          <a:lstStyle>
            <a:lvl1pPr>
              <a:defRPr/>
            </a:lvl1pPr>
          </a:lstStyle>
          <a:p>
            <a:pPr>
              <a:defRPr/>
            </a:pPr>
            <a:fld id="{E8539235-3EC7-4ED4-A50A-B6FC6BCA911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6595" y="275333"/>
            <a:ext cx="823081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6595" y="1534419"/>
            <a:ext cx="4041322" cy="639961"/>
          </a:xfrm>
        </p:spPr>
        <p:txBody>
          <a:bodyPr anchor="b"/>
          <a:lstStyle>
            <a:lvl1pPr marL="0" indent="0">
              <a:buNone/>
              <a:defRPr sz="2300" b="1"/>
            </a:lvl1pPr>
            <a:lvl2pPr marL="432465" indent="0">
              <a:buNone/>
              <a:defRPr sz="1900" b="1"/>
            </a:lvl2pPr>
            <a:lvl3pPr marL="864931" indent="0">
              <a:buNone/>
              <a:defRPr sz="1700" b="1"/>
            </a:lvl3pPr>
            <a:lvl4pPr marL="1297396" indent="0">
              <a:buNone/>
              <a:defRPr sz="1500" b="1"/>
            </a:lvl4pPr>
            <a:lvl5pPr marL="1729862" indent="0">
              <a:buNone/>
              <a:defRPr sz="1500" b="1"/>
            </a:lvl5pPr>
            <a:lvl6pPr marL="2162327" indent="0">
              <a:buNone/>
              <a:defRPr sz="1500" b="1"/>
            </a:lvl6pPr>
            <a:lvl7pPr marL="2594793" indent="0">
              <a:buNone/>
              <a:defRPr sz="1500" b="1"/>
            </a:lvl7pPr>
            <a:lvl8pPr marL="3027258" indent="0">
              <a:buNone/>
              <a:defRPr sz="1500" b="1"/>
            </a:lvl8pPr>
            <a:lvl9pPr marL="3459724" indent="0">
              <a:buNone/>
              <a:defRPr sz="1500" b="1"/>
            </a:lvl9pPr>
          </a:lstStyle>
          <a:p>
            <a:pPr lvl="0"/>
            <a:r>
              <a:rPr lang="en-US"/>
              <a:t>Click to edit Master text styles</a:t>
            </a:r>
          </a:p>
        </p:txBody>
      </p:sp>
      <p:sp>
        <p:nvSpPr>
          <p:cNvPr id="4" name="Content Placeholder 3"/>
          <p:cNvSpPr>
            <a:spLocks noGrp="1"/>
          </p:cNvSpPr>
          <p:nvPr>
            <p:ph sz="half" idx="2"/>
          </p:nvPr>
        </p:nvSpPr>
        <p:spPr>
          <a:xfrm>
            <a:off x="456595" y="2174380"/>
            <a:ext cx="4041322" cy="3951386"/>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4572" y="1534419"/>
            <a:ext cx="4042833" cy="639961"/>
          </a:xfrm>
        </p:spPr>
        <p:txBody>
          <a:bodyPr anchor="b"/>
          <a:lstStyle>
            <a:lvl1pPr marL="0" indent="0">
              <a:buNone/>
              <a:defRPr sz="2300" b="1"/>
            </a:lvl1pPr>
            <a:lvl2pPr marL="432465" indent="0">
              <a:buNone/>
              <a:defRPr sz="1900" b="1"/>
            </a:lvl2pPr>
            <a:lvl3pPr marL="864931" indent="0">
              <a:buNone/>
              <a:defRPr sz="1700" b="1"/>
            </a:lvl3pPr>
            <a:lvl4pPr marL="1297396" indent="0">
              <a:buNone/>
              <a:defRPr sz="1500" b="1"/>
            </a:lvl4pPr>
            <a:lvl5pPr marL="1729862" indent="0">
              <a:buNone/>
              <a:defRPr sz="1500" b="1"/>
            </a:lvl5pPr>
            <a:lvl6pPr marL="2162327" indent="0">
              <a:buNone/>
              <a:defRPr sz="1500" b="1"/>
            </a:lvl6pPr>
            <a:lvl7pPr marL="2594793" indent="0">
              <a:buNone/>
              <a:defRPr sz="1500" b="1"/>
            </a:lvl7pPr>
            <a:lvl8pPr marL="3027258" indent="0">
              <a:buNone/>
              <a:defRPr sz="1500" b="1"/>
            </a:lvl8pPr>
            <a:lvl9pPr marL="3459724"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44572" y="2174380"/>
            <a:ext cx="4042833" cy="3951386"/>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57"/>
          <p:cNvSpPr>
            <a:spLocks noGrp="1" noChangeArrowheads="1"/>
          </p:cNvSpPr>
          <p:nvPr>
            <p:ph type="sldNum" sz="quarter" idx="10"/>
          </p:nvPr>
        </p:nvSpPr>
        <p:spPr>
          <a:ln/>
        </p:spPr>
        <p:txBody>
          <a:bodyPr/>
          <a:lstStyle>
            <a:lvl1pPr>
              <a:defRPr/>
            </a:lvl1pPr>
          </a:lstStyle>
          <a:p>
            <a:pPr>
              <a:defRPr/>
            </a:pPr>
            <a:fld id="{F77B1172-6BBA-4703-BA9C-0E8A6115B86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90512" y="797026"/>
            <a:ext cx="8562975" cy="669925"/>
          </a:xfrm>
        </p:spPr>
        <p:txBody>
          <a:bodyPr/>
          <a:lstStyle/>
          <a:p>
            <a:r>
              <a:rPr lang="en-US" dirty="0"/>
              <a:t>Click to edit Master title style</a:t>
            </a:r>
          </a:p>
        </p:txBody>
      </p:sp>
      <p:sp>
        <p:nvSpPr>
          <p:cNvPr id="3" name="Rectangle 157"/>
          <p:cNvSpPr>
            <a:spLocks noGrp="1" noChangeArrowheads="1"/>
          </p:cNvSpPr>
          <p:nvPr>
            <p:ph type="sldNum" sz="quarter" idx="10"/>
          </p:nvPr>
        </p:nvSpPr>
        <p:spPr>
          <a:ln/>
        </p:spPr>
        <p:txBody>
          <a:bodyPr/>
          <a:lstStyle>
            <a:lvl1pPr>
              <a:defRPr/>
            </a:lvl1pPr>
          </a:lstStyle>
          <a:p>
            <a:pPr>
              <a:defRPr/>
            </a:pPr>
            <a:fld id="{DFE0C305-EB60-4410-962D-772AA82E3DED}" type="slidenum">
              <a:rPr lang="en-US"/>
              <a:pPr>
                <a:defRPr/>
              </a:pPr>
              <a:t>‹#›</a:t>
            </a:fld>
            <a:endParaRPr lang="en-US"/>
          </a:p>
        </p:txBody>
      </p:sp>
      <p:sp>
        <p:nvSpPr>
          <p:cNvPr id="5" name="Text Placeholder 4">
            <a:extLst>
              <a:ext uri="{FF2B5EF4-FFF2-40B4-BE49-F238E27FC236}">
                <a16:creationId xmlns:a16="http://schemas.microsoft.com/office/drawing/2014/main" id="{A6DC5058-C84E-4923-A82D-AE7541181009}"/>
              </a:ext>
            </a:extLst>
          </p:cNvPr>
          <p:cNvSpPr>
            <a:spLocks noGrp="1"/>
          </p:cNvSpPr>
          <p:nvPr>
            <p:ph type="body" sz="quarter" idx="11"/>
          </p:nvPr>
        </p:nvSpPr>
        <p:spPr>
          <a:xfrm>
            <a:off x="290513" y="102978"/>
            <a:ext cx="8562975" cy="612567"/>
          </a:xfrm>
        </p:spPr>
        <p:txBody>
          <a:bodyPr/>
          <a:lstStyle>
            <a:lvl1pPr marL="0" indent="0">
              <a:buNone/>
              <a:defRPr sz="1100">
                <a:latin typeface="Arial Narrow" panose="020B0606020202030204" pitchFamily="34" charset="0"/>
              </a:defRPr>
            </a:lvl1pPr>
          </a:lstStyle>
          <a:p>
            <a:pPr lvl="0"/>
            <a:r>
              <a:rPr lang="en-US" dirty="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57"/>
          <p:cNvSpPr>
            <a:spLocks noGrp="1" noChangeArrowheads="1"/>
          </p:cNvSpPr>
          <p:nvPr>
            <p:ph type="sldNum" sz="quarter" idx="10"/>
          </p:nvPr>
        </p:nvSpPr>
        <p:spPr>
          <a:ln/>
        </p:spPr>
        <p:txBody>
          <a:bodyPr/>
          <a:lstStyle>
            <a:lvl1pPr>
              <a:defRPr/>
            </a:lvl1pPr>
          </a:lstStyle>
          <a:p>
            <a:pPr>
              <a:defRPr/>
            </a:pPr>
            <a:fld id="{EC8C8A68-555F-4911-9669-F21E6891043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6596" y="272357"/>
            <a:ext cx="3008690" cy="1162347"/>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75655" y="272356"/>
            <a:ext cx="5111750" cy="5853410"/>
          </a:xfrm>
        </p:spPr>
        <p:txBody>
          <a:bodyPr/>
          <a:lstStyle>
            <a:lvl1pPr>
              <a:defRPr sz="3000"/>
            </a:lvl1pPr>
            <a:lvl2pPr>
              <a:defRPr sz="26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6596" y="1434703"/>
            <a:ext cx="3008690" cy="4691063"/>
          </a:xfrm>
        </p:spPr>
        <p:txBody>
          <a:bodyPr/>
          <a:lstStyle>
            <a:lvl1pPr marL="0" indent="0">
              <a:buNone/>
              <a:defRPr sz="1300"/>
            </a:lvl1pPr>
            <a:lvl2pPr marL="432465" indent="0">
              <a:buNone/>
              <a:defRPr sz="1100"/>
            </a:lvl2pPr>
            <a:lvl3pPr marL="864931" indent="0">
              <a:buNone/>
              <a:defRPr sz="900"/>
            </a:lvl3pPr>
            <a:lvl4pPr marL="1297396" indent="0">
              <a:buNone/>
              <a:defRPr sz="900"/>
            </a:lvl4pPr>
            <a:lvl5pPr marL="1729862" indent="0">
              <a:buNone/>
              <a:defRPr sz="900"/>
            </a:lvl5pPr>
            <a:lvl6pPr marL="2162327" indent="0">
              <a:buNone/>
              <a:defRPr sz="900"/>
            </a:lvl6pPr>
            <a:lvl7pPr marL="2594793" indent="0">
              <a:buNone/>
              <a:defRPr sz="900"/>
            </a:lvl7pPr>
            <a:lvl8pPr marL="3027258" indent="0">
              <a:buNone/>
              <a:defRPr sz="900"/>
            </a:lvl8pPr>
            <a:lvl9pPr marL="3459724" indent="0">
              <a:buNone/>
              <a:defRPr sz="900"/>
            </a:lvl9pPr>
          </a:lstStyle>
          <a:p>
            <a:pPr lvl="0"/>
            <a:r>
              <a:rPr lang="en-US"/>
              <a:t>Click to edit Master text styles</a:t>
            </a:r>
          </a:p>
        </p:txBody>
      </p:sp>
      <p:sp>
        <p:nvSpPr>
          <p:cNvPr id="5" name="Rectangle 157"/>
          <p:cNvSpPr>
            <a:spLocks noGrp="1" noChangeArrowheads="1"/>
          </p:cNvSpPr>
          <p:nvPr>
            <p:ph type="sldNum" sz="quarter" idx="10"/>
          </p:nvPr>
        </p:nvSpPr>
        <p:spPr>
          <a:ln/>
        </p:spPr>
        <p:txBody>
          <a:bodyPr/>
          <a:lstStyle>
            <a:lvl1pPr>
              <a:defRPr/>
            </a:lvl1pPr>
          </a:lstStyle>
          <a:p>
            <a:pPr>
              <a:defRPr/>
            </a:pPr>
            <a:fld id="{953CEE70-B503-47D1-9CB0-1D8B2593DEAF}"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1608" y="4801195"/>
            <a:ext cx="5486702" cy="565547"/>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91608" y="613172"/>
            <a:ext cx="5486702" cy="4115098"/>
          </a:xfrm>
        </p:spPr>
        <p:txBody>
          <a:bodyPr/>
          <a:lstStyle>
            <a:lvl1pPr marL="0" indent="0">
              <a:buNone/>
              <a:defRPr sz="3000"/>
            </a:lvl1pPr>
            <a:lvl2pPr marL="432465" indent="0">
              <a:buNone/>
              <a:defRPr sz="2600"/>
            </a:lvl2pPr>
            <a:lvl3pPr marL="864931" indent="0">
              <a:buNone/>
              <a:defRPr sz="2300"/>
            </a:lvl3pPr>
            <a:lvl4pPr marL="1297396" indent="0">
              <a:buNone/>
              <a:defRPr sz="1900"/>
            </a:lvl4pPr>
            <a:lvl5pPr marL="1729862" indent="0">
              <a:buNone/>
              <a:defRPr sz="1900"/>
            </a:lvl5pPr>
            <a:lvl6pPr marL="2162327" indent="0">
              <a:buNone/>
              <a:defRPr sz="1900"/>
            </a:lvl6pPr>
            <a:lvl7pPr marL="2594793" indent="0">
              <a:buNone/>
              <a:defRPr sz="1900"/>
            </a:lvl7pPr>
            <a:lvl8pPr marL="3027258" indent="0">
              <a:buNone/>
              <a:defRPr sz="1900"/>
            </a:lvl8pPr>
            <a:lvl9pPr marL="3459724"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91608" y="5366742"/>
            <a:ext cx="5486702" cy="805161"/>
          </a:xfrm>
        </p:spPr>
        <p:txBody>
          <a:bodyPr/>
          <a:lstStyle>
            <a:lvl1pPr marL="0" indent="0">
              <a:buNone/>
              <a:defRPr sz="1300"/>
            </a:lvl1pPr>
            <a:lvl2pPr marL="432465" indent="0">
              <a:buNone/>
              <a:defRPr sz="1100"/>
            </a:lvl2pPr>
            <a:lvl3pPr marL="864931" indent="0">
              <a:buNone/>
              <a:defRPr sz="900"/>
            </a:lvl3pPr>
            <a:lvl4pPr marL="1297396" indent="0">
              <a:buNone/>
              <a:defRPr sz="900"/>
            </a:lvl4pPr>
            <a:lvl5pPr marL="1729862" indent="0">
              <a:buNone/>
              <a:defRPr sz="900"/>
            </a:lvl5pPr>
            <a:lvl6pPr marL="2162327" indent="0">
              <a:buNone/>
              <a:defRPr sz="900"/>
            </a:lvl6pPr>
            <a:lvl7pPr marL="2594793" indent="0">
              <a:buNone/>
              <a:defRPr sz="900"/>
            </a:lvl7pPr>
            <a:lvl8pPr marL="3027258" indent="0">
              <a:buNone/>
              <a:defRPr sz="900"/>
            </a:lvl8pPr>
            <a:lvl9pPr marL="3459724" indent="0">
              <a:buNone/>
              <a:defRPr sz="900"/>
            </a:lvl9pPr>
          </a:lstStyle>
          <a:p>
            <a:pPr lvl="0"/>
            <a:r>
              <a:rPr lang="en-US"/>
              <a:t>Click to edit Master text styles</a:t>
            </a:r>
          </a:p>
        </p:txBody>
      </p:sp>
      <p:sp>
        <p:nvSpPr>
          <p:cNvPr id="5" name="Rectangle 157"/>
          <p:cNvSpPr>
            <a:spLocks noGrp="1" noChangeArrowheads="1"/>
          </p:cNvSpPr>
          <p:nvPr>
            <p:ph type="sldNum" sz="quarter" idx="10"/>
          </p:nvPr>
        </p:nvSpPr>
        <p:spPr>
          <a:ln/>
        </p:spPr>
        <p:txBody>
          <a:bodyPr/>
          <a:lstStyle>
            <a:lvl1pPr>
              <a:defRPr/>
            </a:lvl1pPr>
          </a:lstStyle>
          <a:p>
            <a:pPr>
              <a:defRPr/>
            </a:pPr>
            <a:fld id="{3BF6052D-CB1B-4078-A624-F26640A3AC12}"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57"/>
          <p:cNvSpPr>
            <a:spLocks noGrp="1" noChangeArrowheads="1"/>
          </p:cNvSpPr>
          <p:nvPr>
            <p:ph type="sldNum" sz="quarter" idx="10"/>
          </p:nvPr>
        </p:nvSpPr>
        <p:spPr>
          <a:ln/>
        </p:spPr>
        <p:txBody>
          <a:bodyPr/>
          <a:lstStyle>
            <a:lvl1pPr>
              <a:defRPr/>
            </a:lvl1pPr>
          </a:lstStyle>
          <a:p>
            <a:pPr>
              <a:defRPr/>
            </a:pPr>
            <a:fld id="{46A9B1C0-660C-46E1-9CA3-A0CFEFF51A6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48714" y="803672"/>
            <a:ext cx="2195286" cy="53399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9834" y="803672"/>
            <a:ext cx="6443738" cy="53399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57"/>
          <p:cNvSpPr>
            <a:spLocks noGrp="1" noChangeArrowheads="1"/>
          </p:cNvSpPr>
          <p:nvPr>
            <p:ph type="sldNum" sz="quarter" idx="10"/>
          </p:nvPr>
        </p:nvSpPr>
        <p:spPr>
          <a:ln/>
        </p:spPr>
        <p:txBody>
          <a:bodyPr/>
          <a:lstStyle>
            <a:lvl1pPr>
              <a:defRPr/>
            </a:lvl1pPr>
          </a:lstStyle>
          <a:p>
            <a:pPr>
              <a:defRPr/>
            </a:pPr>
            <a:fld id="{B4C26716-14EA-4E3F-A9D4-2F978A2EE0D8}"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5574" y="1516837"/>
            <a:ext cx="8217203" cy="4510980"/>
          </a:xfrm>
          <a:prstGeom prst="rect">
            <a:avLst/>
          </a:prstGeom>
        </p:spPr>
        <p:txBody>
          <a:bodyPr vert="horz" lIns="0" tIns="0" rIns="0" bIns="0"/>
          <a:lstStyle>
            <a:lvl1pPr marL="0" indent="0">
              <a:lnSpc>
                <a:spcPts val="2043"/>
              </a:lnSpc>
              <a:spcBef>
                <a:spcPts val="946"/>
              </a:spcBef>
              <a:spcAft>
                <a:spcPts val="0"/>
              </a:spcAft>
              <a:buFontTx/>
              <a:buNone/>
              <a:defRPr sz="1700" b="1" i="0" cap="all" spc="0">
                <a:latin typeface="Calibri"/>
                <a:cs typeface="Calibri"/>
              </a:defRPr>
            </a:lvl1pPr>
            <a:lvl2pPr marL="216233" indent="-216233">
              <a:lnSpc>
                <a:spcPts val="2043"/>
              </a:lnSpc>
              <a:spcBef>
                <a:spcPts val="0"/>
              </a:spcBef>
              <a:spcAft>
                <a:spcPts val="0"/>
              </a:spcAft>
              <a:buClr>
                <a:schemeClr val="bg1">
                  <a:lumMod val="50000"/>
                </a:schemeClr>
              </a:buClr>
              <a:buSzPct val="80000"/>
              <a:buFont typeface="Wingdings" charset="2"/>
              <a:buChar char=""/>
              <a:defRPr sz="1700" b="0" i="0">
                <a:latin typeface="Calibri"/>
                <a:cs typeface="Calibri"/>
              </a:defRPr>
            </a:lvl2pPr>
            <a:lvl3pPr marL="432465" indent="-216233">
              <a:lnSpc>
                <a:spcPts val="2043"/>
              </a:lnSpc>
              <a:spcBef>
                <a:spcPts val="0"/>
              </a:spcBef>
              <a:spcAft>
                <a:spcPts val="0"/>
              </a:spcAft>
              <a:buClr>
                <a:schemeClr val="bg1">
                  <a:lumMod val="50000"/>
                </a:schemeClr>
              </a:buClr>
              <a:buFont typeface="Arial"/>
              <a:buChar char="•"/>
              <a:defRPr sz="1700" b="0" i="0">
                <a:latin typeface="Calibri"/>
                <a:cs typeface="Calibri"/>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6838206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1" name="Rectangle 155"/>
          <p:cNvSpPr>
            <a:spLocks noGrp="1" noChangeArrowheads="1"/>
          </p:cNvSpPr>
          <p:nvPr>
            <p:ph type="title"/>
          </p:nvPr>
        </p:nvSpPr>
        <p:spPr bwMode="auto">
          <a:xfrm>
            <a:off x="360363" y="1008926"/>
            <a:ext cx="8562975" cy="669925"/>
          </a:xfrm>
          <a:prstGeom prst="rect">
            <a:avLst/>
          </a:prstGeom>
          <a:noFill/>
          <a:ln w="9525">
            <a:noFill/>
            <a:miter lim="800000"/>
            <a:headEnd/>
            <a:tailEnd/>
          </a:ln>
        </p:spPr>
        <p:txBody>
          <a:bodyPr vert="horz" wrap="square" lIns="91399" tIns="45700" rIns="91399" bIns="45700" numCol="1" anchor="ctr" anchorCtr="0" compatLnSpc="1">
            <a:prstTxWarp prst="textNoShape">
              <a:avLst/>
            </a:prstTxWarp>
          </a:bodyPr>
          <a:lstStyle/>
          <a:p>
            <a:pPr lvl="0"/>
            <a:r>
              <a:rPr lang="en-US" dirty="0"/>
              <a:t>Click to edit Master title style</a:t>
            </a:r>
          </a:p>
        </p:txBody>
      </p:sp>
      <p:sp>
        <p:nvSpPr>
          <p:cNvPr id="2052" name="Rectangle 156"/>
          <p:cNvSpPr>
            <a:spLocks noGrp="1" noChangeArrowheads="1"/>
          </p:cNvSpPr>
          <p:nvPr>
            <p:ph type="body" idx="1"/>
          </p:nvPr>
        </p:nvSpPr>
        <p:spPr bwMode="auto">
          <a:xfrm>
            <a:off x="360363" y="2081285"/>
            <a:ext cx="8783637" cy="4062340"/>
          </a:xfrm>
          <a:prstGeom prst="rect">
            <a:avLst/>
          </a:prstGeom>
          <a:noFill/>
          <a:ln w="9525">
            <a:noFill/>
            <a:miter lim="800000"/>
            <a:headEnd/>
            <a:tailEnd/>
          </a:ln>
        </p:spPr>
        <p:txBody>
          <a:bodyPr vert="horz" wrap="square" lIns="91399" tIns="45700" rIns="91399" bIns="4570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5485" name="Rectangle 157"/>
          <p:cNvSpPr>
            <a:spLocks noGrp="1" noChangeArrowheads="1"/>
          </p:cNvSpPr>
          <p:nvPr>
            <p:ph type="sldNum" sz="quarter" idx="4"/>
          </p:nvPr>
        </p:nvSpPr>
        <p:spPr bwMode="auto">
          <a:xfrm>
            <a:off x="7048600" y="6505575"/>
            <a:ext cx="1905000" cy="352425"/>
          </a:xfrm>
          <a:prstGeom prst="rect">
            <a:avLst/>
          </a:prstGeom>
          <a:noFill/>
          <a:ln w="9525">
            <a:noFill/>
            <a:miter lim="800000"/>
            <a:headEnd/>
            <a:tailEnd/>
          </a:ln>
          <a:effectLst/>
        </p:spPr>
        <p:txBody>
          <a:bodyPr vert="horz" wrap="square" lIns="91399" tIns="45700" rIns="91399" bIns="45700" numCol="1" anchor="b" anchorCtr="0" compatLnSpc="1">
            <a:prstTxWarp prst="textNoShape">
              <a:avLst/>
            </a:prstTxWarp>
          </a:bodyPr>
          <a:lstStyle>
            <a:lvl1pPr algn="r" defTabSz="914485">
              <a:defRPr sz="800" smtClean="0">
                <a:solidFill>
                  <a:schemeClr val="folHlink"/>
                </a:solidFill>
                <a:latin typeface="Arial" pitchFamily="34" charset="0"/>
                <a:cs typeface="Arial" pitchFamily="34" charset="0"/>
              </a:defRPr>
            </a:lvl1pPr>
          </a:lstStyle>
          <a:p>
            <a:pPr>
              <a:defRPr/>
            </a:pPr>
            <a:fld id="{986C9AE2-D7A8-45FD-B54F-23BB15587CBA}" type="slidenum">
              <a:rPr lang="en-US" smtClean="0"/>
              <a:pPr>
                <a:defRPr/>
              </a:pPr>
              <a:t>‹#›</a:t>
            </a:fld>
            <a:endParaRPr lang="en-US"/>
          </a:p>
        </p:txBody>
      </p:sp>
      <p:sp>
        <p:nvSpPr>
          <p:cNvPr id="5" name="TextBox 4"/>
          <p:cNvSpPr txBox="1"/>
          <p:nvPr userDrawn="1"/>
        </p:nvSpPr>
        <p:spPr>
          <a:xfrm>
            <a:off x="401574" y="6657945"/>
            <a:ext cx="2917785" cy="200055"/>
          </a:xfrm>
          <a:prstGeom prst="rect">
            <a:avLst/>
          </a:prstGeom>
          <a:noFill/>
        </p:spPr>
        <p:txBody>
          <a:bodyPr wrap="none" rtlCol="0">
            <a:spAutoFit/>
          </a:bodyPr>
          <a:lstStyle/>
          <a:p>
            <a:r>
              <a:rPr lang="en-US" sz="700" dirty="0">
                <a:solidFill>
                  <a:schemeClr val="tx2">
                    <a:lumMod val="75000"/>
                  </a:schemeClr>
                </a:solidFill>
                <a:latin typeface="Calibri" pitchFamily="34" charset="0"/>
                <a:cs typeface="Calibri" pitchFamily="34" charset="0"/>
              </a:rPr>
              <a:t>© Ken Rosen, KenRosen.tv, Performance Works</a:t>
            </a:r>
            <a:r>
              <a:rPr lang="en-US" sz="700" baseline="0" dirty="0">
                <a:solidFill>
                  <a:schemeClr val="tx2">
                    <a:lumMod val="75000"/>
                  </a:schemeClr>
                </a:solidFill>
                <a:latin typeface="Calibri" pitchFamily="34" charset="0"/>
                <a:cs typeface="Calibri" pitchFamily="34" charset="0"/>
              </a:rPr>
              <a:t> 2019</a:t>
            </a:r>
            <a:r>
              <a:rPr lang="en-US" sz="700" dirty="0">
                <a:solidFill>
                  <a:schemeClr val="tx2">
                    <a:lumMod val="75000"/>
                  </a:schemeClr>
                </a:solidFill>
                <a:latin typeface="Calibri" pitchFamily="34" charset="0"/>
                <a:cs typeface="Calibri" pitchFamily="34" charset="0"/>
              </a:rPr>
              <a:t>.</a:t>
            </a:r>
            <a:r>
              <a:rPr lang="en-US" sz="700" baseline="0" dirty="0">
                <a:solidFill>
                  <a:schemeClr val="tx2">
                    <a:lumMod val="75000"/>
                  </a:schemeClr>
                </a:solidFill>
                <a:latin typeface="Calibri" pitchFamily="34" charset="0"/>
                <a:cs typeface="Calibri" pitchFamily="34" charset="0"/>
              </a:rPr>
              <a:t> All Rights Reserved.</a:t>
            </a:r>
            <a:endParaRPr lang="en-US" sz="700" dirty="0">
              <a:solidFill>
                <a:schemeClr val="tx2">
                  <a:lumMod val="75000"/>
                </a:schemeClr>
              </a:solidFill>
              <a:latin typeface="Calibri" pitchFamily="34" charset="0"/>
              <a:cs typeface="Calibri" pitchFamily="34" charset="0"/>
            </a:endParaRPr>
          </a:p>
        </p:txBody>
      </p:sp>
    </p:spTree>
  </p:cSld>
  <p:clrMap bg1="lt1" tx1="dk1" bg2="lt2" tx2="dk2" accent1="accent1" accent2="accent2" accent3="accent3" accent4="accent4" accent5="accent5" accent6="accent6" hlink="hlink" folHlink="folHlink"/>
  <p:sldLayoutIdLst>
    <p:sldLayoutId id="2147483707"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709" r:id="rId12"/>
  </p:sldLayoutIdLst>
  <p:hf hdr="0" ftr="0" dt="0"/>
  <p:txStyles>
    <p:titleStyle>
      <a:lvl1pPr algn="l" rtl="0" fontAlgn="base">
        <a:spcBef>
          <a:spcPct val="0"/>
        </a:spcBef>
        <a:spcAft>
          <a:spcPct val="0"/>
        </a:spcAft>
        <a:defRPr sz="2400">
          <a:solidFill>
            <a:srgbClr val="2E5BB6"/>
          </a:solidFill>
          <a:latin typeface="Arial Narrow" panose="020B0606020202030204" pitchFamily="34" charset="0"/>
          <a:ea typeface="+mj-ea"/>
          <a:cs typeface="Calibri" pitchFamily="34" charset="0"/>
        </a:defRPr>
      </a:lvl1pPr>
      <a:lvl2pPr algn="l" rtl="0" fontAlgn="base">
        <a:spcBef>
          <a:spcPct val="0"/>
        </a:spcBef>
        <a:spcAft>
          <a:spcPct val="0"/>
        </a:spcAft>
        <a:defRPr sz="3400">
          <a:solidFill>
            <a:srgbClr val="2E5BB6"/>
          </a:solidFill>
          <a:latin typeface="Garamond" pitchFamily="18" charset="0"/>
        </a:defRPr>
      </a:lvl2pPr>
      <a:lvl3pPr algn="l" rtl="0" fontAlgn="base">
        <a:spcBef>
          <a:spcPct val="0"/>
        </a:spcBef>
        <a:spcAft>
          <a:spcPct val="0"/>
        </a:spcAft>
        <a:defRPr sz="3400">
          <a:solidFill>
            <a:srgbClr val="2E5BB6"/>
          </a:solidFill>
          <a:latin typeface="Garamond" pitchFamily="18" charset="0"/>
        </a:defRPr>
      </a:lvl3pPr>
      <a:lvl4pPr algn="l" rtl="0" fontAlgn="base">
        <a:spcBef>
          <a:spcPct val="0"/>
        </a:spcBef>
        <a:spcAft>
          <a:spcPct val="0"/>
        </a:spcAft>
        <a:defRPr sz="3400">
          <a:solidFill>
            <a:srgbClr val="2E5BB6"/>
          </a:solidFill>
          <a:latin typeface="Garamond" pitchFamily="18" charset="0"/>
        </a:defRPr>
      </a:lvl4pPr>
      <a:lvl5pPr algn="l" rtl="0" fontAlgn="base">
        <a:spcBef>
          <a:spcPct val="0"/>
        </a:spcBef>
        <a:spcAft>
          <a:spcPct val="0"/>
        </a:spcAft>
        <a:defRPr sz="3400">
          <a:solidFill>
            <a:srgbClr val="2E5BB6"/>
          </a:solidFill>
          <a:latin typeface="Garamond" pitchFamily="18" charset="0"/>
        </a:defRPr>
      </a:lvl5pPr>
      <a:lvl6pPr marL="432465" algn="l" defTabSz="914485" rtl="0" eaLnBrk="1" fontAlgn="base" hangingPunct="1">
        <a:spcBef>
          <a:spcPct val="0"/>
        </a:spcBef>
        <a:spcAft>
          <a:spcPct val="0"/>
        </a:spcAft>
        <a:defRPr sz="3400">
          <a:solidFill>
            <a:srgbClr val="9A4D00"/>
          </a:solidFill>
          <a:latin typeface="Garamond" pitchFamily="18" charset="0"/>
        </a:defRPr>
      </a:lvl6pPr>
      <a:lvl7pPr marL="864931" algn="l" defTabSz="914485" rtl="0" eaLnBrk="1" fontAlgn="base" hangingPunct="1">
        <a:spcBef>
          <a:spcPct val="0"/>
        </a:spcBef>
        <a:spcAft>
          <a:spcPct val="0"/>
        </a:spcAft>
        <a:defRPr sz="3400">
          <a:solidFill>
            <a:srgbClr val="9A4D00"/>
          </a:solidFill>
          <a:latin typeface="Garamond" pitchFamily="18" charset="0"/>
        </a:defRPr>
      </a:lvl7pPr>
      <a:lvl8pPr marL="1297396" algn="l" defTabSz="914485" rtl="0" eaLnBrk="1" fontAlgn="base" hangingPunct="1">
        <a:spcBef>
          <a:spcPct val="0"/>
        </a:spcBef>
        <a:spcAft>
          <a:spcPct val="0"/>
        </a:spcAft>
        <a:defRPr sz="3400">
          <a:solidFill>
            <a:srgbClr val="9A4D00"/>
          </a:solidFill>
          <a:latin typeface="Garamond" pitchFamily="18" charset="0"/>
        </a:defRPr>
      </a:lvl8pPr>
      <a:lvl9pPr marL="1729862" algn="l" defTabSz="914485" rtl="0" eaLnBrk="1" fontAlgn="base" hangingPunct="1">
        <a:spcBef>
          <a:spcPct val="0"/>
        </a:spcBef>
        <a:spcAft>
          <a:spcPct val="0"/>
        </a:spcAft>
        <a:defRPr sz="3400">
          <a:solidFill>
            <a:srgbClr val="9A4D00"/>
          </a:solidFill>
          <a:latin typeface="Garamond" pitchFamily="18" charset="0"/>
        </a:defRPr>
      </a:lvl9pPr>
    </p:titleStyle>
    <p:bodyStyle>
      <a:lvl1pPr marL="169863" indent="-169863" algn="l" rtl="0" fontAlgn="base">
        <a:spcBef>
          <a:spcPct val="30000"/>
        </a:spcBef>
        <a:spcAft>
          <a:spcPct val="0"/>
        </a:spcAft>
        <a:buClr>
          <a:srgbClr val="2E5BB6"/>
        </a:buClr>
        <a:buSzPct val="60000"/>
        <a:buFont typeface="Wingdings" panose="05000000000000000000" pitchFamily="2" charset="2"/>
        <a:buChar char="§"/>
        <a:defRPr sz="1600">
          <a:solidFill>
            <a:schemeClr val="tx1"/>
          </a:solidFill>
          <a:latin typeface="Arial Narrow" panose="020B0606020202030204" pitchFamily="34" charset="0"/>
          <a:ea typeface="+mn-ea"/>
          <a:cs typeface="Calibri" pitchFamily="34" charset="0"/>
        </a:defRPr>
      </a:lvl1pPr>
      <a:lvl2pPr marL="344488" indent="-171450" algn="l" rtl="0" fontAlgn="base">
        <a:lnSpc>
          <a:spcPct val="90000"/>
        </a:lnSpc>
        <a:spcBef>
          <a:spcPct val="20000"/>
        </a:spcBef>
        <a:spcAft>
          <a:spcPct val="0"/>
        </a:spcAft>
        <a:buClr>
          <a:srgbClr val="2E5BB6"/>
        </a:buClr>
        <a:buSzPct val="65000"/>
        <a:buFont typeface="Courier New" panose="02070309020205020404" pitchFamily="49" charset="0"/>
        <a:buChar char="o"/>
        <a:defRPr sz="1400">
          <a:solidFill>
            <a:schemeClr val="tx1"/>
          </a:solidFill>
          <a:latin typeface="Arial Narrow" panose="020B0606020202030204" pitchFamily="34" charset="0"/>
          <a:cs typeface="Calibri" pitchFamily="34" charset="0"/>
        </a:defRPr>
      </a:lvl2pPr>
      <a:lvl3pPr marL="747713" indent="-236538" algn="l" rtl="0" fontAlgn="base">
        <a:lnSpc>
          <a:spcPct val="90000"/>
        </a:lnSpc>
        <a:spcBef>
          <a:spcPct val="20000"/>
        </a:spcBef>
        <a:spcAft>
          <a:spcPct val="0"/>
        </a:spcAft>
        <a:buChar char="•"/>
        <a:defRPr sz="1400">
          <a:solidFill>
            <a:schemeClr val="tx1"/>
          </a:solidFill>
          <a:latin typeface="Arial Narrow" panose="020B0606020202030204" pitchFamily="34" charset="0"/>
          <a:cs typeface="Calibri" pitchFamily="34" charset="0"/>
        </a:defRPr>
      </a:lvl3pPr>
      <a:lvl4pPr marL="1600200" indent="-342900" algn="l" rtl="0" fontAlgn="base">
        <a:lnSpc>
          <a:spcPct val="90000"/>
        </a:lnSpc>
        <a:spcBef>
          <a:spcPct val="20000"/>
        </a:spcBef>
        <a:spcAft>
          <a:spcPct val="0"/>
        </a:spcAft>
        <a:buChar char="–"/>
        <a:defRPr sz="1600">
          <a:solidFill>
            <a:schemeClr val="tx1"/>
          </a:solidFill>
          <a:latin typeface="Calibri" pitchFamily="34" charset="0"/>
          <a:cs typeface="Calibri" pitchFamily="34" charset="0"/>
        </a:defRPr>
      </a:lvl4pPr>
      <a:lvl5pPr marL="2386013" indent="-323850" algn="l" rtl="0" fontAlgn="base">
        <a:lnSpc>
          <a:spcPct val="90000"/>
        </a:lnSpc>
        <a:spcBef>
          <a:spcPct val="20000"/>
        </a:spcBef>
        <a:spcAft>
          <a:spcPct val="0"/>
        </a:spcAft>
        <a:buClr>
          <a:schemeClr val="tx2"/>
        </a:buClr>
        <a:buChar char="–"/>
        <a:defRPr sz="1600">
          <a:solidFill>
            <a:schemeClr val="tx1"/>
          </a:solidFill>
          <a:latin typeface="Calibri" pitchFamily="34" charset="0"/>
          <a:cs typeface="Calibri" pitchFamily="34" charset="0"/>
        </a:defRPr>
      </a:lvl5pPr>
      <a:lvl6pPr marL="2818534"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6pPr>
      <a:lvl7pPr marL="3251000"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7pPr>
      <a:lvl8pPr marL="3683465"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8pPr>
      <a:lvl9pPr marL="4115931"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9pPr>
    </p:bodyStyle>
    <p:otherStyle>
      <a:defPPr>
        <a:defRPr lang="en-US"/>
      </a:defPPr>
      <a:lvl1pPr marL="0" algn="l" defTabSz="864931" rtl="0" eaLnBrk="1" latinLnBrk="0" hangingPunct="1">
        <a:defRPr sz="1700" kern="1200">
          <a:solidFill>
            <a:schemeClr val="tx1"/>
          </a:solidFill>
          <a:latin typeface="+mn-lt"/>
          <a:ea typeface="+mn-ea"/>
          <a:cs typeface="+mn-cs"/>
        </a:defRPr>
      </a:lvl1pPr>
      <a:lvl2pPr marL="432465" algn="l" defTabSz="864931" rtl="0" eaLnBrk="1" latinLnBrk="0" hangingPunct="1">
        <a:defRPr sz="1700" kern="1200">
          <a:solidFill>
            <a:schemeClr val="tx1"/>
          </a:solidFill>
          <a:latin typeface="+mn-lt"/>
          <a:ea typeface="+mn-ea"/>
          <a:cs typeface="+mn-cs"/>
        </a:defRPr>
      </a:lvl2pPr>
      <a:lvl3pPr marL="864931" algn="l" defTabSz="864931" rtl="0" eaLnBrk="1" latinLnBrk="0" hangingPunct="1">
        <a:defRPr sz="1700" kern="1200">
          <a:solidFill>
            <a:schemeClr val="tx1"/>
          </a:solidFill>
          <a:latin typeface="+mn-lt"/>
          <a:ea typeface="+mn-ea"/>
          <a:cs typeface="+mn-cs"/>
        </a:defRPr>
      </a:lvl3pPr>
      <a:lvl4pPr marL="1297396" algn="l" defTabSz="864931" rtl="0" eaLnBrk="1" latinLnBrk="0" hangingPunct="1">
        <a:defRPr sz="1700" kern="1200">
          <a:solidFill>
            <a:schemeClr val="tx1"/>
          </a:solidFill>
          <a:latin typeface="+mn-lt"/>
          <a:ea typeface="+mn-ea"/>
          <a:cs typeface="+mn-cs"/>
        </a:defRPr>
      </a:lvl4pPr>
      <a:lvl5pPr marL="1729862" algn="l" defTabSz="864931" rtl="0" eaLnBrk="1" latinLnBrk="0" hangingPunct="1">
        <a:defRPr sz="1700" kern="1200">
          <a:solidFill>
            <a:schemeClr val="tx1"/>
          </a:solidFill>
          <a:latin typeface="+mn-lt"/>
          <a:ea typeface="+mn-ea"/>
          <a:cs typeface="+mn-cs"/>
        </a:defRPr>
      </a:lvl5pPr>
      <a:lvl6pPr marL="2162327" algn="l" defTabSz="864931" rtl="0" eaLnBrk="1" latinLnBrk="0" hangingPunct="1">
        <a:defRPr sz="1700" kern="1200">
          <a:solidFill>
            <a:schemeClr val="tx1"/>
          </a:solidFill>
          <a:latin typeface="+mn-lt"/>
          <a:ea typeface="+mn-ea"/>
          <a:cs typeface="+mn-cs"/>
        </a:defRPr>
      </a:lvl6pPr>
      <a:lvl7pPr marL="2594793" algn="l" defTabSz="864931" rtl="0" eaLnBrk="1" latinLnBrk="0" hangingPunct="1">
        <a:defRPr sz="1700" kern="1200">
          <a:solidFill>
            <a:schemeClr val="tx1"/>
          </a:solidFill>
          <a:latin typeface="+mn-lt"/>
          <a:ea typeface="+mn-ea"/>
          <a:cs typeface="+mn-cs"/>
        </a:defRPr>
      </a:lvl7pPr>
      <a:lvl8pPr marL="3027258" algn="l" defTabSz="864931" rtl="0" eaLnBrk="1" latinLnBrk="0" hangingPunct="1">
        <a:defRPr sz="1700" kern="1200">
          <a:solidFill>
            <a:schemeClr val="tx1"/>
          </a:solidFill>
          <a:latin typeface="+mn-lt"/>
          <a:ea typeface="+mn-ea"/>
          <a:cs typeface="+mn-cs"/>
        </a:defRPr>
      </a:lvl8pPr>
      <a:lvl9pPr marL="3459724" algn="l" defTabSz="864931"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52B01-7D80-4E4F-8124-27906ABC83ED}"/>
              </a:ext>
            </a:extLst>
          </p:cNvPr>
          <p:cNvSpPr>
            <a:spLocks noGrp="1"/>
          </p:cNvSpPr>
          <p:nvPr>
            <p:ph type="ctrTitle"/>
          </p:nvPr>
        </p:nvSpPr>
        <p:spPr>
          <a:xfrm>
            <a:off x="278858" y="1081591"/>
            <a:ext cx="7837726" cy="763976"/>
          </a:xfrm>
        </p:spPr>
        <p:txBody>
          <a:bodyPr/>
          <a:lstStyle/>
          <a:p>
            <a:pPr>
              <a:lnSpc>
                <a:spcPct val="150000"/>
              </a:lnSpc>
            </a:pPr>
            <a:r>
              <a:rPr lang="en-US" sz="3600" i="1" dirty="0"/>
              <a:t>Persuasion Foundation Formula</a:t>
            </a:r>
            <a:r>
              <a:rPr lang="en-US" sz="3600" i="1" baseline="30000" dirty="0"/>
              <a:t>™ </a:t>
            </a:r>
            <a:r>
              <a:rPr lang="en-US" sz="3600" i="1" dirty="0"/>
              <a:t>Course </a:t>
            </a:r>
          </a:p>
        </p:txBody>
      </p:sp>
      <p:sp>
        <p:nvSpPr>
          <p:cNvPr id="3" name="Subtitle 2">
            <a:extLst>
              <a:ext uri="{FF2B5EF4-FFF2-40B4-BE49-F238E27FC236}">
                <a16:creationId xmlns:a16="http://schemas.microsoft.com/office/drawing/2014/main" id="{302E96BB-35E7-457E-BA31-72511C0100AE}"/>
              </a:ext>
            </a:extLst>
          </p:cNvPr>
          <p:cNvSpPr>
            <a:spLocks noGrp="1"/>
          </p:cNvSpPr>
          <p:nvPr>
            <p:ph type="subTitle" idx="1"/>
          </p:nvPr>
        </p:nvSpPr>
        <p:spPr>
          <a:xfrm>
            <a:off x="278858" y="5090683"/>
            <a:ext cx="6933595" cy="522355"/>
          </a:xfrm>
        </p:spPr>
        <p:txBody>
          <a:bodyPr/>
          <a:lstStyle/>
          <a:p>
            <a:r>
              <a:rPr lang="en-US" sz="2000" dirty="0"/>
              <a:t>Audience-Specific Story Template</a:t>
            </a:r>
          </a:p>
          <a:p>
            <a:r>
              <a:rPr lang="en-US" sz="2000" dirty="0"/>
              <a:t>with Explanations and Examples</a:t>
            </a:r>
          </a:p>
        </p:txBody>
      </p:sp>
      <p:sp>
        <p:nvSpPr>
          <p:cNvPr id="8" name="TextBox 7">
            <a:extLst>
              <a:ext uri="{FF2B5EF4-FFF2-40B4-BE49-F238E27FC236}">
                <a16:creationId xmlns:a16="http://schemas.microsoft.com/office/drawing/2014/main" id="{7FEC51AA-2158-2340-86DC-170ED59954FF}"/>
              </a:ext>
            </a:extLst>
          </p:cNvPr>
          <p:cNvSpPr txBox="1"/>
          <p:nvPr/>
        </p:nvSpPr>
        <p:spPr>
          <a:xfrm>
            <a:off x="418223" y="2045829"/>
            <a:ext cx="6036461" cy="400110"/>
          </a:xfrm>
          <a:prstGeom prst="rect">
            <a:avLst/>
          </a:prstGeom>
          <a:noFill/>
        </p:spPr>
        <p:txBody>
          <a:bodyPr wrap="none" rtlCol="0">
            <a:spAutoFit/>
          </a:bodyPr>
          <a:lstStyle/>
          <a:p>
            <a:pPr algn="l"/>
            <a:r>
              <a:rPr lang="en-US" sz="2000" dirty="0">
                <a:latin typeface="Arial Narrow" panose="020B0606020202030204" pitchFamily="34" charset="0"/>
              </a:rPr>
              <a:t>A companion to Performance Works training created for Claris* </a:t>
            </a:r>
          </a:p>
        </p:txBody>
      </p:sp>
      <p:sp>
        <p:nvSpPr>
          <p:cNvPr id="10" name="TextBox 9">
            <a:extLst>
              <a:ext uri="{FF2B5EF4-FFF2-40B4-BE49-F238E27FC236}">
                <a16:creationId xmlns:a16="http://schemas.microsoft.com/office/drawing/2014/main" id="{B27260A5-6DE5-A840-94C1-DA3BF10EB328}"/>
              </a:ext>
            </a:extLst>
          </p:cNvPr>
          <p:cNvSpPr txBox="1"/>
          <p:nvPr/>
        </p:nvSpPr>
        <p:spPr>
          <a:xfrm>
            <a:off x="245975" y="6657943"/>
            <a:ext cx="3972562" cy="200055"/>
          </a:xfrm>
          <a:prstGeom prst="rect">
            <a:avLst/>
          </a:prstGeom>
          <a:noFill/>
        </p:spPr>
        <p:txBody>
          <a:bodyPr wrap="none" rtlCol="0">
            <a:spAutoFit/>
          </a:bodyPr>
          <a:lstStyle/>
          <a:p>
            <a:r>
              <a:rPr lang="en-US" sz="700" dirty="0">
                <a:solidFill>
                  <a:srgbClr val="A96139"/>
                </a:solidFill>
                <a:latin typeface="Calibri" pitchFamily="34" charset="0"/>
                <a:cs typeface="Calibri" pitchFamily="34" charset="0"/>
              </a:rPr>
              <a:t>* Please do not distribute outside of Claris without discussion and agreement with Performance Works.</a:t>
            </a:r>
          </a:p>
        </p:txBody>
      </p:sp>
      <p:pic>
        <p:nvPicPr>
          <p:cNvPr id="11" name="Picture 10">
            <a:extLst>
              <a:ext uri="{FF2B5EF4-FFF2-40B4-BE49-F238E27FC236}">
                <a16:creationId xmlns:a16="http://schemas.microsoft.com/office/drawing/2014/main" id="{459B199F-4EE2-FE48-B067-1435A61FA3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235" y="213526"/>
            <a:ext cx="2084224" cy="265739"/>
          </a:xfrm>
          <a:prstGeom prst="rect">
            <a:avLst/>
          </a:prstGeom>
        </p:spPr>
      </p:pic>
    </p:spTree>
    <p:extLst>
      <p:ext uri="{BB962C8B-B14F-4D97-AF65-F5344CB8AC3E}">
        <p14:creationId xmlns:p14="http://schemas.microsoft.com/office/powerpoint/2010/main" val="437253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13D5F7-17AD-4569-B337-34BD7C79816E}"/>
              </a:ext>
            </a:extLst>
          </p:cNvPr>
          <p:cNvSpPr>
            <a:spLocks noGrp="1"/>
          </p:cNvSpPr>
          <p:nvPr>
            <p:ph type="title"/>
          </p:nvPr>
        </p:nvSpPr>
        <p:spPr>
          <a:xfrm>
            <a:off x="290512" y="887402"/>
            <a:ext cx="8562975" cy="669925"/>
          </a:xfrm>
        </p:spPr>
        <p:txBody>
          <a:bodyPr/>
          <a:lstStyle/>
          <a:p>
            <a:r>
              <a:rPr lang="en-US" sz="2000" dirty="0"/>
              <a:t>Goals for Our Story</a:t>
            </a:r>
          </a:p>
        </p:txBody>
      </p:sp>
      <p:sp>
        <p:nvSpPr>
          <p:cNvPr id="4" name="Slide Number Placeholder 3">
            <a:extLst>
              <a:ext uri="{FF2B5EF4-FFF2-40B4-BE49-F238E27FC236}">
                <a16:creationId xmlns:a16="http://schemas.microsoft.com/office/drawing/2014/main" id="{7366B511-4740-44C2-8DD3-39770F4134E7}"/>
              </a:ext>
            </a:extLst>
          </p:cNvPr>
          <p:cNvSpPr>
            <a:spLocks noGrp="1"/>
          </p:cNvSpPr>
          <p:nvPr>
            <p:ph type="sldNum" sz="quarter" idx="10"/>
          </p:nvPr>
        </p:nvSpPr>
        <p:spPr/>
        <p:txBody>
          <a:bodyPr/>
          <a:lstStyle/>
          <a:p>
            <a:pPr>
              <a:defRPr/>
            </a:pPr>
            <a:fld id="{2C4E6AFA-3FAE-4255-BB1C-23F1C25378E5}" type="slidenum">
              <a:rPr lang="en-US" smtClean="0"/>
              <a:pPr>
                <a:defRPr/>
              </a:pPr>
              <a:t>2</a:t>
            </a:fld>
            <a:endParaRPr lang="en-US"/>
          </a:p>
        </p:txBody>
      </p:sp>
      <p:sp>
        <p:nvSpPr>
          <p:cNvPr id="6" name="Text Placeholder 5">
            <a:extLst>
              <a:ext uri="{FF2B5EF4-FFF2-40B4-BE49-F238E27FC236}">
                <a16:creationId xmlns:a16="http://schemas.microsoft.com/office/drawing/2014/main" id="{93FD5C8B-3F9A-4A90-98DF-5A9704A23951}"/>
              </a:ext>
            </a:extLst>
          </p:cNvPr>
          <p:cNvSpPr>
            <a:spLocks noGrp="1"/>
          </p:cNvSpPr>
          <p:nvPr>
            <p:ph type="body" sz="quarter" idx="11"/>
          </p:nvPr>
        </p:nvSpPr>
        <p:spPr/>
        <p:txBody>
          <a:bodyPr/>
          <a:lstStyle/>
          <a:p>
            <a:r>
              <a:rPr lang="en-US" dirty="0"/>
              <a:t>You have the </a:t>
            </a:r>
            <a:r>
              <a:rPr lang="en-US" i="1" dirty="0"/>
              <a:t>Persuasion Foundation Formula</a:t>
            </a:r>
            <a:r>
              <a:rPr lang="en-US" sz="1050" i="1" dirty="0"/>
              <a:t>™</a:t>
            </a:r>
            <a:r>
              <a:rPr lang="en-US" i="1" dirty="0"/>
              <a:t> course</a:t>
            </a:r>
            <a:r>
              <a:rPr lang="en-US" dirty="0"/>
              <a:t>, so now — together — let’s build YOUR story with this </a:t>
            </a:r>
            <a:r>
              <a:rPr lang="en-US" i="1" dirty="0"/>
              <a:t>workbook</a:t>
            </a:r>
            <a:r>
              <a:rPr lang="en-US" dirty="0"/>
              <a:t>. We’ll use what you create in the </a:t>
            </a:r>
            <a:r>
              <a:rPr lang="en-US" i="1" dirty="0"/>
              <a:t>Persuasion Foundation Formula </a:t>
            </a:r>
            <a:r>
              <a:rPr lang="en-US" dirty="0"/>
              <a:t>to build a persuasive story that screams about </a:t>
            </a:r>
            <a:r>
              <a:rPr lang="en-US" i="1" dirty="0"/>
              <a:t>audience value … </a:t>
            </a:r>
            <a:r>
              <a:rPr lang="en-US" dirty="0"/>
              <a:t>and how you satisfy your audiences </a:t>
            </a:r>
            <a:r>
              <a:rPr lang="en-US" i="1" dirty="0"/>
              <a:t>greatest desires</a:t>
            </a:r>
            <a:r>
              <a:rPr lang="en-US" dirty="0"/>
              <a:t>. Your audience will realize </a:t>
            </a:r>
            <a:r>
              <a:rPr lang="en-US" i="1" dirty="0"/>
              <a:t>doing what you want</a:t>
            </a:r>
            <a:r>
              <a:rPr lang="en-US" dirty="0"/>
              <a:t> really is </a:t>
            </a:r>
            <a:r>
              <a:rPr lang="en-US" i="1" dirty="0"/>
              <a:t>in their best interests.</a:t>
            </a:r>
            <a:r>
              <a:rPr lang="en-US" dirty="0"/>
              <a:t> And we’re all busy, so your story needs to be easy to create, easy to remember, easy to teach to others, and flexible enough for a quick conversation or a deep discussion, right? Let’s go.</a:t>
            </a:r>
          </a:p>
        </p:txBody>
      </p:sp>
      <p:graphicFrame>
        <p:nvGraphicFramePr>
          <p:cNvPr id="7" name="Diagram 6">
            <a:extLst>
              <a:ext uri="{FF2B5EF4-FFF2-40B4-BE49-F238E27FC236}">
                <a16:creationId xmlns:a16="http://schemas.microsoft.com/office/drawing/2014/main" id="{99A59CE4-FDF2-4619-A459-DD66DA4356B9}"/>
              </a:ext>
            </a:extLst>
          </p:cNvPr>
          <p:cNvGraphicFramePr/>
          <p:nvPr>
            <p:extLst>
              <p:ext uri="{D42A27DB-BD31-4B8C-83A1-F6EECF244321}">
                <p14:modId xmlns:p14="http://schemas.microsoft.com/office/powerpoint/2010/main" val="1593542010"/>
              </p:ext>
            </p:extLst>
          </p:nvPr>
        </p:nvGraphicFramePr>
        <p:xfrm>
          <a:off x="390624" y="1397000"/>
          <a:ext cx="8562975" cy="50201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4075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t>Message for [Your Selected Target Audience]</a:t>
            </a:r>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562975" cy="823365"/>
          </a:xfrm>
        </p:spPr>
        <p:txBody>
          <a:bodyPr/>
          <a:lstStyle/>
          <a:p>
            <a:r>
              <a:rPr lang="en-US" dirty="0"/>
              <a:t>Our goal is YOUR story at three levels: 15 seconds, 1 minute, and 5 minute. Depending on the situation, all three </a:t>
            </a:r>
            <a:r>
              <a:rPr lang="en-US" i="1" dirty="0"/>
              <a:t>help your idea win. </a:t>
            </a:r>
            <a:r>
              <a:rPr lang="en-US" dirty="0"/>
              <a:t>People often call the 15-second version your “Elevator Pitch” — it hits your audience’s top desire and it </a:t>
            </a:r>
            <a:r>
              <a:rPr lang="en-US" i="1" dirty="0"/>
              <a:t>all about value</a:t>
            </a:r>
            <a:r>
              <a:rPr lang="en-US" dirty="0"/>
              <a:t>. Add the second set of sentences and you get the 1-minute version I call your “Support Pitch” — it’s also focused on </a:t>
            </a:r>
            <a:r>
              <a:rPr lang="en-US" i="1" dirty="0"/>
              <a:t>value</a:t>
            </a:r>
            <a:r>
              <a:rPr lang="en-US" dirty="0"/>
              <a:t>. When you get someone really curious, they’ll need products </a:t>
            </a:r>
            <a:r>
              <a:rPr lang="en-US" i="1" dirty="0"/>
              <a:t>details</a:t>
            </a:r>
            <a:r>
              <a:rPr lang="en-US" dirty="0"/>
              <a:t>, resulting in the 5-minute version I call your “Detail Pitch.” The format makes sure we don’t jump into details </a:t>
            </a:r>
            <a:r>
              <a:rPr lang="en-US" i="1" dirty="0"/>
              <a:t>before</a:t>
            </a:r>
            <a:r>
              <a:rPr lang="en-US" dirty="0"/>
              <a:t> people see value — because if we make that mistake, </a:t>
            </a:r>
            <a:r>
              <a:rPr lang="en-US" i="1" dirty="0"/>
              <a:t>people will stop listening. </a:t>
            </a:r>
            <a:r>
              <a:rPr lang="en-US" dirty="0"/>
              <a:t>We’ll walk through everything step by step in this workbook.</a:t>
            </a:r>
          </a:p>
        </p:txBody>
      </p:sp>
      <p:sp>
        <p:nvSpPr>
          <p:cNvPr id="19" name="Rectangle 18"/>
          <p:cNvSpPr/>
          <p:nvPr/>
        </p:nvSpPr>
        <p:spPr>
          <a:xfrm>
            <a:off x="1095805" y="1689062"/>
            <a:ext cx="7877329" cy="772847"/>
          </a:xfrm>
          <a:prstGeom prst="rect">
            <a:avLst/>
          </a:prstGeom>
        </p:spPr>
        <p:txBody>
          <a:bodyPr wrap="square" lIns="86493" tIns="43247" rIns="86493" bIns="43247">
            <a:spAutoFit/>
          </a:bodyPr>
          <a:lstStyle/>
          <a:p>
            <a:pPr algn="l">
              <a:lnSpc>
                <a:spcPts val="2838"/>
              </a:lnSpc>
              <a:spcAft>
                <a:spcPct val="20000"/>
              </a:spcAft>
              <a:defRPr/>
            </a:pPr>
            <a:r>
              <a:rPr lang="en-US" sz="2000" b="1" i="1" dirty="0">
                <a:latin typeface="Arial Narrow" panose="020B0606020202030204" pitchFamily="34" charset="0"/>
                <a:cs typeface="Calibri"/>
              </a:rPr>
              <a:t>Value sentence for your audience’s #1 desire: “You get [your desire] because of [our capability].” </a:t>
            </a:r>
            <a:endParaRPr lang="en-US" sz="2000" dirty="0">
              <a:latin typeface="Arial Narrow" panose="020B0606020202030204" pitchFamily="34" charset="0"/>
              <a:cs typeface="Calibri"/>
            </a:endParaRPr>
          </a:p>
        </p:txBody>
      </p:sp>
      <p:grpSp>
        <p:nvGrpSpPr>
          <p:cNvPr id="2" name="Group 1">
            <a:extLst>
              <a:ext uri="{FF2B5EF4-FFF2-40B4-BE49-F238E27FC236}">
                <a16:creationId xmlns:a16="http://schemas.microsoft.com/office/drawing/2014/main" id="{D5540D67-3A50-4F03-A4D1-2FE7CEA68406}"/>
              </a:ext>
            </a:extLst>
          </p:cNvPr>
          <p:cNvGrpSpPr/>
          <p:nvPr/>
        </p:nvGrpSpPr>
        <p:grpSpPr>
          <a:xfrm>
            <a:off x="738964" y="2569597"/>
            <a:ext cx="8114524" cy="3253225"/>
            <a:chOff x="270636" y="2156167"/>
            <a:chExt cx="6799636" cy="4120335"/>
          </a:xfrm>
        </p:grpSpPr>
        <p:grpSp>
          <p:nvGrpSpPr>
            <p:cNvPr id="25" name="Group 24"/>
            <p:cNvGrpSpPr/>
            <p:nvPr/>
          </p:nvGrpSpPr>
          <p:grpSpPr>
            <a:xfrm>
              <a:off x="2063158" y="2256653"/>
              <a:ext cx="3344380" cy="4000750"/>
              <a:chOff x="2166316" y="1678825"/>
              <a:chExt cx="3511598" cy="4741781"/>
            </a:xfrm>
          </p:grpSpPr>
          <p:cxnSp>
            <p:nvCxnSpPr>
              <p:cNvPr id="14" name="Straight Connector 13"/>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15" name="Straight Connector 14"/>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16" name="Straight Connector 15"/>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20" name="TextBox 19"/>
            <p:cNvSpPr txBox="1"/>
            <p:nvPr/>
          </p:nvSpPr>
          <p:spPr>
            <a:xfrm>
              <a:off x="459157"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#2 proving the value sentence above</a:t>
              </a:r>
            </a:p>
          </p:txBody>
        </p:sp>
        <p:sp>
          <p:nvSpPr>
            <p:cNvPr id="26" name="TextBox 25"/>
            <p:cNvSpPr txBox="1"/>
            <p:nvPr/>
          </p:nvSpPr>
          <p:spPr>
            <a:xfrm>
              <a:off x="270636" y="2156168"/>
              <a:ext cx="1783137" cy="363994"/>
            </a:xfrm>
            <a:prstGeom prst="rect">
              <a:avLst/>
            </a:prstGeom>
            <a:noFill/>
          </p:spPr>
          <p:txBody>
            <a:bodyPr wrap="square" lIns="86493" tIns="43247" rIns="86493" bIns="43247" rtlCol="0">
              <a:spAutoFit/>
            </a:bodyPr>
            <a:lstStyle/>
            <a:p>
              <a:pPr lvl="0"/>
              <a:r>
                <a:rPr lang="en-US" sz="1300" b="1" kern="0" dirty="0">
                  <a:solidFill>
                    <a:srgbClr val="000000"/>
                  </a:solidFill>
                  <a:latin typeface="Arial Narrow" panose="020B0606020202030204" pitchFamily="34" charset="0"/>
                </a:rPr>
                <a:t>Value sentence #2</a:t>
              </a:r>
            </a:p>
          </p:txBody>
        </p:sp>
        <p:sp>
          <p:nvSpPr>
            <p:cNvPr id="27" name="TextBox 26"/>
            <p:cNvSpPr txBox="1"/>
            <p:nvPr/>
          </p:nvSpPr>
          <p:spPr>
            <a:xfrm>
              <a:off x="2071309" y="2156168"/>
              <a:ext cx="1685096" cy="363994"/>
            </a:xfrm>
            <a:prstGeom prst="rect">
              <a:avLst/>
            </a:prstGeom>
            <a:noFill/>
          </p:spPr>
          <p:txBody>
            <a:bodyPr wrap="square" lIns="86493" tIns="43247" rIns="86493" bIns="43247" rtlCol="0">
              <a:spAutoFit/>
            </a:bodyPr>
            <a:lstStyle/>
            <a:p>
              <a:pPr lvl="0"/>
              <a:r>
                <a:rPr lang="en-US" sz="1300" b="1" kern="0" dirty="0">
                  <a:solidFill>
                    <a:srgbClr val="000000"/>
                  </a:solidFill>
                  <a:latin typeface="Arial Narrow" panose="020B0606020202030204" pitchFamily="34" charset="0"/>
                </a:rPr>
                <a:t>Value sentence #3</a:t>
              </a:r>
            </a:p>
          </p:txBody>
        </p:sp>
        <p:sp>
          <p:nvSpPr>
            <p:cNvPr id="28" name="TextBox 27"/>
            <p:cNvSpPr txBox="1"/>
            <p:nvPr/>
          </p:nvSpPr>
          <p:spPr>
            <a:xfrm>
              <a:off x="3743476" y="2156167"/>
              <a:ext cx="1654629" cy="363994"/>
            </a:xfrm>
            <a:prstGeom prst="rect">
              <a:avLst/>
            </a:prstGeom>
            <a:noFill/>
          </p:spPr>
          <p:txBody>
            <a:bodyPr wrap="square" lIns="86493" tIns="43247" rIns="86493" bIns="43247" rtlCol="0">
              <a:spAutoFit/>
            </a:bodyPr>
            <a:lstStyle/>
            <a:p>
              <a:pPr lvl="0"/>
              <a:r>
                <a:rPr lang="en-US" sz="1300" b="1" kern="0" dirty="0">
                  <a:solidFill>
                    <a:srgbClr val="000000"/>
                  </a:solidFill>
                  <a:latin typeface="Arial Narrow" panose="020B0606020202030204" pitchFamily="34" charset="0"/>
                </a:rPr>
                <a:t>Value sentence #4</a:t>
              </a:r>
            </a:p>
          </p:txBody>
        </p:sp>
        <p:sp>
          <p:nvSpPr>
            <p:cNvPr id="29" name="TextBox 28"/>
            <p:cNvSpPr txBox="1"/>
            <p:nvPr/>
          </p:nvSpPr>
          <p:spPr>
            <a:xfrm>
              <a:off x="5415643" y="2156168"/>
              <a:ext cx="1654629" cy="363994"/>
            </a:xfrm>
            <a:prstGeom prst="rect">
              <a:avLst/>
            </a:prstGeom>
            <a:noFill/>
          </p:spPr>
          <p:txBody>
            <a:bodyPr wrap="square" lIns="86493" tIns="43247" rIns="86493" bIns="43247" rtlCol="0">
              <a:spAutoFit/>
            </a:bodyPr>
            <a:lstStyle/>
            <a:p>
              <a:pPr lvl="0"/>
              <a:r>
                <a:rPr lang="en-US" sz="1300" b="1" kern="0" dirty="0">
                  <a:solidFill>
                    <a:srgbClr val="000000"/>
                  </a:solidFill>
                  <a:latin typeface="Arial Narrow" panose="020B0606020202030204" pitchFamily="34" charset="0"/>
                </a:rPr>
                <a:t>Value sentence #5</a:t>
              </a:r>
            </a:p>
          </p:txBody>
        </p:sp>
        <p:sp>
          <p:nvSpPr>
            <p:cNvPr id="30" name="TextBox 29">
              <a:extLst>
                <a:ext uri="{FF2B5EF4-FFF2-40B4-BE49-F238E27FC236}">
                  <a16:creationId xmlns:a16="http://schemas.microsoft.com/office/drawing/2014/main" id="{E311AD33-5142-4249-BC59-C4C9743F6BCE}"/>
                </a:ext>
              </a:extLst>
            </p:cNvPr>
            <p:cNvSpPr txBox="1"/>
            <p:nvPr/>
          </p:nvSpPr>
          <p:spPr>
            <a:xfrm>
              <a:off x="2112474"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#2 proving the value sentence above</a:t>
              </a:r>
            </a:p>
          </p:txBody>
        </p:sp>
        <p:sp>
          <p:nvSpPr>
            <p:cNvPr id="32" name="TextBox 31">
              <a:extLst>
                <a:ext uri="{FF2B5EF4-FFF2-40B4-BE49-F238E27FC236}">
                  <a16:creationId xmlns:a16="http://schemas.microsoft.com/office/drawing/2014/main" id="{18B8C9BE-B203-4AC1-92EC-B904B99A0EE8}"/>
                </a:ext>
              </a:extLst>
            </p:cNvPr>
            <p:cNvSpPr txBox="1"/>
            <p:nvPr/>
          </p:nvSpPr>
          <p:spPr>
            <a:xfrm>
              <a:off x="3734592"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#2 proving the value sentence above</a:t>
              </a:r>
            </a:p>
          </p:txBody>
        </p:sp>
        <p:sp>
          <p:nvSpPr>
            <p:cNvPr id="33" name="TextBox 32">
              <a:extLst>
                <a:ext uri="{FF2B5EF4-FFF2-40B4-BE49-F238E27FC236}">
                  <a16:creationId xmlns:a16="http://schemas.microsoft.com/office/drawing/2014/main" id="{77C9C984-0CB2-47B9-B296-D9DCF7042C45}"/>
                </a:ext>
              </a:extLst>
            </p:cNvPr>
            <p:cNvSpPr txBox="1"/>
            <p:nvPr/>
          </p:nvSpPr>
          <p:spPr>
            <a:xfrm>
              <a:off x="5381724"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Product detail #2 proving the value sentence above</a:t>
              </a:r>
            </a:p>
          </p:txBody>
        </p:sp>
      </p:grpSp>
      <p:grpSp>
        <p:nvGrpSpPr>
          <p:cNvPr id="7" name="Group 6">
            <a:extLst>
              <a:ext uri="{FF2B5EF4-FFF2-40B4-BE49-F238E27FC236}">
                <a16:creationId xmlns:a16="http://schemas.microsoft.com/office/drawing/2014/main" id="{282FD5AE-5AE1-43E2-8F10-66E89A791FA8}"/>
              </a:ext>
            </a:extLst>
          </p:cNvPr>
          <p:cNvGrpSpPr/>
          <p:nvPr/>
        </p:nvGrpSpPr>
        <p:grpSpPr>
          <a:xfrm>
            <a:off x="29156" y="1622106"/>
            <a:ext cx="951812" cy="580144"/>
            <a:chOff x="29156" y="1652184"/>
            <a:chExt cx="951812" cy="884419"/>
          </a:xfrm>
        </p:grpSpPr>
        <p:sp>
          <p:nvSpPr>
            <p:cNvPr id="44" name="Arrow: Pentagon 43">
              <a:extLst>
                <a:ext uri="{FF2B5EF4-FFF2-40B4-BE49-F238E27FC236}">
                  <a16:creationId xmlns:a16="http://schemas.microsoft.com/office/drawing/2014/main" id="{C5E5983E-811E-40CE-929F-1A4B93156A42}"/>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36" name="Rectangle 35">
              <a:extLst>
                <a:ext uri="{FF2B5EF4-FFF2-40B4-BE49-F238E27FC236}">
                  <a16:creationId xmlns:a16="http://schemas.microsoft.com/office/drawing/2014/main" id="{8B69E83D-3862-4143-B7EF-B2380A85E3C8}"/>
                </a:ext>
              </a:extLst>
            </p:cNvPr>
            <p:cNvSpPr/>
            <p:nvPr/>
          </p:nvSpPr>
          <p:spPr>
            <a:xfrm>
              <a:off x="29156" y="1652184"/>
              <a:ext cx="902811"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Top </a:t>
              </a:r>
              <a:r>
                <a:rPr lang="en-US" sz="1000" i="1" dirty="0">
                  <a:solidFill>
                    <a:srgbClr val="2E5BB6"/>
                  </a:solidFill>
                  <a:latin typeface="Arial Narrow" panose="020B0606020202030204" pitchFamily="34" charset="0"/>
                  <a:cs typeface="Calibri" pitchFamily="34" charset="0"/>
                </a:rPr>
                <a:t>value:</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15 sec.</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“Elevator Pitch”</a:t>
              </a:r>
              <a:endParaRPr lang="en-US" sz="1400" dirty="0">
                <a:latin typeface="Arial Narrow" panose="020B0606020202030204" pitchFamily="34" charset="0"/>
              </a:endParaRPr>
            </a:p>
          </p:txBody>
        </p:sp>
      </p:grpSp>
      <p:grpSp>
        <p:nvGrpSpPr>
          <p:cNvPr id="46" name="Group 45">
            <a:extLst>
              <a:ext uri="{FF2B5EF4-FFF2-40B4-BE49-F238E27FC236}">
                <a16:creationId xmlns:a16="http://schemas.microsoft.com/office/drawing/2014/main" id="{D62A31FD-2702-4742-A85D-4AFDBB3E8736}"/>
              </a:ext>
            </a:extLst>
          </p:cNvPr>
          <p:cNvGrpSpPr/>
          <p:nvPr/>
        </p:nvGrpSpPr>
        <p:grpSpPr>
          <a:xfrm>
            <a:off x="38773" y="2436541"/>
            <a:ext cx="942195" cy="580144"/>
            <a:chOff x="38773" y="1652184"/>
            <a:chExt cx="942195" cy="884419"/>
          </a:xfrm>
        </p:grpSpPr>
        <p:sp>
          <p:nvSpPr>
            <p:cNvPr id="47" name="Arrow: Pentagon 46">
              <a:extLst>
                <a:ext uri="{FF2B5EF4-FFF2-40B4-BE49-F238E27FC236}">
                  <a16:creationId xmlns:a16="http://schemas.microsoft.com/office/drawing/2014/main" id="{EE875419-8807-4C17-A165-EB26E8DA38CE}"/>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48" name="Rectangle 47">
              <a:extLst>
                <a:ext uri="{FF2B5EF4-FFF2-40B4-BE49-F238E27FC236}">
                  <a16:creationId xmlns:a16="http://schemas.microsoft.com/office/drawing/2014/main" id="{D8DA0B00-C7E5-46FB-86E5-0D616A699880}"/>
                </a:ext>
              </a:extLst>
            </p:cNvPr>
            <p:cNvSpPr/>
            <p:nvPr/>
          </p:nvSpPr>
          <p:spPr>
            <a:xfrm>
              <a:off x="38773" y="1652184"/>
              <a:ext cx="883575"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2</a:t>
              </a:r>
              <a:r>
                <a:rPr lang="en-US" sz="1000" baseline="30000" dirty="0">
                  <a:solidFill>
                    <a:srgbClr val="2E5BB6"/>
                  </a:solidFill>
                  <a:latin typeface="Arial Narrow" panose="020B0606020202030204" pitchFamily="34" charset="0"/>
                  <a:cs typeface="Calibri" pitchFamily="34" charset="0"/>
                </a:rPr>
                <a:t>nd</a:t>
              </a:r>
              <a:r>
                <a:rPr lang="en-US" sz="1000" dirty="0">
                  <a:solidFill>
                    <a:srgbClr val="2E5BB6"/>
                  </a:solidFill>
                  <a:latin typeface="Arial Narrow" panose="020B0606020202030204" pitchFamily="34" charset="0"/>
                  <a:cs typeface="Calibri" pitchFamily="34" charset="0"/>
                </a:rPr>
                <a:t> level </a:t>
              </a:r>
              <a:r>
                <a:rPr lang="en-US" sz="1000" i="1" dirty="0">
                  <a:solidFill>
                    <a:srgbClr val="2E5BB6"/>
                  </a:solidFill>
                  <a:latin typeface="Arial Narrow" panose="020B0606020202030204" pitchFamily="34" charset="0"/>
                  <a:cs typeface="Calibri" pitchFamily="34" charset="0"/>
                </a:rPr>
                <a:t>value:</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1 min.</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“Support Pitch”</a:t>
              </a:r>
              <a:endParaRPr lang="en-US" sz="1400" dirty="0">
                <a:latin typeface="Arial Narrow" panose="020B0606020202030204" pitchFamily="34" charset="0"/>
              </a:endParaRPr>
            </a:p>
          </p:txBody>
        </p:sp>
      </p:grpSp>
      <p:grpSp>
        <p:nvGrpSpPr>
          <p:cNvPr id="49" name="Group 48">
            <a:extLst>
              <a:ext uri="{FF2B5EF4-FFF2-40B4-BE49-F238E27FC236}">
                <a16:creationId xmlns:a16="http://schemas.microsoft.com/office/drawing/2014/main" id="{27B29D5A-38DD-4AC0-87EE-FB20109FC91F}"/>
              </a:ext>
            </a:extLst>
          </p:cNvPr>
          <p:cNvGrpSpPr/>
          <p:nvPr/>
        </p:nvGrpSpPr>
        <p:grpSpPr>
          <a:xfrm>
            <a:off x="27552" y="3676097"/>
            <a:ext cx="953416" cy="580144"/>
            <a:chOff x="27552" y="1652184"/>
            <a:chExt cx="953416" cy="884419"/>
          </a:xfrm>
        </p:grpSpPr>
        <p:sp>
          <p:nvSpPr>
            <p:cNvPr id="50" name="Arrow: Pentagon 49">
              <a:extLst>
                <a:ext uri="{FF2B5EF4-FFF2-40B4-BE49-F238E27FC236}">
                  <a16:creationId xmlns:a16="http://schemas.microsoft.com/office/drawing/2014/main" id="{2B5CB36E-C065-46D7-B557-F018EE82ECCC}"/>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51" name="Rectangle 50">
              <a:extLst>
                <a:ext uri="{FF2B5EF4-FFF2-40B4-BE49-F238E27FC236}">
                  <a16:creationId xmlns:a16="http://schemas.microsoft.com/office/drawing/2014/main" id="{6357AF5F-E764-45DB-B3EE-E4D355F229F8}"/>
                </a:ext>
              </a:extLst>
            </p:cNvPr>
            <p:cNvSpPr/>
            <p:nvPr/>
          </p:nvSpPr>
          <p:spPr>
            <a:xfrm>
              <a:off x="27552" y="1652184"/>
              <a:ext cx="906017"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Product </a:t>
              </a:r>
              <a:r>
                <a:rPr lang="en-US" sz="1000" i="1" dirty="0">
                  <a:solidFill>
                    <a:srgbClr val="2E5BB6"/>
                  </a:solidFill>
                  <a:latin typeface="Arial Narrow" panose="020B0606020202030204" pitchFamily="34" charset="0"/>
                  <a:cs typeface="Calibri" pitchFamily="34" charset="0"/>
                </a:rPr>
                <a:t>details:</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5 min.</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“Detail Pitch”</a:t>
              </a:r>
              <a:endParaRPr lang="en-US" sz="1400" dirty="0">
                <a:latin typeface="Arial Narrow" panose="020B0606020202030204" pitchFamily="34" charset="0"/>
              </a:endParaRPr>
            </a:p>
          </p:txBody>
        </p:sp>
      </p:grpSp>
    </p:spTree>
    <p:extLst>
      <p:ext uri="{BB962C8B-B14F-4D97-AF65-F5344CB8AC3E}">
        <p14:creationId xmlns:p14="http://schemas.microsoft.com/office/powerpoint/2010/main" val="125169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t>Message for [Your Selected Target Audience]</a:t>
            </a:r>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Let’s start with your audience and 15-second elevator pitch. There’s nothing magic about 15 seconds. But if your sentence takes less than 5 seconds to say, you may not be clear about value. And if more than 30 seconds, you lose hard-hitting simplicity! In the </a:t>
            </a:r>
            <a:r>
              <a:rPr lang="en-US" i="1" dirty="0"/>
              <a:t>Persuasion Foundation Formula</a:t>
            </a:r>
            <a:r>
              <a:rPr lang="en-US" dirty="0"/>
              <a:t>, you drew a line to connect your audience’s most important desires to what you offer. And you converted each line into a </a:t>
            </a:r>
            <a:r>
              <a:rPr lang="en-US" i="1" dirty="0"/>
              <a:t>value sentence </a:t>
            </a:r>
            <a:r>
              <a:rPr lang="en-US" dirty="0"/>
              <a:t>for your first-draft story. Then in the course’s Tip #1, you learned a starting point for your sentence: </a:t>
            </a:r>
            <a:r>
              <a:rPr lang="en-US" i="1" dirty="0"/>
              <a:t>“You get [your audience desire] because of [our capability],” </a:t>
            </a:r>
            <a:r>
              <a:rPr lang="en-US" dirty="0"/>
              <a:t>where words in brackets change to fit your audience and offering. And in Tip #4, I suggested you use </a:t>
            </a:r>
            <a:r>
              <a:rPr lang="en-US" i="1" dirty="0"/>
              <a:t>your audience’s own words for their desire </a:t>
            </a:r>
            <a:r>
              <a:rPr lang="en-US" dirty="0"/>
              <a:t>in your value sentence. Let’s see how that works for our favorite mythical company: Simple Sprouts. </a:t>
            </a:r>
          </a:p>
        </p:txBody>
      </p:sp>
      <p:grpSp>
        <p:nvGrpSpPr>
          <p:cNvPr id="57" name="Group 56">
            <a:extLst>
              <a:ext uri="{FF2B5EF4-FFF2-40B4-BE49-F238E27FC236}">
                <a16:creationId xmlns:a16="http://schemas.microsoft.com/office/drawing/2014/main" id="{A846B0DB-1B74-4FD3-8C5D-1E5869F43463}"/>
              </a:ext>
            </a:extLst>
          </p:cNvPr>
          <p:cNvGrpSpPr/>
          <p:nvPr/>
        </p:nvGrpSpPr>
        <p:grpSpPr>
          <a:xfrm>
            <a:off x="738964" y="2569597"/>
            <a:ext cx="8114524" cy="3238145"/>
            <a:chOff x="270636" y="2156167"/>
            <a:chExt cx="6799636" cy="4101236"/>
          </a:xfrm>
        </p:grpSpPr>
        <p:grpSp>
          <p:nvGrpSpPr>
            <p:cNvPr id="58" name="Group 57">
              <a:extLst>
                <a:ext uri="{FF2B5EF4-FFF2-40B4-BE49-F238E27FC236}">
                  <a16:creationId xmlns:a16="http://schemas.microsoft.com/office/drawing/2014/main" id="{C38DA8E4-7977-4125-878F-8D1F0C49C03A}"/>
                </a:ext>
              </a:extLst>
            </p:cNvPr>
            <p:cNvGrpSpPr/>
            <p:nvPr/>
          </p:nvGrpSpPr>
          <p:grpSpPr>
            <a:xfrm>
              <a:off x="2063158" y="2256653"/>
              <a:ext cx="3344380" cy="4000750"/>
              <a:chOff x="2166316" y="1678825"/>
              <a:chExt cx="3511598" cy="4741781"/>
            </a:xfrm>
          </p:grpSpPr>
          <p:cxnSp>
            <p:nvCxnSpPr>
              <p:cNvPr id="67" name="Straight Connector 66">
                <a:extLst>
                  <a:ext uri="{FF2B5EF4-FFF2-40B4-BE49-F238E27FC236}">
                    <a16:creationId xmlns:a16="http://schemas.microsoft.com/office/drawing/2014/main" id="{2737D6F1-F177-4B1F-A1EF-27EB691A363E}"/>
                  </a:ext>
                </a:extLst>
              </p:cNvPr>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68" name="Straight Connector 67">
                <a:extLst>
                  <a:ext uri="{FF2B5EF4-FFF2-40B4-BE49-F238E27FC236}">
                    <a16:creationId xmlns:a16="http://schemas.microsoft.com/office/drawing/2014/main" id="{EC77BA87-73D0-45DB-9D70-E79E55B70697}"/>
                  </a:ext>
                </a:extLst>
              </p:cNvPr>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73F5BFBE-B4BC-4A29-9EAC-168A4144C422}"/>
                  </a:ext>
                </a:extLst>
              </p:cNvPr>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59" name="TextBox 58">
              <a:extLst>
                <a:ext uri="{FF2B5EF4-FFF2-40B4-BE49-F238E27FC236}">
                  <a16:creationId xmlns:a16="http://schemas.microsoft.com/office/drawing/2014/main" id="{15B70860-03ED-4CF8-A068-891ED8606B71}"/>
                </a:ext>
              </a:extLst>
            </p:cNvPr>
            <p:cNvSpPr txBox="1"/>
            <p:nvPr/>
          </p:nvSpPr>
          <p:spPr>
            <a:xfrm>
              <a:off x="459157"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60" name="TextBox 59">
              <a:extLst>
                <a:ext uri="{FF2B5EF4-FFF2-40B4-BE49-F238E27FC236}">
                  <a16:creationId xmlns:a16="http://schemas.microsoft.com/office/drawing/2014/main" id="{640B88DD-8FB5-4AF3-8157-065185CBC831}"/>
                </a:ext>
              </a:extLst>
            </p:cNvPr>
            <p:cNvSpPr txBox="1"/>
            <p:nvPr/>
          </p:nvSpPr>
          <p:spPr>
            <a:xfrm>
              <a:off x="270636" y="2156168"/>
              <a:ext cx="1783137"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#2</a:t>
              </a:r>
            </a:p>
          </p:txBody>
        </p:sp>
        <p:sp>
          <p:nvSpPr>
            <p:cNvPr id="61" name="TextBox 60">
              <a:extLst>
                <a:ext uri="{FF2B5EF4-FFF2-40B4-BE49-F238E27FC236}">
                  <a16:creationId xmlns:a16="http://schemas.microsoft.com/office/drawing/2014/main" id="{35D2D49A-3D44-4FA7-AB4D-F34969DF2CC0}"/>
                </a:ext>
              </a:extLst>
            </p:cNvPr>
            <p:cNvSpPr txBox="1"/>
            <p:nvPr/>
          </p:nvSpPr>
          <p:spPr>
            <a:xfrm>
              <a:off x="2071309" y="2156168"/>
              <a:ext cx="1685096"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#3</a:t>
              </a:r>
            </a:p>
          </p:txBody>
        </p:sp>
        <p:sp>
          <p:nvSpPr>
            <p:cNvPr id="62" name="TextBox 61">
              <a:extLst>
                <a:ext uri="{FF2B5EF4-FFF2-40B4-BE49-F238E27FC236}">
                  <a16:creationId xmlns:a16="http://schemas.microsoft.com/office/drawing/2014/main" id="{B4D7E296-A97C-48D1-A36A-2E908A335055}"/>
                </a:ext>
              </a:extLst>
            </p:cNvPr>
            <p:cNvSpPr txBox="1"/>
            <p:nvPr/>
          </p:nvSpPr>
          <p:spPr>
            <a:xfrm>
              <a:off x="3743476" y="2156167"/>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#4</a:t>
              </a:r>
            </a:p>
          </p:txBody>
        </p:sp>
        <p:sp>
          <p:nvSpPr>
            <p:cNvPr id="63" name="TextBox 62">
              <a:extLst>
                <a:ext uri="{FF2B5EF4-FFF2-40B4-BE49-F238E27FC236}">
                  <a16:creationId xmlns:a16="http://schemas.microsoft.com/office/drawing/2014/main" id="{4C2FA32E-40CA-4BB7-8163-FBBA45ACB06B}"/>
                </a:ext>
              </a:extLst>
            </p:cNvPr>
            <p:cNvSpPr txBox="1"/>
            <p:nvPr/>
          </p:nvSpPr>
          <p:spPr>
            <a:xfrm>
              <a:off x="5415643" y="2156168"/>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#5</a:t>
              </a:r>
            </a:p>
          </p:txBody>
        </p:sp>
        <p:sp>
          <p:nvSpPr>
            <p:cNvPr id="64" name="TextBox 63">
              <a:extLst>
                <a:ext uri="{FF2B5EF4-FFF2-40B4-BE49-F238E27FC236}">
                  <a16:creationId xmlns:a16="http://schemas.microsoft.com/office/drawing/2014/main" id="{2482F086-B0BF-4C75-8B7B-2617EB07588E}"/>
                </a:ext>
              </a:extLst>
            </p:cNvPr>
            <p:cNvSpPr txBox="1"/>
            <p:nvPr/>
          </p:nvSpPr>
          <p:spPr>
            <a:xfrm>
              <a:off x="211247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65" name="TextBox 64">
              <a:extLst>
                <a:ext uri="{FF2B5EF4-FFF2-40B4-BE49-F238E27FC236}">
                  <a16:creationId xmlns:a16="http://schemas.microsoft.com/office/drawing/2014/main" id="{F3A9FB37-2840-4275-9CFE-0BA5E368B61F}"/>
                </a:ext>
              </a:extLst>
            </p:cNvPr>
            <p:cNvSpPr txBox="1"/>
            <p:nvPr/>
          </p:nvSpPr>
          <p:spPr>
            <a:xfrm>
              <a:off x="3734592"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66" name="TextBox 65">
              <a:extLst>
                <a:ext uri="{FF2B5EF4-FFF2-40B4-BE49-F238E27FC236}">
                  <a16:creationId xmlns:a16="http://schemas.microsoft.com/office/drawing/2014/main" id="{BE8E88E5-3A77-483E-8B7D-E46CE20F9E39}"/>
                </a:ext>
              </a:extLst>
            </p:cNvPr>
            <p:cNvSpPr txBox="1"/>
            <p:nvPr/>
          </p:nvSpPr>
          <p:spPr>
            <a:xfrm>
              <a:off x="538172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grpSp>
      <p:sp>
        <p:nvSpPr>
          <p:cNvPr id="70" name="Rectangle 69">
            <a:extLst>
              <a:ext uri="{FF2B5EF4-FFF2-40B4-BE49-F238E27FC236}">
                <a16:creationId xmlns:a16="http://schemas.microsoft.com/office/drawing/2014/main" id="{FA6BB33D-C31C-440B-99FA-444993402607}"/>
              </a:ext>
            </a:extLst>
          </p:cNvPr>
          <p:cNvSpPr/>
          <p:nvPr/>
        </p:nvSpPr>
        <p:spPr>
          <a:xfrm>
            <a:off x="1096957" y="1689062"/>
            <a:ext cx="7876177" cy="772847"/>
          </a:xfrm>
          <a:prstGeom prst="rect">
            <a:avLst/>
          </a:prstGeom>
        </p:spPr>
        <p:txBody>
          <a:bodyPr wrap="square" lIns="86493" tIns="43247" rIns="86493" bIns="43247">
            <a:spAutoFit/>
          </a:bodyPr>
          <a:lstStyle/>
          <a:p>
            <a:pPr algn="l">
              <a:lnSpc>
                <a:spcPts val="2838"/>
              </a:lnSpc>
              <a:spcAft>
                <a:spcPct val="20000"/>
              </a:spcAft>
              <a:defRPr/>
            </a:pPr>
            <a:r>
              <a:rPr lang="en-US" sz="2000" b="1" i="1" dirty="0">
                <a:latin typeface="Arial Narrow" panose="020B0606020202030204" pitchFamily="34" charset="0"/>
                <a:cs typeface="Calibri"/>
              </a:rPr>
              <a:t>Value sentence for your audience’s #1 desire: “You get [your desire] because of [our capability].” </a:t>
            </a:r>
            <a:endParaRPr lang="en-US" sz="2000" dirty="0">
              <a:latin typeface="Arial Narrow" panose="020B0606020202030204" pitchFamily="34" charset="0"/>
              <a:cs typeface="Calibri"/>
            </a:endParaRPr>
          </a:p>
        </p:txBody>
      </p:sp>
      <p:grpSp>
        <p:nvGrpSpPr>
          <p:cNvPr id="71" name="Group 70">
            <a:extLst>
              <a:ext uri="{FF2B5EF4-FFF2-40B4-BE49-F238E27FC236}">
                <a16:creationId xmlns:a16="http://schemas.microsoft.com/office/drawing/2014/main" id="{7EF763F6-86C8-4B94-A8CE-144D065E0031}"/>
              </a:ext>
            </a:extLst>
          </p:cNvPr>
          <p:cNvGrpSpPr/>
          <p:nvPr/>
        </p:nvGrpSpPr>
        <p:grpSpPr>
          <a:xfrm>
            <a:off x="29156" y="1622106"/>
            <a:ext cx="951812" cy="580144"/>
            <a:chOff x="29156" y="1652184"/>
            <a:chExt cx="951812" cy="884419"/>
          </a:xfrm>
        </p:grpSpPr>
        <p:sp>
          <p:nvSpPr>
            <p:cNvPr id="72" name="Arrow: Pentagon 71">
              <a:extLst>
                <a:ext uri="{FF2B5EF4-FFF2-40B4-BE49-F238E27FC236}">
                  <a16:creationId xmlns:a16="http://schemas.microsoft.com/office/drawing/2014/main" id="{D70EE014-F5A4-4DCE-B087-8DDF629A9B05}"/>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73" name="Rectangle 72">
              <a:extLst>
                <a:ext uri="{FF2B5EF4-FFF2-40B4-BE49-F238E27FC236}">
                  <a16:creationId xmlns:a16="http://schemas.microsoft.com/office/drawing/2014/main" id="{CB08F987-2C40-4927-A9F0-5169CAFEBED9}"/>
                </a:ext>
              </a:extLst>
            </p:cNvPr>
            <p:cNvSpPr/>
            <p:nvPr/>
          </p:nvSpPr>
          <p:spPr>
            <a:xfrm>
              <a:off x="29156" y="1652184"/>
              <a:ext cx="902811"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Top </a:t>
              </a:r>
              <a:r>
                <a:rPr lang="en-US" sz="1000" i="1" dirty="0">
                  <a:solidFill>
                    <a:srgbClr val="2E5BB6"/>
                  </a:solidFill>
                  <a:latin typeface="Arial Narrow" panose="020B0606020202030204" pitchFamily="34" charset="0"/>
                  <a:cs typeface="Calibri" pitchFamily="34" charset="0"/>
                </a:rPr>
                <a:t>value:</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15 sec.</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“Elevator Pitch”</a:t>
              </a:r>
              <a:endParaRPr lang="en-US" sz="1400" dirty="0">
                <a:latin typeface="Arial Narrow" panose="020B0606020202030204" pitchFamily="34" charset="0"/>
              </a:endParaRPr>
            </a:p>
          </p:txBody>
        </p:sp>
      </p:grpSp>
    </p:spTree>
    <p:extLst>
      <p:ext uri="{BB962C8B-B14F-4D97-AF65-F5344CB8AC3E}">
        <p14:creationId xmlns:p14="http://schemas.microsoft.com/office/powerpoint/2010/main" val="2990977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t>Message for </a:t>
            </a:r>
            <a:r>
              <a:rPr lang="en-US" sz="2000" i="1" u="sng" dirty="0"/>
              <a:t>Frustrated Gardeners</a:t>
            </a:r>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The first thing we’ll do — </a:t>
            </a:r>
            <a:r>
              <a:rPr lang="en-US" i="1" dirty="0"/>
              <a:t>always — </a:t>
            </a:r>
            <a:r>
              <a:rPr lang="en-US" dirty="0"/>
              <a:t>is make sure we’re clear on the audience. So I’ll replace [Your Selected Target Audience] with our audience. As you remember from the </a:t>
            </a:r>
            <a:r>
              <a:rPr lang="en-US" i="1" dirty="0"/>
              <a:t>Persuasion Foundation Formula </a:t>
            </a:r>
            <a:r>
              <a:rPr lang="en-US" dirty="0"/>
              <a:t>course, our most important audience was “Frustrated Gardeners.” So I’ve added that below. This is a workbook for YOUR persuasive story, so, on the next page, you’ll fill in one of YOUR most important audiences.</a:t>
            </a:r>
          </a:p>
        </p:txBody>
      </p:sp>
      <p:grpSp>
        <p:nvGrpSpPr>
          <p:cNvPr id="49" name="Group 48">
            <a:extLst>
              <a:ext uri="{FF2B5EF4-FFF2-40B4-BE49-F238E27FC236}">
                <a16:creationId xmlns:a16="http://schemas.microsoft.com/office/drawing/2014/main" id="{F5C54458-DAED-4E8D-8970-7DDA1439AF63}"/>
              </a:ext>
            </a:extLst>
          </p:cNvPr>
          <p:cNvGrpSpPr/>
          <p:nvPr/>
        </p:nvGrpSpPr>
        <p:grpSpPr>
          <a:xfrm>
            <a:off x="738964" y="2569597"/>
            <a:ext cx="8114524" cy="3238145"/>
            <a:chOff x="270636" y="2156167"/>
            <a:chExt cx="6799636" cy="4101236"/>
          </a:xfrm>
        </p:grpSpPr>
        <p:grpSp>
          <p:nvGrpSpPr>
            <p:cNvPr id="50" name="Group 49">
              <a:extLst>
                <a:ext uri="{FF2B5EF4-FFF2-40B4-BE49-F238E27FC236}">
                  <a16:creationId xmlns:a16="http://schemas.microsoft.com/office/drawing/2014/main" id="{F3797850-27DE-49F1-A2C0-870FDB2B9D51}"/>
                </a:ext>
              </a:extLst>
            </p:cNvPr>
            <p:cNvGrpSpPr/>
            <p:nvPr/>
          </p:nvGrpSpPr>
          <p:grpSpPr>
            <a:xfrm>
              <a:off x="2063158" y="2256653"/>
              <a:ext cx="3344380" cy="4000750"/>
              <a:chOff x="2166316" y="1678825"/>
              <a:chExt cx="3511598" cy="4741781"/>
            </a:xfrm>
          </p:grpSpPr>
          <p:cxnSp>
            <p:nvCxnSpPr>
              <p:cNvPr id="59" name="Straight Connector 58">
                <a:extLst>
                  <a:ext uri="{FF2B5EF4-FFF2-40B4-BE49-F238E27FC236}">
                    <a16:creationId xmlns:a16="http://schemas.microsoft.com/office/drawing/2014/main" id="{BAB8EBA7-97C2-4C7B-A5AC-5B471CEE8492}"/>
                  </a:ext>
                </a:extLst>
              </p:cNvPr>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2601BE6D-AD99-429E-B2B0-4A63C978DE05}"/>
                  </a:ext>
                </a:extLst>
              </p:cNvPr>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65772C0B-A003-4976-8341-1C74F5F879CE}"/>
                  </a:ext>
                </a:extLst>
              </p:cNvPr>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51" name="TextBox 50">
              <a:extLst>
                <a:ext uri="{FF2B5EF4-FFF2-40B4-BE49-F238E27FC236}">
                  <a16:creationId xmlns:a16="http://schemas.microsoft.com/office/drawing/2014/main" id="{F7D4E7D7-A784-48DC-8A45-AE1B3E1F2166}"/>
                </a:ext>
              </a:extLst>
            </p:cNvPr>
            <p:cNvSpPr txBox="1"/>
            <p:nvPr/>
          </p:nvSpPr>
          <p:spPr>
            <a:xfrm>
              <a:off x="459157"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52" name="TextBox 51">
              <a:extLst>
                <a:ext uri="{FF2B5EF4-FFF2-40B4-BE49-F238E27FC236}">
                  <a16:creationId xmlns:a16="http://schemas.microsoft.com/office/drawing/2014/main" id="{6AAFEE34-7C43-460B-9D24-5F687EFE79EE}"/>
                </a:ext>
              </a:extLst>
            </p:cNvPr>
            <p:cNvSpPr txBox="1"/>
            <p:nvPr/>
          </p:nvSpPr>
          <p:spPr>
            <a:xfrm>
              <a:off x="270636" y="2156168"/>
              <a:ext cx="1783137"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#2</a:t>
              </a:r>
            </a:p>
          </p:txBody>
        </p:sp>
        <p:sp>
          <p:nvSpPr>
            <p:cNvPr id="53" name="TextBox 52">
              <a:extLst>
                <a:ext uri="{FF2B5EF4-FFF2-40B4-BE49-F238E27FC236}">
                  <a16:creationId xmlns:a16="http://schemas.microsoft.com/office/drawing/2014/main" id="{CC4AC4E6-2F02-428B-9F8B-F5C9E5A0F685}"/>
                </a:ext>
              </a:extLst>
            </p:cNvPr>
            <p:cNvSpPr txBox="1"/>
            <p:nvPr/>
          </p:nvSpPr>
          <p:spPr>
            <a:xfrm>
              <a:off x="2071309" y="2156168"/>
              <a:ext cx="1685096"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#3</a:t>
              </a:r>
            </a:p>
          </p:txBody>
        </p:sp>
        <p:sp>
          <p:nvSpPr>
            <p:cNvPr id="54" name="TextBox 53">
              <a:extLst>
                <a:ext uri="{FF2B5EF4-FFF2-40B4-BE49-F238E27FC236}">
                  <a16:creationId xmlns:a16="http://schemas.microsoft.com/office/drawing/2014/main" id="{88382291-979B-4DD0-A6D9-ED3003BEADA0}"/>
                </a:ext>
              </a:extLst>
            </p:cNvPr>
            <p:cNvSpPr txBox="1"/>
            <p:nvPr/>
          </p:nvSpPr>
          <p:spPr>
            <a:xfrm>
              <a:off x="3743476" y="2156167"/>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#4</a:t>
              </a:r>
            </a:p>
          </p:txBody>
        </p:sp>
        <p:sp>
          <p:nvSpPr>
            <p:cNvPr id="55" name="TextBox 54">
              <a:extLst>
                <a:ext uri="{FF2B5EF4-FFF2-40B4-BE49-F238E27FC236}">
                  <a16:creationId xmlns:a16="http://schemas.microsoft.com/office/drawing/2014/main" id="{019EE412-2058-4358-9079-5FAEFD071394}"/>
                </a:ext>
              </a:extLst>
            </p:cNvPr>
            <p:cNvSpPr txBox="1"/>
            <p:nvPr/>
          </p:nvSpPr>
          <p:spPr>
            <a:xfrm>
              <a:off x="5415643" y="2156168"/>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#5</a:t>
              </a:r>
            </a:p>
          </p:txBody>
        </p:sp>
        <p:sp>
          <p:nvSpPr>
            <p:cNvPr id="56" name="TextBox 55">
              <a:extLst>
                <a:ext uri="{FF2B5EF4-FFF2-40B4-BE49-F238E27FC236}">
                  <a16:creationId xmlns:a16="http://schemas.microsoft.com/office/drawing/2014/main" id="{3C879D94-6538-4ABD-AA67-87477E75A338}"/>
                </a:ext>
              </a:extLst>
            </p:cNvPr>
            <p:cNvSpPr txBox="1"/>
            <p:nvPr/>
          </p:nvSpPr>
          <p:spPr>
            <a:xfrm>
              <a:off x="211247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57" name="TextBox 56">
              <a:extLst>
                <a:ext uri="{FF2B5EF4-FFF2-40B4-BE49-F238E27FC236}">
                  <a16:creationId xmlns:a16="http://schemas.microsoft.com/office/drawing/2014/main" id="{42EF4A76-D6E6-4E69-A501-274EFDBA2623}"/>
                </a:ext>
              </a:extLst>
            </p:cNvPr>
            <p:cNvSpPr txBox="1"/>
            <p:nvPr/>
          </p:nvSpPr>
          <p:spPr>
            <a:xfrm>
              <a:off x="3734592"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58" name="TextBox 57">
              <a:extLst>
                <a:ext uri="{FF2B5EF4-FFF2-40B4-BE49-F238E27FC236}">
                  <a16:creationId xmlns:a16="http://schemas.microsoft.com/office/drawing/2014/main" id="{A433DA85-86F5-4090-9C03-C5BFBBF8B892}"/>
                </a:ext>
              </a:extLst>
            </p:cNvPr>
            <p:cNvSpPr txBox="1"/>
            <p:nvPr/>
          </p:nvSpPr>
          <p:spPr>
            <a:xfrm>
              <a:off x="538172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grpSp>
      <p:sp>
        <p:nvSpPr>
          <p:cNvPr id="62" name="Rectangle 61">
            <a:extLst>
              <a:ext uri="{FF2B5EF4-FFF2-40B4-BE49-F238E27FC236}">
                <a16:creationId xmlns:a16="http://schemas.microsoft.com/office/drawing/2014/main" id="{86F5B3C5-CD6D-4D51-B9A6-AD9E4FF90833}"/>
              </a:ext>
            </a:extLst>
          </p:cNvPr>
          <p:cNvSpPr/>
          <p:nvPr/>
        </p:nvSpPr>
        <p:spPr>
          <a:xfrm>
            <a:off x="1088415" y="1689062"/>
            <a:ext cx="7884719" cy="772847"/>
          </a:xfrm>
          <a:prstGeom prst="rect">
            <a:avLst/>
          </a:prstGeom>
        </p:spPr>
        <p:txBody>
          <a:bodyPr wrap="square" lIns="86493" tIns="43247" rIns="86493" bIns="43247">
            <a:spAutoFit/>
          </a:bodyPr>
          <a:lstStyle/>
          <a:p>
            <a:pPr algn="l">
              <a:lnSpc>
                <a:spcPts val="2838"/>
              </a:lnSpc>
              <a:spcAft>
                <a:spcPct val="20000"/>
              </a:spcAft>
              <a:defRPr/>
            </a:pPr>
            <a:r>
              <a:rPr lang="en-US" sz="2000" b="1" i="1" dirty="0">
                <a:solidFill>
                  <a:schemeClr val="tx1">
                    <a:lumMod val="40000"/>
                    <a:lumOff val="60000"/>
                  </a:schemeClr>
                </a:solidFill>
                <a:latin typeface="Arial Narrow" panose="020B0606020202030204" pitchFamily="34" charset="0"/>
                <a:cs typeface="Calibri"/>
              </a:rPr>
              <a:t>Value sentence for your audience’s #1 desire: “You get [your desire] because of [our capability].” </a:t>
            </a:r>
            <a:endParaRPr lang="en-US" sz="2000" dirty="0">
              <a:solidFill>
                <a:schemeClr val="tx1">
                  <a:lumMod val="40000"/>
                  <a:lumOff val="60000"/>
                </a:schemeClr>
              </a:solidFill>
              <a:latin typeface="Arial Narrow" panose="020B0606020202030204" pitchFamily="34" charset="0"/>
              <a:cs typeface="Calibri"/>
            </a:endParaRPr>
          </a:p>
        </p:txBody>
      </p:sp>
    </p:spTree>
    <p:extLst>
      <p:ext uri="{BB962C8B-B14F-4D97-AF65-F5344CB8AC3E}">
        <p14:creationId xmlns:p14="http://schemas.microsoft.com/office/powerpoint/2010/main" val="4143777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t>Message for ___________________________</a:t>
            </a:r>
            <a:endParaRPr lang="en-US" sz="2000" i="1" dirty="0"/>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This is it. Your path to creating the story to make your idea win and get more of what you want is officially starting! In the space below, write a name for one of your most important audiences — someone you need to persuade to do what you need. As you know from the previous example, the key audience for Simple Sprouts is “Frustrated Gardeners.” Who is YOUR audience? </a:t>
            </a:r>
            <a:r>
              <a:rPr lang="en-US" dirty="0">
                <a:cs typeface="Calibri"/>
              </a:rPr>
              <a:t>If you’ve printed this out, just write in the spaces below. If you’re using this file electronically, replace the line after “Message for” with your name for your audience.</a:t>
            </a:r>
            <a:endParaRPr lang="en-US" dirty="0"/>
          </a:p>
        </p:txBody>
      </p:sp>
      <p:grpSp>
        <p:nvGrpSpPr>
          <p:cNvPr id="44" name="Group 43">
            <a:extLst>
              <a:ext uri="{FF2B5EF4-FFF2-40B4-BE49-F238E27FC236}">
                <a16:creationId xmlns:a16="http://schemas.microsoft.com/office/drawing/2014/main" id="{2EB00E18-1E84-4EEF-AE33-3770D7571EE2}"/>
              </a:ext>
            </a:extLst>
          </p:cNvPr>
          <p:cNvGrpSpPr/>
          <p:nvPr/>
        </p:nvGrpSpPr>
        <p:grpSpPr>
          <a:xfrm>
            <a:off x="738964" y="2569597"/>
            <a:ext cx="8114524" cy="3238145"/>
            <a:chOff x="270636" y="2156167"/>
            <a:chExt cx="6799636" cy="4101236"/>
          </a:xfrm>
        </p:grpSpPr>
        <p:grpSp>
          <p:nvGrpSpPr>
            <p:cNvPr id="45" name="Group 44">
              <a:extLst>
                <a:ext uri="{FF2B5EF4-FFF2-40B4-BE49-F238E27FC236}">
                  <a16:creationId xmlns:a16="http://schemas.microsoft.com/office/drawing/2014/main" id="{9954BAD8-9714-4F73-8A93-9E384167B58C}"/>
                </a:ext>
              </a:extLst>
            </p:cNvPr>
            <p:cNvGrpSpPr/>
            <p:nvPr/>
          </p:nvGrpSpPr>
          <p:grpSpPr>
            <a:xfrm>
              <a:off x="2063158" y="2256653"/>
              <a:ext cx="3344380" cy="4000750"/>
              <a:chOff x="2166316" y="1678825"/>
              <a:chExt cx="3511598" cy="4741781"/>
            </a:xfrm>
          </p:grpSpPr>
          <p:cxnSp>
            <p:nvCxnSpPr>
              <p:cNvPr id="54" name="Straight Connector 53">
                <a:extLst>
                  <a:ext uri="{FF2B5EF4-FFF2-40B4-BE49-F238E27FC236}">
                    <a16:creationId xmlns:a16="http://schemas.microsoft.com/office/drawing/2014/main" id="{1284FDD1-029C-4172-B608-4EE114B242D8}"/>
                  </a:ext>
                </a:extLst>
              </p:cNvPr>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55" name="Straight Connector 54">
                <a:extLst>
                  <a:ext uri="{FF2B5EF4-FFF2-40B4-BE49-F238E27FC236}">
                    <a16:creationId xmlns:a16="http://schemas.microsoft.com/office/drawing/2014/main" id="{CA90E8EB-13AC-4603-B03F-C641D3DB572A}"/>
                  </a:ext>
                </a:extLst>
              </p:cNvPr>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56" name="Straight Connector 55">
                <a:extLst>
                  <a:ext uri="{FF2B5EF4-FFF2-40B4-BE49-F238E27FC236}">
                    <a16:creationId xmlns:a16="http://schemas.microsoft.com/office/drawing/2014/main" id="{379A48E4-1A31-4394-ABBE-74B99AB5E5B9}"/>
                  </a:ext>
                </a:extLst>
              </p:cNvPr>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46" name="TextBox 45">
              <a:extLst>
                <a:ext uri="{FF2B5EF4-FFF2-40B4-BE49-F238E27FC236}">
                  <a16:creationId xmlns:a16="http://schemas.microsoft.com/office/drawing/2014/main" id="{094D5AEF-7112-4017-9481-8A35904BEA36}"/>
                </a:ext>
              </a:extLst>
            </p:cNvPr>
            <p:cNvSpPr txBox="1"/>
            <p:nvPr/>
          </p:nvSpPr>
          <p:spPr>
            <a:xfrm>
              <a:off x="459157"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7" name="TextBox 46">
              <a:extLst>
                <a:ext uri="{FF2B5EF4-FFF2-40B4-BE49-F238E27FC236}">
                  <a16:creationId xmlns:a16="http://schemas.microsoft.com/office/drawing/2014/main" id="{F2B66FEC-0145-4FB8-A906-E5962EB11728}"/>
                </a:ext>
              </a:extLst>
            </p:cNvPr>
            <p:cNvSpPr txBox="1"/>
            <p:nvPr/>
          </p:nvSpPr>
          <p:spPr>
            <a:xfrm>
              <a:off x="270636" y="2156168"/>
              <a:ext cx="1783137"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#2</a:t>
              </a:r>
            </a:p>
          </p:txBody>
        </p:sp>
        <p:sp>
          <p:nvSpPr>
            <p:cNvPr id="48" name="TextBox 47">
              <a:extLst>
                <a:ext uri="{FF2B5EF4-FFF2-40B4-BE49-F238E27FC236}">
                  <a16:creationId xmlns:a16="http://schemas.microsoft.com/office/drawing/2014/main" id="{C9E44DD3-32E7-4C0A-99DB-DB686B6CF898}"/>
                </a:ext>
              </a:extLst>
            </p:cNvPr>
            <p:cNvSpPr txBox="1"/>
            <p:nvPr/>
          </p:nvSpPr>
          <p:spPr>
            <a:xfrm>
              <a:off x="2071309" y="2156168"/>
              <a:ext cx="1685096"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#3</a:t>
              </a:r>
            </a:p>
          </p:txBody>
        </p:sp>
        <p:sp>
          <p:nvSpPr>
            <p:cNvPr id="49" name="TextBox 48">
              <a:extLst>
                <a:ext uri="{FF2B5EF4-FFF2-40B4-BE49-F238E27FC236}">
                  <a16:creationId xmlns:a16="http://schemas.microsoft.com/office/drawing/2014/main" id="{E53AD997-B5EE-4026-B34A-9401B9FBFE64}"/>
                </a:ext>
              </a:extLst>
            </p:cNvPr>
            <p:cNvSpPr txBox="1"/>
            <p:nvPr/>
          </p:nvSpPr>
          <p:spPr>
            <a:xfrm>
              <a:off x="3743476" y="2156167"/>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#4</a:t>
              </a:r>
            </a:p>
          </p:txBody>
        </p:sp>
        <p:sp>
          <p:nvSpPr>
            <p:cNvPr id="50" name="TextBox 49">
              <a:extLst>
                <a:ext uri="{FF2B5EF4-FFF2-40B4-BE49-F238E27FC236}">
                  <a16:creationId xmlns:a16="http://schemas.microsoft.com/office/drawing/2014/main" id="{01C2D944-9551-45D7-AF96-207FFDB88296}"/>
                </a:ext>
              </a:extLst>
            </p:cNvPr>
            <p:cNvSpPr txBox="1"/>
            <p:nvPr/>
          </p:nvSpPr>
          <p:spPr>
            <a:xfrm>
              <a:off x="5415643" y="2156168"/>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#5</a:t>
              </a:r>
            </a:p>
          </p:txBody>
        </p:sp>
        <p:sp>
          <p:nvSpPr>
            <p:cNvPr id="51" name="TextBox 50">
              <a:extLst>
                <a:ext uri="{FF2B5EF4-FFF2-40B4-BE49-F238E27FC236}">
                  <a16:creationId xmlns:a16="http://schemas.microsoft.com/office/drawing/2014/main" id="{1CA12362-F134-4D22-B34D-5803FE04EBC5}"/>
                </a:ext>
              </a:extLst>
            </p:cNvPr>
            <p:cNvSpPr txBox="1"/>
            <p:nvPr/>
          </p:nvSpPr>
          <p:spPr>
            <a:xfrm>
              <a:off x="211247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52" name="TextBox 51">
              <a:extLst>
                <a:ext uri="{FF2B5EF4-FFF2-40B4-BE49-F238E27FC236}">
                  <a16:creationId xmlns:a16="http://schemas.microsoft.com/office/drawing/2014/main" id="{F24F3359-1940-41BA-9B61-B433C631FD12}"/>
                </a:ext>
              </a:extLst>
            </p:cNvPr>
            <p:cNvSpPr txBox="1"/>
            <p:nvPr/>
          </p:nvSpPr>
          <p:spPr>
            <a:xfrm>
              <a:off x="3734592"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53" name="TextBox 52">
              <a:extLst>
                <a:ext uri="{FF2B5EF4-FFF2-40B4-BE49-F238E27FC236}">
                  <a16:creationId xmlns:a16="http://schemas.microsoft.com/office/drawing/2014/main" id="{3FA00064-5273-4658-AE1C-B978986C4303}"/>
                </a:ext>
              </a:extLst>
            </p:cNvPr>
            <p:cNvSpPr txBox="1"/>
            <p:nvPr/>
          </p:nvSpPr>
          <p:spPr>
            <a:xfrm>
              <a:off x="538172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grpSp>
      <p:sp>
        <p:nvSpPr>
          <p:cNvPr id="57" name="Rectangle 56">
            <a:extLst>
              <a:ext uri="{FF2B5EF4-FFF2-40B4-BE49-F238E27FC236}">
                <a16:creationId xmlns:a16="http://schemas.microsoft.com/office/drawing/2014/main" id="{7ABC218E-E35C-493B-B310-3CF1076A00CA}"/>
              </a:ext>
            </a:extLst>
          </p:cNvPr>
          <p:cNvSpPr/>
          <p:nvPr/>
        </p:nvSpPr>
        <p:spPr>
          <a:xfrm>
            <a:off x="1088415" y="1689062"/>
            <a:ext cx="7884719" cy="772847"/>
          </a:xfrm>
          <a:prstGeom prst="rect">
            <a:avLst/>
          </a:prstGeom>
        </p:spPr>
        <p:txBody>
          <a:bodyPr wrap="square" lIns="86493" tIns="43247" rIns="86493" bIns="43247">
            <a:spAutoFit/>
          </a:bodyPr>
          <a:lstStyle/>
          <a:p>
            <a:pPr algn="l">
              <a:lnSpc>
                <a:spcPts val="2838"/>
              </a:lnSpc>
              <a:spcAft>
                <a:spcPct val="20000"/>
              </a:spcAft>
              <a:defRPr/>
            </a:pPr>
            <a:r>
              <a:rPr lang="en-US" sz="2000" b="1" i="1" dirty="0">
                <a:solidFill>
                  <a:schemeClr val="tx1">
                    <a:lumMod val="40000"/>
                    <a:lumOff val="60000"/>
                  </a:schemeClr>
                </a:solidFill>
                <a:latin typeface="Arial Narrow" panose="020B0606020202030204" pitchFamily="34" charset="0"/>
                <a:cs typeface="Calibri"/>
              </a:rPr>
              <a:t>Value sentence for your audience’s #1 desire: “You get [your desire] because of [our capability].” </a:t>
            </a:r>
            <a:endParaRPr lang="en-US" sz="2000" dirty="0">
              <a:solidFill>
                <a:schemeClr val="tx1">
                  <a:lumMod val="40000"/>
                  <a:lumOff val="60000"/>
                </a:schemeClr>
              </a:solidFill>
              <a:latin typeface="Arial Narrow" panose="020B0606020202030204" pitchFamily="34" charset="0"/>
              <a:cs typeface="Calibri"/>
            </a:endParaRPr>
          </a:p>
        </p:txBody>
      </p:sp>
    </p:spTree>
    <p:extLst>
      <p:ext uri="{BB962C8B-B14F-4D97-AF65-F5344CB8AC3E}">
        <p14:creationId xmlns:p14="http://schemas.microsoft.com/office/powerpoint/2010/main" val="272489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t>Message for </a:t>
            </a:r>
            <a:r>
              <a:rPr lang="en-US" sz="2000" i="1" u="sng" dirty="0"/>
              <a:t>Frustrated Gardeners</a:t>
            </a:r>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Now that we’ve got our audience, let’s move to the 15-second elevator pitch. It’s the value sentence that translates into words the line you drew connecting your audience’s #1 desire to how you make them happy. And we’ll start with my go-to sentence formula: </a:t>
            </a:r>
            <a:r>
              <a:rPr lang="en-US" b="1" i="1" dirty="0">
                <a:cs typeface="Calibri"/>
              </a:rPr>
              <a:t>“You get [your desire] because of [our capability].” </a:t>
            </a:r>
            <a:r>
              <a:rPr lang="en-US" dirty="0">
                <a:cs typeface="Calibri"/>
              </a:rPr>
              <a:t>For our “Frustrated Gardeners,” the desire was all about time and ease. So our opening — our elevator pitch — became, “</a:t>
            </a:r>
            <a:r>
              <a:rPr lang="en-US" i="1" dirty="0">
                <a:cs typeface="Calibri"/>
              </a:rPr>
              <a:t>You plant a gorgeous garden in about five minutes because you just drop our pods in the dirt and your plants have everything you need — the seeds, the soil, and even the right fertilizer.”</a:t>
            </a:r>
            <a:endParaRPr lang="en-US" i="1" dirty="0"/>
          </a:p>
        </p:txBody>
      </p:sp>
      <p:sp>
        <p:nvSpPr>
          <p:cNvPr id="19" name="Rectangle 18"/>
          <p:cNvSpPr/>
          <p:nvPr/>
        </p:nvSpPr>
        <p:spPr>
          <a:xfrm>
            <a:off x="1098763" y="1689062"/>
            <a:ext cx="7874371" cy="518226"/>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You plant a gorgeous garden in about </a:t>
            </a:r>
            <a:r>
              <a:rPr lang="en-US" sz="1400" b="1" i="1" u="sng" dirty="0">
                <a:latin typeface="Arial Narrow" panose="020B0606020202030204" pitchFamily="34" charset="0"/>
                <a:cs typeface="Calibri"/>
              </a:rPr>
              <a:t>five minutes</a:t>
            </a:r>
            <a:r>
              <a:rPr lang="en-US" sz="1400" b="1" i="1" dirty="0">
                <a:latin typeface="Arial Narrow" panose="020B0606020202030204" pitchFamily="34" charset="0"/>
                <a:cs typeface="Calibri"/>
              </a:rPr>
              <a:t> because you just drop our pods in the dirt and your plants have everything you need — the seeds, the soil, and even the right fertilizer.  </a:t>
            </a:r>
            <a:endParaRPr lang="en-US" sz="1400" dirty="0">
              <a:latin typeface="Arial Narrow" panose="020B0606020202030204" pitchFamily="34" charset="0"/>
              <a:cs typeface="Calibri"/>
            </a:endParaRPr>
          </a:p>
        </p:txBody>
      </p:sp>
      <p:grpSp>
        <p:nvGrpSpPr>
          <p:cNvPr id="37" name="Group 36">
            <a:extLst>
              <a:ext uri="{FF2B5EF4-FFF2-40B4-BE49-F238E27FC236}">
                <a16:creationId xmlns:a16="http://schemas.microsoft.com/office/drawing/2014/main" id="{0509DB4A-47E6-49BA-AC26-0A21CA686A72}"/>
              </a:ext>
            </a:extLst>
          </p:cNvPr>
          <p:cNvGrpSpPr/>
          <p:nvPr/>
        </p:nvGrpSpPr>
        <p:grpSpPr>
          <a:xfrm>
            <a:off x="738964" y="2569597"/>
            <a:ext cx="8114524" cy="3238145"/>
            <a:chOff x="270636" y="2156167"/>
            <a:chExt cx="6799636" cy="4101236"/>
          </a:xfrm>
        </p:grpSpPr>
        <p:grpSp>
          <p:nvGrpSpPr>
            <p:cNvPr id="38" name="Group 37">
              <a:extLst>
                <a:ext uri="{FF2B5EF4-FFF2-40B4-BE49-F238E27FC236}">
                  <a16:creationId xmlns:a16="http://schemas.microsoft.com/office/drawing/2014/main" id="{B11A977B-08A0-42CD-8385-4D0A9B96BBED}"/>
                </a:ext>
              </a:extLst>
            </p:cNvPr>
            <p:cNvGrpSpPr/>
            <p:nvPr/>
          </p:nvGrpSpPr>
          <p:grpSpPr>
            <a:xfrm>
              <a:off x="2063158" y="2256653"/>
              <a:ext cx="3344380" cy="4000750"/>
              <a:chOff x="2166316" y="1678825"/>
              <a:chExt cx="3511598" cy="4741781"/>
            </a:xfrm>
          </p:grpSpPr>
          <p:cxnSp>
            <p:nvCxnSpPr>
              <p:cNvPr id="47" name="Straight Connector 46">
                <a:extLst>
                  <a:ext uri="{FF2B5EF4-FFF2-40B4-BE49-F238E27FC236}">
                    <a16:creationId xmlns:a16="http://schemas.microsoft.com/office/drawing/2014/main" id="{64AAF1E1-BC49-467E-BEB3-4CA90BB027B6}"/>
                  </a:ext>
                </a:extLst>
              </p:cNvPr>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48" name="Straight Connector 47">
                <a:extLst>
                  <a:ext uri="{FF2B5EF4-FFF2-40B4-BE49-F238E27FC236}">
                    <a16:creationId xmlns:a16="http://schemas.microsoft.com/office/drawing/2014/main" id="{78096EAA-D216-4EA6-91C3-3179C58B30F2}"/>
                  </a:ext>
                </a:extLst>
              </p:cNvPr>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49" name="Straight Connector 48">
                <a:extLst>
                  <a:ext uri="{FF2B5EF4-FFF2-40B4-BE49-F238E27FC236}">
                    <a16:creationId xmlns:a16="http://schemas.microsoft.com/office/drawing/2014/main" id="{A35CA991-0CDB-446C-A95E-15B1F8B08233}"/>
                  </a:ext>
                </a:extLst>
              </p:cNvPr>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39" name="TextBox 38">
              <a:extLst>
                <a:ext uri="{FF2B5EF4-FFF2-40B4-BE49-F238E27FC236}">
                  <a16:creationId xmlns:a16="http://schemas.microsoft.com/office/drawing/2014/main" id="{86FD41E7-3C6D-4E8F-AC31-A77A390E3A94}"/>
                </a:ext>
              </a:extLst>
            </p:cNvPr>
            <p:cNvSpPr txBox="1"/>
            <p:nvPr/>
          </p:nvSpPr>
          <p:spPr>
            <a:xfrm>
              <a:off x="459157"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0" name="TextBox 39">
              <a:extLst>
                <a:ext uri="{FF2B5EF4-FFF2-40B4-BE49-F238E27FC236}">
                  <a16:creationId xmlns:a16="http://schemas.microsoft.com/office/drawing/2014/main" id="{5DE9F7C0-395C-4CFF-96BA-287754272012}"/>
                </a:ext>
              </a:extLst>
            </p:cNvPr>
            <p:cNvSpPr txBox="1"/>
            <p:nvPr/>
          </p:nvSpPr>
          <p:spPr>
            <a:xfrm>
              <a:off x="270636" y="2156168"/>
              <a:ext cx="1783137"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#2</a:t>
              </a:r>
            </a:p>
          </p:txBody>
        </p:sp>
        <p:sp>
          <p:nvSpPr>
            <p:cNvPr id="41" name="TextBox 40">
              <a:extLst>
                <a:ext uri="{FF2B5EF4-FFF2-40B4-BE49-F238E27FC236}">
                  <a16:creationId xmlns:a16="http://schemas.microsoft.com/office/drawing/2014/main" id="{1D592BA7-82CC-42F9-906C-DF6A55079859}"/>
                </a:ext>
              </a:extLst>
            </p:cNvPr>
            <p:cNvSpPr txBox="1"/>
            <p:nvPr/>
          </p:nvSpPr>
          <p:spPr>
            <a:xfrm>
              <a:off x="2071309" y="2156168"/>
              <a:ext cx="1685096"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#3</a:t>
              </a:r>
            </a:p>
          </p:txBody>
        </p:sp>
        <p:sp>
          <p:nvSpPr>
            <p:cNvPr id="42" name="TextBox 41">
              <a:extLst>
                <a:ext uri="{FF2B5EF4-FFF2-40B4-BE49-F238E27FC236}">
                  <a16:creationId xmlns:a16="http://schemas.microsoft.com/office/drawing/2014/main" id="{BC5E5720-5241-46D3-8E77-53CA7EB88602}"/>
                </a:ext>
              </a:extLst>
            </p:cNvPr>
            <p:cNvSpPr txBox="1"/>
            <p:nvPr/>
          </p:nvSpPr>
          <p:spPr>
            <a:xfrm>
              <a:off x="3743476" y="2156167"/>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#4</a:t>
              </a:r>
            </a:p>
          </p:txBody>
        </p:sp>
        <p:sp>
          <p:nvSpPr>
            <p:cNvPr id="43" name="TextBox 42">
              <a:extLst>
                <a:ext uri="{FF2B5EF4-FFF2-40B4-BE49-F238E27FC236}">
                  <a16:creationId xmlns:a16="http://schemas.microsoft.com/office/drawing/2014/main" id="{8654829F-82EC-49DE-A7BE-938905FD6825}"/>
                </a:ext>
              </a:extLst>
            </p:cNvPr>
            <p:cNvSpPr txBox="1"/>
            <p:nvPr/>
          </p:nvSpPr>
          <p:spPr>
            <a:xfrm>
              <a:off x="5415643" y="2156168"/>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#5</a:t>
              </a:r>
            </a:p>
          </p:txBody>
        </p:sp>
        <p:sp>
          <p:nvSpPr>
            <p:cNvPr id="44" name="TextBox 43">
              <a:extLst>
                <a:ext uri="{FF2B5EF4-FFF2-40B4-BE49-F238E27FC236}">
                  <a16:creationId xmlns:a16="http://schemas.microsoft.com/office/drawing/2014/main" id="{BAE77A3B-3F81-45BA-AAFF-284FFF061899}"/>
                </a:ext>
              </a:extLst>
            </p:cNvPr>
            <p:cNvSpPr txBox="1"/>
            <p:nvPr/>
          </p:nvSpPr>
          <p:spPr>
            <a:xfrm>
              <a:off x="211247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5" name="TextBox 44">
              <a:extLst>
                <a:ext uri="{FF2B5EF4-FFF2-40B4-BE49-F238E27FC236}">
                  <a16:creationId xmlns:a16="http://schemas.microsoft.com/office/drawing/2014/main" id="{8E38352B-D940-4EA7-81D4-1F3314E22507}"/>
                </a:ext>
              </a:extLst>
            </p:cNvPr>
            <p:cNvSpPr txBox="1"/>
            <p:nvPr/>
          </p:nvSpPr>
          <p:spPr>
            <a:xfrm>
              <a:off x="3734592"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6" name="TextBox 45">
              <a:extLst>
                <a:ext uri="{FF2B5EF4-FFF2-40B4-BE49-F238E27FC236}">
                  <a16:creationId xmlns:a16="http://schemas.microsoft.com/office/drawing/2014/main" id="{53C38466-2D51-4B99-BFE1-897D20D40158}"/>
                </a:ext>
              </a:extLst>
            </p:cNvPr>
            <p:cNvSpPr txBox="1"/>
            <p:nvPr/>
          </p:nvSpPr>
          <p:spPr>
            <a:xfrm>
              <a:off x="538172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grpSp>
      <p:grpSp>
        <p:nvGrpSpPr>
          <p:cNvPr id="50" name="Group 49">
            <a:extLst>
              <a:ext uri="{FF2B5EF4-FFF2-40B4-BE49-F238E27FC236}">
                <a16:creationId xmlns:a16="http://schemas.microsoft.com/office/drawing/2014/main" id="{FA3B4FAB-B161-4570-87B0-1611DCB4E249}"/>
              </a:ext>
            </a:extLst>
          </p:cNvPr>
          <p:cNvGrpSpPr/>
          <p:nvPr/>
        </p:nvGrpSpPr>
        <p:grpSpPr>
          <a:xfrm>
            <a:off x="29156" y="1622106"/>
            <a:ext cx="951812" cy="580144"/>
            <a:chOff x="29156" y="1652184"/>
            <a:chExt cx="951812" cy="884419"/>
          </a:xfrm>
        </p:grpSpPr>
        <p:sp>
          <p:nvSpPr>
            <p:cNvPr id="51" name="Arrow: Pentagon 50">
              <a:extLst>
                <a:ext uri="{FF2B5EF4-FFF2-40B4-BE49-F238E27FC236}">
                  <a16:creationId xmlns:a16="http://schemas.microsoft.com/office/drawing/2014/main" id="{8AB957F3-F12F-4DDA-9E66-C3BB67E2B501}"/>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52" name="Rectangle 51">
              <a:extLst>
                <a:ext uri="{FF2B5EF4-FFF2-40B4-BE49-F238E27FC236}">
                  <a16:creationId xmlns:a16="http://schemas.microsoft.com/office/drawing/2014/main" id="{3F043EDE-DAFB-4E7A-8F81-D91B6ED2439A}"/>
                </a:ext>
              </a:extLst>
            </p:cNvPr>
            <p:cNvSpPr/>
            <p:nvPr/>
          </p:nvSpPr>
          <p:spPr>
            <a:xfrm>
              <a:off x="29156" y="1652184"/>
              <a:ext cx="902811"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Top </a:t>
              </a:r>
              <a:r>
                <a:rPr lang="en-US" sz="1000" i="1" dirty="0">
                  <a:solidFill>
                    <a:srgbClr val="2E5BB6"/>
                  </a:solidFill>
                  <a:latin typeface="Arial Narrow" panose="020B0606020202030204" pitchFamily="34" charset="0"/>
                  <a:cs typeface="Calibri" pitchFamily="34" charset="0"/>
                </a:rPr>
                <a:t>value:</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15 sec.</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“Elevator Pitch”</a:t>
              </a:r>
              <a:endParaRPr lang="en-US" sz="1400" dirty="0">
                <a:latin typeface="Arial Narrow" panose="020B0606020202030204" pitchFamily="34" charset="0"/>
              </a:endParaRPr>
            </a:p>
          </p:txBody>
        </p:sp>
      </p:grpSp>
    </p:spTree>
    <p:extLst>
      <p:ext uri="{BB962C8B-B14F-4D97-AF65-F5344CB8AC3E}">
        <p14:creationId xmlns:p14="http://schemas.microsoft.com/office/powerpoint/2010/main" val="3573939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solidFill>
                  <a:schemeClr val="tx1">
                    <a:lumMod val="40000"/>
                    <a:lumOff val="60000"/>
                  </a:schemeClr>
                </a:solidFill>
              </a:rPr>
              <a:t>Message for ___________________________</a:t>
            </a:r>
            <a:endParaRPr lang="en-US" sz="2000" i="1" u="sng" dirty="0">
              <a:solidFill>
                <a:schemeClr val="tx1">
                  <a:lumMod val="40000"/>
                  <a:lumOff val="60000"/>
                </a:schemeClr>
              </a:solidFill>
            </a:endParaRPr>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Your turn</a:t>
            </a:r>
            <a:r>
              <a:rPr lang="en-US" dirty="0">
                <a:cs typeface="Calibri"/>
              </a:rPr>
              <a:t>. Again, if you’ve printed this out, just write in the spaces below. If you’re using this file electronically, replace the lines with your value sentence. As you’ll remember from the course, my encouragement is to write </a:t>
            </a:r>
            <a:r>
              <a:rPr lang="en-US" i="1" dirty="0">
                <a:cs typeface="Calibri"/>
              </a:rPr>
              <a:t>as you’d really talk </a:t>
            </a:r>
            <a:r>
              <a:rPr lang="en-US" dirty="0">
                <a:cs typeface="Calibri"/>
              </a:rPr>
              <a:t>when you connect the audience desire to your capabilities. But a good starting point is to use the format: </a:t>
            </a:r>
            <a:r>
              <a:rPr lang="en-US" i="1" dirty="0"/>
              <a:t>“You get [your audience desire] because of [our capability].” </a:t>
            </a:r>
            <a:r>
              <a:rPr lang="en-US" dirty="0"/>
              <a:t>No big words. No jargon. Just talk … and use your audience’s own words whenever you can.</a:t>
            </a:r>
          </a:p>
        </p:txBody>
      </p:sp>
      <p:grpSp>
        <p:nvGrpSpPr>
          <p:cNvPr id="37" name="Group 36">
            <a:extLst>
              <a:ext uri="{FF2B5EF4-FFF2-40B4-BE49-F238E27FC236}">
                <a16:creationId xmlns:a16="http://schemas.microsoft.com/office/drawing/2014/main" id="{681DC0F6-5C14-4C6C-B3C7-913C59971644}"/>
              </a:ext>
            </a:extLst>
          </p:cNvPr>
          <p:cNvGrpSpPr/>
          <p:nvPr/>
        </p:nvGrpSpPr>
        <p:grpSpPr>
          <a:xfrm>
            <a:off x="738964" y="2569597"/>
            <a:ext cx="8114524" cy="3238145"/>
            <a:chOff x="270636" y="2156167"/>
            <a:chExt cx="6799636" cy="4101236"/>
          </a:xfrm>
        </p:grpSpPr>
        <p:grpSp>
          <p:nvGrpSpPr>
            <p:cNvPr id="38" name="Group 37">
              <a:extLst>
                <a:ext uri="{FF2B5EF4-FFF2-40B4-BE49-F238E27FC236}">
                  <a16:creationId xmlns:a16="http://schemas.microsoft.com/office/drawing/2014/main" id="{F10033D6-8942-4127-A2BF-C7E5D1BD2AEF}"/>
                </a:ext>
              </a:extLst>
            </p:cNvPr>
            <p:cNvGrpSpPr/>
            <p:nvPr/>
          </p:nvGrpSpPr>
          <p:grpSpPr>
            <a:xfrm>
              <a:off x="2063158" y="2256653"/>
              <a:ext cx="3344380" cy="4000750"/>
              <a:chOff x="2166316" y="1678825"/>
              <a:chExt cx="3511598" cy="4741781"/>
            </a:xfrm>
          </p:grpSpPr>
          <p:cxnSp>
            <p:nvCxnSpPr>
              <p:cNvPr id="47" name="Straight Connector 46">
                <a:extLst>
                  <a:ext uri="{FF2B5EF4-FFF2-40B4-BE49-F238E27FC236}">
                    <a16:creationId xmlns:a16="http://schemas.microsoft.com/office/drawing/2014/main" id="{79DADF40-6B9F-4E43-831F-FB4511A0367E}"/>
                  </a:ext>
                </a:extLst>
              </p:cNvPr>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48" name="Straight Connector 47">
                <a:extLst>
                  <a:ext uri="{FF2B5EF4-FFF2-40B4-BE49-F238E27FC236}">
                    <a16:creationId xmlns:a16="http://schemas.microsoft.com/office/drawing/2014/main" id="{C28E07D0-E770-417B-8F4E-3A522337DF73}"/>
                  </a:ext>
                </a:extLst>
              </p:cNvPr>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49" name="Straight Connector 48">
                <a:extLst>
                  <a:ext uri="{FF2B5EF4-FFF2-40B4-BE49-F238E27FC236}">
                    <a16:creationId xmlns:a16="http://schemas.microsoft.com/office/drawing/2014/main" id="{6DEE6494-EF56-43DF-83B4-C8168466B8DF}"/>
                  </a:ext>
                </a:extLst>
              </p:cNvPr>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39" name="TextBox 38">
              <a:extLst>
                <a:ext uri="{FF2B5EF4-FFF2-40B4-BE49-F238E27FC236}">
                  <a16:creationId xmlns:a16="http://schemas.microsoft.com/office/drawing/2014/main" id="{40BB8D56-953E-4E61-8318-2D7ABE33088E}"/>
                </a:ext>
              </a:extLst>
            </p:cNvPr>
            <p:cNvSpPr txBox="1"/>
            <p:nvPr/>
          </p:nvSpPr>
          <p:spPr>
            <a:xfrm>
              <a:off x="459157"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0" name="TextBox 39">
              <a:extLst>
                <a:ext uri="{FF2B5EF4-FFF2-40B4-BE49-F238E27FC236}">
                  <a16:creationId xmlns:a16="http://schemas.microsoft.com/office/drawing/2014/main" id="{41858CD8-95DC-489A-B24F-15BA38532843}"/>
                </a:ext>
              </a:extLst>
            </p:cNvPr>
            <p:cNvSpPr txBox="1"/>
            <p:nvPr/>
          </p:nvSpPr>
          <p:spPr>
            <a:xfrm>
              <a:off x="270636" y="2156168"/>
              <a:ext cx="1783137"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#2</a:t>
              </a:r>
            </a:p>
          </p:txBody>
        </p:sp>
        <p:sp>
          <p:nvSpPr>
            <p:cNvPr id="41" name="TextBox 40">
              <a:extLst>
                <a:ext uri="{FF2B5EF4-FFF2-40B4-BE49-F238E27FC236}">
                  <a16:creationId xmlns:a16="http://schemas.microsoft.com/office/drawing/2014/main" id="{C626BCD5-D0EC-4864-9194-9D8DE8D7CF2E}"/>
                </a:ext>
              </a:extLst>
            </p:cNvPr>
            <p:cNvSpPr txBox="1"/>
            <p:nvPr/>
          </p:nvSpPr>
          <p:spPr>
            <a:xfrm>
              <a:off x="2071309" y="2156168"/>
              <a:ext cx="1685096"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#3</a:t>
              </a:r>
            </a:p>
          </p:txBody>
        </p:sp>
        <p:sp>
          <p:nvSpPr>
            <p:cNvPr id="42" name="TextBox 41">
              <a:extLst>
                <a:ext uri="{FF2B5EF4-FFF2-40B4-BE49-F238E27FC236}">
                  <a16:creationId xmlns:a16="http://schemas.microsoft.com/office/drawing/2014/main" id="{AA5CAAF6-ED91-4CDE-B4A2-4D087495ABAB}"/>
                </a:ext>
              </a:extLst>
            </p:cNvPr>
            <p:cNvSpPr txBox="1"/>
            <p:nvPr/>
          </p:nvSpPr>
          <p:spPr>
            <a:xfrm>
              <a:off x="3743476" y="2156167"/>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#4</a:t>
              </a:r>
            </a:p>
          </p:txBody>
        </p:sp>
        <p:sp>
          <p:nvSpPr>
            <p:cNvPr id="43" name="TextBox 42">
              <a:extLst>
                <a:ext uri="{FF2B5EF4-FFF2-40B4-BE49-F238E27FC236}">
                  <a16:creationId xmlns:a16="http://schemas.microsoft.com/office/drawing/2014/main" id="{BFF05836-29A4-49C4-B039-6F25B93EE8CB}"/>
                </a:ext>
              </a:extLst>
            </p:cNvPr>
            <p:cNvSpPr txBox="1"/>
            <p:nvPr/>
          </p:nvSpPr>
          <p:spPr>
            <a:xfrm>
              <a:off x="5415643" y="2156168"/>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#5</a:t>
              </a:r>
            </a:p>
          </p:txBody>
        </p:sp>
        <p:sp>
          <p:nvSpPr>
            <p:cNvPr id="44" name="TextBox 43">
              <a:extLst>
                <a:ext uri="{FF2B5EF4-FFF2-40B4-BE49-F238E27FC236}">
                  <a16:creationId xmlns:a16="http://schemas.microsoft.com/office/drawing/2014/main" id="{69320021-F15D-4671-8116-A444AB1C270D}"/>
                </a:ext>
              </a:extLst>
            </p:cNvPr>
            <p:cNvSpPr txBox="1"/>
            <p:nvPr/>
          </p:nvSpPr>
          <p:spPr>
            <a:xfrm>
              <a:off x="211247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5" name="TextBox 44">
              <a:extLst>
                <a:ext uri="{FF2B5EF4-FFF2-40B4-BE49-F238E27FC236}">
                  <a16:creationId xmlns:a16="http://schemas.microsoft.com/office/drawing/2014/main" id="{E3D719C5-3556-46F1-912E-851C0C845EA3}"/>
                </a:ext>
              </a:extLst>
            </p:cNvPr>
            <p:cNvSpPr txBox="1"/>
            <p:nvPr/>
          </p:nvSpPr>
          <p:spPr>
            <a:xfrm>
              <a:off x="3734592"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6" name="TextBox 45">
              <a:extLst>
                <a:ext uri="{FF2B5EF4-FFF2-40B4-BE49-F238E27FC236}">
                  <a16:creationId xmlns:a16="http://schemas.microsoft.com/office/drawing/2014/main" id="{3B60EF3C-D68C-41EE-B2DE-1730DDC3CAAB}"/>
                </a:ext>
              </a:extLst>
            </p:cNvPr>
            <p:cNvSpPr txBox="1"/>
            <p:nvPr/>
          </p:nvSpPr>
          <p:spPr>
            <a:xfrm>
              <a:off x="538172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grpSp>
      <p:sp>
        <p:nvSpPr>
          <p:cNvPr id="50" name="Rectangle 49">
            <a:extLst>
              <a:ext uri="{FF2B5EF4-FFF2-40B4-BE49-F238E27FC236}">
                <a16:creationId xmlns:a16="http://schemas.microsoft.com/office/drawing/2014/main" id="{DA19C23D-092F-4C17-AEFD-2E1855DAD86D}"/>
              </a:ext>
            </a:extLst>
          </p:cNvPr>
          <p:cNvSpPr/>
          <p:nvPr/>
        </p:nvSpPr>
        <p:spPr>
          <a:xfrm>
            <a:off x="1120127" y="1601475"/>
            <a:ext cx="7688205" cy="819847"/>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a:t>
            </a:r>
            <a:endParaRPr lang="en-US" sz="1400" dirty="0">
              <a:latin typeface="Arial Narrow" panose="020B0606020202030204" pitchFamily="34" charset="0"/>
              <a:cs typeface="Calibri"/>
            </a:endParaRPr>
          </a:p>
        </p:txBody>
      </p:sp>
      <p:grpSp>
        <p:nvGrpSpPr>
          <p:cNvPr id="51" name="Group 50">
            <a:extLst>
              <a:ext uri="{FF2B5EF4-FFF2-40B4-BE49-F238E27FC236}">
                <a16:creationId xmlns:a16="http://schemas.microsoft.com/office/drawing/2014/main" id="{F0B14962-FA9A-46AE-9624-04280617DC85}"/>
              </a:ext>
            </a:extLst>
          </p:cNvPr>
          <p:cNvGrpSpPr/>
          <p:nvPr/>
        </p:nvGrpSpPr>
        <p:grpSpPr>
          <a:xfrm>
            <a:off x="29156" y="1622106"/>
            <a:ext cx="951812" cy="580144"/>
            <a:chOff x="29156" y="1652184"/>
            <a:chExt cx="951812" cy="884419"/>
          </a:xfrm>
        </p:grpSpPr>
        <p:sp>
          <p:nvSpPr>
            <p:cNvPr id="52" name="Arrow: Pentagon 51">
              <a:extLst>
                <a:ext uri="{FF2B5EF4-FFF2-40B4-BE49-F238E27FC236}">
                  <a16:creationId xmlns:a16="http://schemas.microsoft.com/office/drawing/2014/main" id="{465A5A0C-3328-4113-A53D-E5EA8EF1026F}"/>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53" name="Rectangle 52">
              <a:extLst>
                <a:ext uri="{FF2B5EF4-FFF2-40B4-BE49-F238E27FC236}">
                  <a16:creationId xmlns:a16="http://schemas.microsoft.com/office/drawing/2014/main" id="{1A0CFBB4-E8E4-45EC-AB53-98065E4DB7D1}"/>
                </a:ext>
              </a:extLst>
            </p:cNvPr>
            <p:cNvSpPr/>
            <p:nvPr/>
          </p:nvSpPr>
          <p:spPr>
            <a:xfrm>
              <a:off x="29156" y="1652184"/>
              <a:ext cx="902811"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Top </a:t>
              </a:r>
              <a:r>
                <a:rPr lang="en-US" sz="1000" i="1" dirty="0">
                  <a:solidFill>
                    <a:srgbClr val="2E5BB6"/>
                  </a:solidFill>
                  <a:latin typeface="Arial Narrow" panose="020B0606020202030204" pitchFamily="34" charset="0"/>
                  <a:cs typeface="Calibri" pitchFamily="34" charset="0"/>
                </a:rPr>
                <a:t>value:</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15 sec.</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“Elevator Pitch”</a:t>
              </a:r>
              <a:endParaRPr lang="en-US" sz="1400" dirty="0">
                <a:latin typeface="Arial Narrow" panose="020B0606020202030204" pitchFamily="34" charset="0"/>
              </a:endParaRPr>
            </a:p>
          </p:txBody>
        </p:sp>
      </p:grpSp>
    </p:spTree>
    <p:extLst>
      <p:ext uri="{BB962C8B-B14F-4D97-AF65-F5344CB8AC3E}">
        <p14:creationId xmlns:p14="http://schemas.microsoft.com/office/powerpoint/2010/main" val="3557644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t>Message for </a:t>
            </a:r>
            <a:r>
              <a:rPr lang="en-US" sz="2000" i="1" u="sng" dirty="0"/>
              <a:t>Frustrated Gardeners</a:t>
            </a:r>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We’re on a roll. As we talked about in the course, your elevator pitch does </a:t>
            </a:r>
            <a:r>
              <a:rPr lang="en-US" i="1" dirty="0"/>
              <a:t>not</a:t>
            </a:r>
            <a:r>
              <a:rPr lang="en-US" dirty="0"/>
              <a:t> convince someone to buy all by itself! It makes them willing to hear more. So after they nod, we move to our 1-minute “Support Pitch,” sentences connecting to your audience’s </a:t>
            </a:r>
            <a:r>
              <a:rPr lang="en-US" i="1" dirty="0"/>
              <a:t>next more important</a:t>
            </a:r>
            <a:r>
              <a:rPr lang="en-US" dirty="0"/>
              <a:t> desires. Simple Sprouts’ Frustrated Gardeners cared about three more things: (1) staying clean, (2) eating what they grow and (3) making it easy to eat what they grow. And Simple Sprouts has capabilities — things that make them special — for each desire. See below for three follow-on value statements. You might have more than three. I find 3, 4 or 5 work best. If you have more than 5, you’ll probably feel like you’re giving a lecture. And you — and your audience — won’t like that feeling.</a:t>
            </a:r>
            <a:endParaRPr lang="en-US" i="1" dirty="0"/>
          </a:p>
        </p:txBody>
      </p:sp>
      <p:sp>
        <p:nvSpPr>
          <p:cNvPr id="19" name="Rectangle 18"/>
          <p:cNvSpPr/>
          <p:nvPr/>
        </p:nvSpPr>
        <p:spPr>
          <a:xfrm>
            <a:off x="956743" y="1689062"/>
            <a:ext cx="8016391" cy="518226"/>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You get a gorgeous garden in about </a:t>
            </a:r>
            <a:r>
              <a:rPr lang="en-US" sz="1400" b="1" i="1" u="sng" dirty="0">
                <a:latin typeface="Arial Narrow" panose="020B0606020202030204" pitchFamily="34" charset="0"/>
                <a:cs typeface="Calibri"/>
              </a:rPr>
              <a:t>five minutes</a:t>
            </a:r>
            <a:r>
              <a:rPr lang="en-US" sz="1400" b="1" i="1" dirty="0">
                <a:latin typeface="Arial Narrow" panose="020B0606020202030204" pitchFamily="34" charset="0"/>
                <a:cs typeface="Calibri"/>
              </a:rPr>
              <a:t> because you just drop our pods in the dirt and your plants have everything you need — the seeds, the soil, and even the right fertilizer.  </a:t>
            </a:r>
            <a:endParaRPr lang="en-US" sz="1400" dirty="0">
              <a:latin typeface="Arial Narrow" panose="020B0606020202030204" pitchFamily="34" charset="0"/>
              <a:cs typeface="Calibri"/>
            </a:endParaRPr>
          </a:p>
        </p:txBody>
      </p:sp>
      <p:grpSp>
        <p:nvGrpSpPr>
          <p:cNvPr id="2" name="Group 1">
            <a:extLst>
              <a:ext uri="{FF2B5EF4-FFF2-40B4-BE49-F238E27FC236}">
                <a16:creationId xmlns:a16="http://schemas.microsoft.com/office/drawing/2014/main" id="{D5540D67-3A50-4F03-A4D1-2FE7CEA68406}"/>
              </a:ext>
            </a:extLst>
          </p:cNvPr>
          <p:cNvGrpSpPr/>
          <p:nvPr/>
        </p:nvGrpSpPr>
        <p:grpSpPr>
          <a:xfrm>
            <a:off x="841721" y="2569597"/>
            <a:ext cx="7919505" cy="3253225"/>
            <a:chOff x="279672" y="2156167"/>
            <a:chExt cx="6790600" cy="4120335"/>
          </a:xfrm>
        </p:grpSpPr>
        <p:grpSp>
          <p:nvGrpSpPr>
            <p:cNvPr id="25" name="Group 24"/>
            <p:cNvGrpSpPr/>
            <p:nvPr/>
          </p:nvGrpSpPr>
          <p:grpSpPr>
            <a:xfrm>
              <a:off x="2063158" y="2256653"/>
              <a:ext cx="3344380" cy="4000750"/>
              <a:chOff x="2166316" y="1678825"/>
              <a:chExt cx="3511598" cy="4741781"/>
            </a:xfrm>
          </p:grpSpPr>
          <p:cxnSp>
            <p:nvCxnSpPr>
              <p:cNvPr id="14" name="Straight Connector 13"/>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15" name="Straight Connector 14"/>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16" name="Straight Connector 15"/>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20" name="TextBox 19"/>
            <p:cNvSpPr txBox="1"/>
            <p:nvPr/>
          </p:nvSpPr>
          <p:spPr>
            <a:xfrm>
              <a:off x="459157"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26" name="TextBox 25"/>
            <p:cNvSpPr txBox="1"/>
            <p:nvPr/>
          </p:nvSpPr>
          <p:spPr>
            <a:xfrm>
              <a:off x="279672" y="2156168"/>
              <a:ext cx="1824738" cy="1124126"/>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You won’t even get your hands dirty because </a:t>
              </a:r>
              <a:r>
                <a:rPr lang="en-US" sz="1300" b="1" i="1" kern="0" dirty="0">
                  <a:latin typeface="Arial Narrow" panose="020B0606020202030204" pitchFamily="34" charset="0"/>
                </a:rPr>
                <a:t>everything is inside our clean, biodegradable wrapper</a:t>
              </a:r>
              <a:r>
                <a:rPr lang="en-US" sz="1300" b="1" kern="0" dirty="0">
                  <a:latin typeface="Arial Narrow" panose="020B0606020202030204" pitchFamily="34" charset="0"/>
                </a:rPr>
                <a:t>!</a:t>
              </a:r>
            </a:p>
          </p:txBody>
        </p:sp>
        <p:sp>
          <p:nvSpPr>
            <p:cNvPr id="27" name="TextBox 26"/>
            <p:cNvSpPr txBox="1"/>
            <p:nvPr/>
          </p:nvSpPr>
          <p:spPr>
            <a:xfrm>
              <a:off x="2071309" y="2156168"/>
              <a:ext cx="1685096" cy="1124126"/>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Your garden will make dinners and BBQs tastier and more fun because of our </a:t>
              </a:r>
              <a:r>
                <a:rPr lang="en-US" sz="1300" b="1" i="1" kern="0" dirty="0">
                  <a:latin typeface="Arial Narrow" panose="020B0606020202030204" pitchFamily="34" charset="0"/>
                </a:rPr>
                <a:t>great veggie options</a:t>
              </a:r>
              <a:r>
                <a:rPr lang="en-US" sz="1300" b="1" kern="0" dirty="0">
                  <a:latin typeface="Arial Narrow" panose="020B0606020202030204" pitchFamily="34" charset="0"/>
                </a:rPr>
                <a:t>. </a:t>
              </a:r>
            </a:p>
          </p:txBody>
        </p:sp>
        <p:sp>
          <p:nvSpPr>
            <p:cNvPr id="28" name="TextBox 27"/>
            <p:cNvSpPr txBox="1"/>
            <p:nvPr/>
          </p:nvSpPr>
          <p:spPr>
            <a:xfrm>
              <a:off x="3743476" y="2156167"/>
              <a:ext cx="1654629" cy="1124126"/>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You’ll know what to make with what’s in season because we even send you </a:t>
              </a:r>
              <a:r>
                <a:rPr lang="en-US" sz="1300" b="1" i="1" kern="0" dirty="0">
                  <a:latin typeface="Arial Narrow" panose="020B0606020202030204" pitchFamily="34" charset="0"/>
                </a:rPr>
                <a:t>monthly recipes</a:t>
              </a:r>
              <a:r>
                <a:rPr lang="en-US" sz="1300" b="1" kern="0" dirty="0">
                  <a:latin typeface="Arial Narrow" panose="020B0606020202030204" pitchFamily="34" charset="0"/>
                </a:rPr>
                <a:t>!</a:t>
              </a:r>
            </a:p>
          </p:txBody>
        </p:sp>
        <p:sp>
          <p:nvSpPr>
            <p:cNvPr id="29" name="TextBox 28"/>
            <p:cNvSpPr txBox="1"/>
            <p:nvPr/>
          </p:nvSpPr>
          <p:spPr>
            <a:xfrm>
              <a:off x="5415643" y="2156168"/>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#4</a:t>
              </a:r>
            </a:p>
          </p:txBody>
        </p:sp>
        <p:sp>
          <p:nvSpPr>
            <p:cNvPr id="30" name="TextBox 29">
              <a:extLst>
                <a:ext uri="{FF2B5EF4-FFF2-40B4-BE49-F238E27FC236}">
                  <a16:creationId xmlns:a16="http://schemas.microsoft.com/office/drawing/2014/main" id="{E311AD33-5142-4249-BC59-C4C9743F6BCE}"/>
                </a:ext>
              </a:extLst>
            </p:cNvPr>
            <p:cNvSpPr txBox="1"/>
            <p:nvPr/>
          </p:nvSpPr>
          <p:spPr>
            <a:xfrm>
              <a:off x="2112474"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32" name="TextBox 31">
              <a:extLst>
                <a:ext uri="{FF2B5EF4-FFF2-40B4-BE49-F238E27FC236}">
                  <a16:creationId xmlns:a16="http://schemas.microsoft.com/office/drawing/2014/main" id="{18B8C9BE-B203-4AC1-92EC-B904B99A0EE8}"/>
                </a:ext>
              </a:extLst>
            </p:cNvPr>
            <p:cNvSpPr txBox="1"/>
            <p:nvPr/>
          </p:nvSpPr>
          <p:spPr>
            <a:xfrm>
              <a:off x="3734592"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33" name="TextBox 32">
              <a:extLst>
                <a:ext uri="{FF2B5EF4-FFF2-40B4-BE49-F238E27FC236}">
                  <a16:creationId xmlns:a16="http://schemas.microsoft.com/office/drawing/2014/main" id="{77C9C984-0CB2-47B9-B296-D9DCF7042C45}"/>
                </a:ext>
              </a:extLst>
            </p:cNvPr>
            <p:cNvSpPr txBox="1"/>
            <p:nvPr/>
          </p:nvSpPr>
          <p:spPr>
            <a:xfrm>
              <a:off x="5381724"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grpSp>
      <p:grpSp>
        <p:nvGrpSpPr>
          <p:cNvPr id="53" name="Group 52">
            <a:extLst>
              <a:ext uri="{FF2B5EF4-FFF2-40B4-BE49-F238E27FC236}">
                <a16:creationId xmlns:a16="http://schemas.microsoft.com/office/drawing/2014/main" id="{832D31EC-692B-44F9-B511-E58AD9C2C9A7}"/>
              </a:ext>
            </a:extLst>
          </p:cNvPr>
          <p:cNvGrpSpPr/>
          <p:nvPr/>
        </p:nvGrpSpPr>
        <p:grpSpPr>
          <a:xfrm>
            <a:off x="38773" y="2436541"/>
            <a:ext cx="942195" cy="580144"/>
            <a:chOff x="38773" y="1652184"/>
            <a:chExt cx="942195" cy="884419"/>
          </a:xfrm>
        </p:grpSpPr>
        <p:sp>
          <p:nvSpPr>
            <p:cNvPr id="54" name="Arrow: Pentagon 53">
              <a:extLst>
                <a:ext uri="{FF2B5EF4-FFF2-40B4-BE49-F238E27FC236}">
                  <a16:creationId xmlns:a16="http://schemas.microsoft.com/office/drawing/2014/main" id="{CF278A35-DCAD-4061-82F2-B6EA50D44BEA}"/>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55" name="Rectangle 54">
              <a:extLst>
                <a:ext uri="{FF2B5EF4-FFF2-40B4-BE49-F238E27FC236}">
                  <a16:creationId xmlns:a16="http://schemas.microsoft.com/office/drawing/2014/main" id="{6EDA598A-EB3B-42CF-8375-33AEE56ADDE1}"/>
                </a:ext>
              </a:extLst>
            </p:cNvPr>
            <p:cNvSpPr/>
            <p:nvPr/>
          </p:nvSpPr>
          <p:spPr>
            <a:xfrm>
              <a:off x="38773" y="1652184"/>
              <a:ext cx="883575"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2</a:t>
              </a:r>
              <a:r>
                <a:rPr lang="en-US" sz="1000" baseline="30000" dirty="0">
                  <a:solidFill>
                    <a:srgbClr val="2E5BB6"/>
                  </a:solidFill>
                  <a:latin typeface="Arial Narrow" panose="020B0606020202030204" pitchFamily="34" charset="0"/>
                  <a:cs typeface="Calibri" pitchFamily="34" charset="0"/>
                </a:rPr>
                <a:t>nd</a:t>
              </a:r>
              <a:r>
                <a:rPr lang="en-US" sz="1000" dirty="0">
                  <a:solidFill>
                    <a:srgbClr val="2E5BB6"/>
                  </a:solidFill>
                  <a:latin typeface="Arial Narrow" panose="020B0606020202030204" pitchFamily="34" charset="0"/>
                  <a:cs typeface="Calibri" pitchFamily="34" charset="0"/>
                </a:rPr>
                <a:t> level </a:t>
              </a:r>
              <a:r>
                <a:rPr lang="en-US" sz="1000" i="1" dirty="0">
                  <a:solidFill>
                    <a:srgbClr val="2E5BB6"/>
                  </a:solidFill>
                  <a:latin typeface="Arial Narrow" panose="020B0606020202030204" pitchFamily="34" charset="0"/>
                  <a:cs typeface="Calibri" pitchFamily="34" charset="0"/>
                </a:rPr>
                <a:t>value:</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1 min.</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“Support Pitch”</a:t>
              </a:r>
              <a:endParaRPr lang="en-US" sz="1400" dirty="0">
                <a:latin typeface="Arial Narrow" panose="020B0606020202030204" pitchFamily="34" charset="0"/>
              </a:endParaRPr>
            </a:p>
          </p:txBody>
        </p:sp>
      </p:grpSp>
    </p:spTree>
    <p:extLst>
      <p:ext uri="{BB962C8B-B14F-4D97-AF65-F5344CB8AC3E}">
        <p14:creationId xmlns:p14="http://schemas.microsoft.com/office/powerpoint/2010/main" val="2401657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t>Message for </a:t>
            </a:r>
            <a:r>
              <a:rPr lang="en-US" sz="2000" i="1" u="sng" dirty="0"/>
              <a:t>Frustrated Gardeners</a:t>
            </a:r>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As you saw in the last example, the exact same sentence structure you used for your Elevator Pitch </a:t>
            </a:r>
            <a:r>
              <a:rPr lang="en-US" i="1" dirty="0"/>
              <a:t>(“You get [your desire] because of [our capability]” </a:t>
            </a:r>
            <a:r>
              <a:rPr lang="en-US" dirty="0"/>
              <a:t>) works great for your second-level Support Pitch. But because we write as we talk, you may want to change things up a bit to sound natural, not like a robot. See below for a variation in each of the three Support Pitch sentences. Just jump back and forth between this page and the previous one. The Support Pitch lines say the exact same thing! But by changing the way you say things, you might feel and sound more natural.</a:t>
            </a:r>
            <a:endParaRPr lang="en-US" i="1" dirty="0"/>
          </a:p>
        </p:txBody>
      </p:sp>
      <p:sp>
        <p:nvSpPr>
          <p:cNvPr id="19" name="Rectangle 18"/>
          <p:cNvSpPr/>
          <p:nvPr/>
        </p:nvSpPr>
        <p:spPr>
          <a:xfrm>
            <a:off x="956743" y="1689062"/>
            <a:ext cx="8016391" cy="518226"/>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You get a gorgeous garden in about </a:t>
            </a:r>
            <a:r>
              <a:rPr lang="en-US" sz="1400" b="1" i="1" u="sng" dirty="0">
                <a:latin typeface="Arial Narrow" panose="020B0606020202030204" pitchFamily="34" charset="0"/>
                <a:cs typeface="Calibri"/>
              </a:rPr>
              <a:t>five minutes</a:t>
            </a:r>
            <a:r>
              <a:rPr lang="en-US" sz="1400" b="1" i="1" dirty="0">
                <a:latin typeface="Arial Narrow" panose="020B0606020202030204" pitchFamily="34" charset="0"/>
                <a:cs typeface="Calibri"/>
              </a:rPr>
              <a:t> because you just drop our pods in the dirt and your plants have everything you need — the seeds, the soil, and even the right fertilizer.  </a:t>
            </a:r>
            <a:endParaRPr lang="en-US" sz="1400" dirty="0">
              <a:latin typeface="Arial Narrow" panose="020B0606020202030204" pitchFamily="34" charset="0"/>
              <a:cs typeface="Calibri"/>
            </a:endParaRPr>
          </a:p>
        </p:txBody>
      </p:sp>
      <p:grpSp>
        <p:nvGrpSpPr>
          <p:cNvPr id="2" name="Group 1">
            <a:extLst>
              <a:ext uri="{FF2B5EF4-FFF2-40B4-BE49-F238E27FC236}">
                <a16:creationId xmlns:a16="http://schemas.microsoft.com/office/drawing/2014/main" id="{D5540D67-3A50-4F03-A4D1-2FE7CEA68406}"/>
              </a:ext>
            </a:extLst>
          </p:cNvPr>
          <p:cNvGrpSpPr/>
          <p:nvPr/>
        </p:nvGrpSpPr>
        <p:grpSpPr>
          <a:xfrm>
            <a:off x="916165" y="2569597"/>
            <a:ext cx="7887173" cy="3253225"/>
            <a:chOff x="307395" y="2156167"/>
            <a:chExt cx="6762877" cy="4120335"/>
          </a:xfrm>
        </p:grpSpPr>
        <p:grpSp>
          <p:nvGrpSpPr>
            <p:cNvPr id="25" name="Group 24"/>
            <p:cNvGrpSpPr/>
            <p:nvPr/>
          </p:nvGrpSpPr>
          <p:grpSpPr>
            <a:xfrm>
              <a:off x="2063158" y="2256653"/>
              <a:ext cx="3344380" cy="4000750"/>
              <a:chOff x="2166316" y="1678825"/>
              <a:chExt cx="3511598" cy="4741781"/>
            </a:xfrm>
          </p:grpSpPr>
          <p:cxnSp>
            <p:nvCxnSpPr>
              <p:cNvPr id="14" name="Straight Connector 13"/>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15" name="Straight Connector 14"/>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16" name="Straight Connector 15"/>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20" name="TextBox 19"/>
            <p:cNvSpPr txBox="1"/>
            <p:nvPr/>
          </p:nvSpPr>
          <p:spPr>
            <a:xfrm>
              <a:off x="459157"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26" name="TextBox 25"/>
            <p:cNvSpPr txBox="1"/>
            <p:nvPr/>
          </p:nvSpPr>
          <p:spPr>
            <a:xfrm>
              <a:off x="307395" y="2156168"/>
              <a:ext cx="1797014" cy="1124126"/>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Because </a:t>
              </a:r>
              <a:r>
                <a:rPr lang="en-US" sz="1300" b="1" i="1" kern="0" dirty="0">
                  <a:latin typeface="Arial Narrow" panose="020B0606020202030204" pitchFamily="34" charset="0"/>
                </a:rPr>
                <a:t>everything is inside our clean, biodegradable wrapper, y</a:t>
              </a:r>
              <a:r>
                <a:rPr lang="en-US" sz="1300" b="1" kern="0" dirty="0">
                  <a:latin typeface="Arial Narrow" panose="020B0606020202030204" pitchFamily="34" charset="0"/>
                </a:rPr>
                <a:t>ou won’t even get your hands dirty !</a:t>
              </a:r>
            </a:p>
          </p:txBody>
        </p:sp>
        <p:sp>
          <p:nvSpPr>
            <p:cNvPr id="27" name="TextBox 26"/>
            <p:cNvSpPr txBox="1"/>
            <p:nvPr/>
          </p:nvSpPr>
          <p:spPr>
            <a:xfrm>
              <a:off x="2071309" y="2156168"/>
              <a:ext cx="1685096" cy="1124126"/>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We have </a:t>
              </a:r>
              <a:r>
                <a:rPr lang="en-US" sz="1300" b="1" i="1" kern="0" dirty="0">
                  <a:latin typeface="Arial Narrow" panose="020B0606020202030204" pitchFamily="34" charset="0"/>
                </a:rPr>
                <a:t>great veggie options, </a:t>
              </a:r>
              <a:r>
                <a:rPr lang="en-US" sz="1300" b="1" kern="0" dirty="0">
                  <a:latin typeface="Arial Narrow" panose="020B0606020202030204" pitchFamily="34" charset="0"/>
                </a:rPr>
                <a:t>so your garden will make dinners and BBQs tastier and more fun. </a:t>
              </a:r>
            </a:p>
          </p:txBody>
        </p:sp>
        <p:sp>
          <p:nvSpPr>
            <p:cNvPr id="28" name="TextBox 27"/>
            <p:cNvSpPr txBox="1"/>
            <p:nvPr/>
          </p:nvSpPr>
          <p:spPr>
            <a:xfrm>
              <a:off x="3743476" y="2156167"/>
              <a:ext cx="1654629" cy="1124126"/>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We even send you </a:t>
              </a:r>
              <a:r>
                <a:rPr lang="en-US" sz="1300" b="1" i="1" kern="0" dirty="0">
                  <a:latin typeface="Arial Narrow" panose="020B0606020202030204" pitchFamily="34" charset="0"/>
                </a:rPr>
                <a:t>month recipes, </a:t>
              </a:r>
              <a:r>
                <a:rPr lang="en-US" sz="1300" b="1" kern="0" dirty="0">
                  <a:latin typeface="Arial Narrow" panose="020B0606020202030204" pitchFamily="34" charset="0"/>
                </a:rPr>
                <a:t>so you’ll know what to make with what’s in season!</a:t>
              </a:r>
            </a:p>
          </p:txBody>
        </p:sp>
        <p:sp>
          <p:nvSpPr>
            <p:cNvPr id="29" name="TextBox 28"/>
            <p:cNvSpPr txBox="1"/>
            <p:nvPr/>
          </p:nvSpPr>
          <p:spPr>
            <a:xfrm>
              <a:off x="5415643" y="2156168"/>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#4</a:t>
              </a:r>
            </a:p>
          </p:txBody>
        </p:sp>
        <p:sp>
          <p:nvSpPr>
            <p:cNvPr id="30" name="TextBox 29">
              <a:extLst>
                <a:ext uri="{FF2B5EF4-FFF2-40B4-BE49-F238E27FC236}">
                  <a16:creationId xmlns:a16="http://schemas.microsoft.com/office/drawing/2014/main" id="{E311AD33-5142-4249-BC59-C4C9743F6BCE}"/>
                </a:ext>
              </a:extLst>
            </p:cNvPr>
            <p:cNvSpPr txBox="1"/>
            <p:nvPr/>
          </p:nvSpPr>
          <p:spPr>
            <a:xfrm>
              <a:off x="2112474"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32" name="TextBox 31">
              <a:extLst>
                <a:ext uri="{FF2B5EF4-FFF2-40B4-BE49-F238E27FC236}">
                  <a16:creationId xmlns:a16="http://schemas.microsoft.com/office/drawing/2014/main" id="{18B8C9BE-B203-4AC1-92EC-B904B99A0EE8}"/>
                </a:ext>
              </a:extLst>
            </p:cNvPr>
            <p:cNvSpPr txBox="1"/>
            <p:nvPr/>
          </p:nvSpPr>
          <p:spPr>
            <a:xfrm>
              <a:off x="3734592"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33" name="TextBox 32">
              <a:extLst>
                <a:ext uri="{FF2B5EF4-FFF2-40B4-BE49-F238E27FC236}">
                  <a16:creationId xmlns:a16="http://schemas.microsoft.com/office/drawing/2014/main" id="{77C9C984-0CB2-47B9-B296-D9DCF7042C45}"/>
                </a:ext>
              </a:extLst>
            </p:cNvPr>
            <p:cNvSpPr txBox="1"/>
            <p:nvPr/>
          </p:nvSpPr>
          <p:spPr>
            <a:xfrm>
              <a:off x="5381724"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grpSp>
      <p:grpSp>
        <p:nvGrpSpPr>
          <p:cNvPr id="31" name="Group 30">
            <a:extLst>
              <a:ext uri="{FF2B5EF4-FFF2-40B4-BE49-F238E27FC236}">
                <a16:creationId xmlns:a16="http://schemas.microsoft.com/office/drawing/2014/main" id="{5346902A-76EF-47F9-9C5E-4CB26DE7DB48}"/>
              </a:ext>
            </a:extLst>
          </p:cNvPr>
          <p:cNvGrpSpPr/>
          <p:nvPr/>
        </p:nvGrpSpPr>
        <p:grpSpPr>
          <a:xfrm>
            <a:off x="38773" y="2436541"/>
            <a:ext cx="942195" cy="580144"/>
            <a:chOff x="38773" y="1652184"/>
            <a:chExt cx="942195" cy="884419"/>
          </a:xfrm>
        </p:grpSpPr>
        <p:sp>
          <p:nvSpPr>
            <p:cNvPr id="34" name="Arrow: Pentagon 33">
              <a:extLst>
                <a:ext uri="{FF2B5EF4-FFF2-40B4-BE49-F238E27FC236}">
                  <a16:creationId xmlns:a16="http://schemas.microsoft.com/office/drawing/2014/main" id="{9B36470D-47D9-4805-99C2-769D10D599EC}"/>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37" name="Rectangle 36">
              <a:extLst>
                <a:ext uri="{FF2B5EF4-FFF2-40B4-BE49-F238E27FC236}">
                  <a16:creationId xmlns:a16="http://schemas.microsoft.com/office/drawing/2014/main" id="{3C1CE7C1-D08B-4F6B-8BFA-4F6E041E8EE4}"/>
                </a:ext>
              </a:extLst>
            </p:cNvPr>
            <p:cNvSpPr/>
            <p:nvPr/>
          </p:nvSpPr>
          <p:spPr>
            <a:xfrm>
              <a:off x="38773" y="1652184"/>
              <a:ext cx="883575"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2</a:t>
              </a:r>
              <a:r>
                <a:rPr lang="en-US" sz="1000" baseline="30000" dirty="0">
                  <a:solidFill>
                    <a:srgbClr val="2E5BB6"/>
                  </a:solidFill>
                  <a:latin typeface="Arial Narrow" panose="020B0606020202030204" pitchFamily="34" charset="0"/>
                  <a:cs typeface="Calibri" pitchFamily="34" charset="0"/>
                </a:rPr>
                <a:t>nd</a:t>
              </a:r>
              <a:r>
                <a:rPr lang="en-US" sz="1000" dirty="0">
                  <a:solidFill>
                    <a:srgbClr val="2E5BB6"/>
                  </a:solidFill>
                  <a:latin typeface="Arial Narrow" panose="020B0606020202030204" pitchFamily="34" charset="0"/>
                  <a:cs typeface="Calibri" pitchFamily="34" charset="0"/>
                </a:rPr>
                <a:t> level </a:t>
              </a:r>
              <a:r>
                <a:rPr lang="en-US" sz="1000" i="1" dirty="0">
                  <a:solidFill>
                    <a:srgbClr val="2E5BB6"/>
                  </a:solidFill>
                  <a:latin typeface="Arial Narrow" panose="020B0606020202030204" pitchFamily="34" charset="0"/>
                  <a:cs typeface="Calibri" pitchFamily="34" charset="0"/>
                </a:rPr>
                <a:t>value:</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1 min.</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“Support Pitch”</a:t>
              </a:r>
              <a:endParaRPr lang="en-US" sz="1400" dirty="0">
                <a:latin typeface="Arial Narrow" panose="020B0606020202030204" pitchFamily="34" charset="0"/>
              </a:endParaRPr>
            </a:p>
          </p:txBody>
        </p:sp>
      </p:grpSp>
    </p:spTree>
    <p:extLst>
      <p:ext uri="{BB962C8B-B14F-4D97-AF65-F5344CB8AC3E}">
        <p14:creationId xmlns:p14="http://schemas.microsoft.com/office/powerpoint/2010/main" val="83153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solidFill>
                  <a:schemeClr val="tx1">
                    <a:lumMod val="40000"/>
                    <a:lumOff val="60000"/>
                  </a:schemeClr>
                </a:solidFill>
              </a:rPr>
              <a:t>Message for ___________________________</a:t>
            </a:r>
            <a:endParaRPr lang="en-US" sz="2000" i="1" u="sng" dirty="0">
              <a:solidFill>
                <a:schemeClr val="tx1">
                  <a:lumMod val="40000"/>
                  <a:lumOff val="60000"/>
                </a:schemeClr>
              </a:solidFill>
            </a:endParaRPr>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Your turn. You have your audience and Elevator Pitch, so the next level turns your 15-second Elevator Pitch into a 1-minute Support Pitch. As you know from the course, these are simply new sentences representing the </a:t>
            </a:r>
            <a:r>
              <a:rPr lang="en-US" i="1" dirty="0"/>
              <a:t>additional</a:t>
            </a:r>
            <a:r>
              <a:rPr lang="en-US" dirty="0"/>
              <a:t> lines you drew from your audience’s </a:t>
            </a:r>
            <a:r>
              <a:rPr lang="en-US" i="1" dirty="0"/>
              <a:t>next-priority desires </a:t>
            </a:r>
            <a:r>
              <a:rPr lang="en-US" dirty="0"/>
              <a:t>to things you do </a:t>
            </a:r>
            <a:r>
              <a:rPr lang="en-US" i="1" dirty="0"/>
              <a:t>to satisfy those desires.</a:t>
            </a:r>
            <a:r>
              <a:rPr lang="en-US" dirty="0"/>
              <a:t> If you’re struggling with what your audience wants, typical desires include: Can you save me money? Or time? Can you make it easy? If there’s a problem, will you make it right? Your Support Pitch doesn’t have to be exactly 1 minute. You just want three, four or even five value statements … and saying those will usually take about a minute. As you write your value statements, it’s helpful to remember: </a:t>
            </a:r>
            <a:r>
              <a:rPr lang="en-US" i="1" dirty="0"/>
              <a:t>each one </a:t>
            </a:r>
            <a:r>
              <a:rPr lang="en-US" i="1" u="sng" dirty="0"/>
              <a:t>could</a:t>
            </a:r>
            <a:r>
              <a:rPr lang="en-US" i="1" dirty="0"/>
              <a:t> have been the elevator pitch, </a:t>
            </a:r>
            <a:r>
              <a:rPr lang="en-US" i="1" u="sng" dirty="0"/>
              <a:t>if</a:t>
            </a:r>
            <a:r>
              <a:rPr lang="en-US" i="1" dirty="0"/>
              <a:t> you believed it represented the #1 desire of your audience!</a:t>
            </a:r>
            <a:endParaRPr lang="en-US" dirty="0"/>
          </a:p>
        </p:txBody>
      </p:sp>
      <p:grpSp>
        <p:nvGrpSpPr>
          <p:cNvPr id="37" name="Group 36">
            <a:extLst>
              <a:ext uri="{FF2B5EF4-FFF2-40B4-BE49-F238E27FC236}">
                <a16:creationId xmlns:a16="http://schemas.microsoft.com/office/drawing/2014/main" id="{272F9933-68D6-4D3E-A28C-9556015C826E}"/>
              </a:ext>
            </a:extLst>
          </p:cNvPr>
          <p:cNvGrpSpPr/>
          <p:nvPr/>
        </p:nvGrpSpPr>
        <p:grpSpPr>
          <a:xfrm>
            <a:off x="885273" y="2569598"/>
            <a:ext cx="8081095" cy="3238144"/>
            <a:chOff x="393237" y="2156168"/>
            <a:chExt cx="6771624" cy="4101235"/>
          </a:xfrm>
        </p:grpSpPr>
        <p:grpSp>
          <p:nvGrpSpPr>
            <p:cNvPr id="38" name="Group 37">
              <a:extLst>
                <a:ext uri="{FF2B5EF4-FFF2-40B4-BE49-F238E27FC236}">
                  <a16:creationId xmlns:a16="http://schemas.microsoft.com/office/drawing/2014/main" id="{D393771A-9CA5-4747-A54D-23AA240EC67E}"/>
                </a:ext>
              </a:extLst>
            </p:cNvPr>
            <p:cNvGrpSpPr/>
            <p:nvPr/>
          </p:nvGrpSpPr>
          <p:grpSpPr>
            <a:xfrm>
              <a:off x="2063158" y="2256653"/>
              <a:ext cx="3344380" cy="4000750"/>
              <a:chOff x="2166316" y="1678825"/>
              <a:chExt cx="3511598" cy="4741781"/>
            </a:xfrm>
          </p:grpSpPr>
          <p:cxnSp>
            <p:nvCxnSpPr>
              <p:cNvPr id="47" name="Straight Connector 46">
                <a:extLst>
                  <a:ext uri="{FF2B5EF4-FFF2-40B4-BE49-F238E27FC236}">
                    <a16:creationId xmlns:a16="http://schemas.microsoft.com/office/drawing/2014/main" id="{5EF21557-03CF-46B7-881A-5702D32C3B05}"/>
                  </a:ext>
                </a:extLst>
              </p:cNvPr>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48" name="Straight Connector 47">
                <a:extLst>
                  <a:ext uri="{FF2B5EF4-FFF2-40B4-BE49-F238E27FC236}">
                    <a16:creationId xmlns:a16="http://schemas.microsoft.com/office/drawing/2014/main" id="{402011B9-4786-466E-BE1E-EF7630804862}"/>
                  </a:ext>
                </a:extLst>
              </p:cNvPr>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49" name="Straight Connector 48">
                <a:extLst>
                  <a:ext uri="{FF2B5EF4-FFF2-40B4-BE49-F238E27FC236}">
                    <a16:creationId xmlns:a16="http://schemas.microsoft.com/office/drawing/2014/main" id="{E4ED9F16-1F77-4179-83DC-58045086EB53}"/>
                  </a:ext>
                </a:extLst>
              </p:cNvPr>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39" name="TextBox 38">
              <a:extLst>
                <a:ext uri="{FF2B5EF4-FFF2-40B4-BE49-F238E27FC236}">
                  <a16:creationId xmlns:a16="http://schemas.microsoft.com/office/drawing/2014/main" id="{DD1F3DCF-91D0-4D2E-829B-8D3F74A868B0}"/>
                </a:ext>
              </a:extLst>
            </p:cNvPr>
            <p:cNvSpPr txBox="1"/>
            <p:nvPr/>
          </p:nvSpPr>
          <p:spPr>
            <a:xfrm>
              <a:off x="459157"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0" name="TextBox 39">
              <a:extLst>
                <a:ext uri="{FF2B5EF4-FFF2-40B4-BE49-F238E27FC236}">
                  <a16:creationId xmlns:a16="http://schemas.microsoft.com/office/drawing/2014/main" id="{B3489029-46B7-46F5-8522-39FB5D6A407A}"/>
                </a:ext>
              </a:extLst>
            </p:cNvPr>
            <p:cNvSpPr txBox="1"/>
            <p:nvPr/>
          </p:nvSpPr>
          <p:spPr>
            <a:xfrm>
              <a:off x="393237" y="2156168"/>
              <a:ext cx="1660536" cy="870749"/>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p:txBody>
        </p:sp>
        <p:sp>
          <p:nvSpPr>
            <p:cNvPr id="44" name="TextBox 43">
              <a:extLst>
                <a:ext uri="{FF2B5EF4-FFF2-40B4-BE49-F238E27FC236}">
                  <a16:creationId xmlns:a16="http://schemas.microsoft.com/office/drawing/2014/main" id="{0957CF41-54C2-4125-8300-FFF058C213EC}"/>
                </a:ext>
              </a:extLst>
            </p:cNvPr>
            <p:cNvSpPr txBox="1"/>
            <p:nvPr/>
          </p:nvSpPr>
          <p:spPr>
            <a:xfrm>
              <a:off x="211247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5" name="TextBox 44">
              <a:extLst>
                <a:ext uri="{FF2B5EF4-FFF2-40B4-BE49-F238E27FC236}">
                  <a16:creationId xmlns:a16="http://schemas.microsoft.com/office/drawing/2014/main" id="{9E759B02-C594-48EB-BD84-5E99C2060BC9}"/>
                </a:ext>
              </a:extLst>
            </p:cNvPr>
            <p:cNvSpPr txBox="1"/>
            <p:nvPr/>
          </p:nvSpPr>
          <p:spPr>
            <a:xfrm>
              <a:off x="3734592"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46" name="TextBox 45">
              <a:extLst>
                <a:ext uri="{FF2B5EF4-FFF2-40B4-BE49-F238E27FC236}">
                  <a16:creationId xmlns:a16="http://schemas.microsoft.com/office/drawing/2014/main" id="{9A37502F-38A6-4265-81D0-886C528CD66A}"/>
                </a:ext>
              </a:extLst>
            </p:cNvPr>
            <p:cNvSpPr txBox="1"/>
            <p:nvPr/>
          </p:nvSpPr>
          <p:spPr>
            <a:xfrm>
              <a:off x="538172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sp>
          <p:nvSpPr>
            <p:cNvPr id="53" name="TextBox 52">
              <a:extLst>
                <a:ext uri="{FF2B5EF4-FFF2-40B4-BE49-F238E27FC236}">
                  <a16:creationId xmlns:a16="http://schemas.microsoft.com/office/drawing/2014/main" id="{4B3AD658-8D82-4F49-943E-D4371004AC17}"/>
                </a:ext>
              </a:extLst>
            </p:cNvPr>
            <p:cNvSpPr txBox="1"/>
            <p:nvPr/>
          </p:nvSpPr>
          <p:spPr>
            <a:xfrm>
              <a:off x="2018214" y="2156168"/>
              <a:ext cx="1783137" cy="870749"/>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p:txBody>
        </p:sp>
        <p:sp>
          <p:nvSpPr>
            <p:cNvPr id="54" name="TextBox 53">
              <a:extLst>
                <a:ext uri="{FF2B5EF4-FFF2-40B4-BE49-F238E27FC236}">
                  <a16:creationId xmlns:a16="http://schemas.microsoft.com/office/drawing/2014/main" id="{B9A54323-B2EF-4240-B4D7-7BBE532994C6}"/>
                </a:ext>
              </a:extLst>
            </p:cNvPr>
            <p:cNvSpPr txBox="1"/>
            <p:nvPr/>
          </p:nvSpPr>
          <p:spPr>
            <a:xfrm>
              <a:off x="3640332" y="2156168"/>
              <a:ext cx="1783137" cy="870749"/>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p:txBody>
        </p:sp>
        <p:sp>
          <p:nvSpPr>
            <p:cNvPr id="55" name="TextBox 54">
              <a:extLst>
                <a:ext uri="{FF2B5EF4-FFF2-40B4-BE49-F238E27FC236}">
                  <a16:creationId xmlns:a16="http://schemas.microsoft.com/office/drawing/2014/main" id="{C258F75D-4555-46E3-AD17-E547008E1841}"/>
                </a:ext>
              </a:extLst>
            </p:cNvPr>
            <p:cNvSpPr txBox="1"/>
            <p:nvPr/>
          </p:nvSpPr>
          <p:spPr>
            <a:xfrm>
              <a:off x="5381724" y="2156168"/>
              <a:ext cx="1783137" cy="870749"/>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p:txBody>
        </p:sp>
      </p:grpSp>
      <p:sp>
        <p:nvSpPr>
          <p:cNvPr id="56" name="Rectangle 55">
            <a:extLst>
              <a:ext uri="{FF2B5EF4-FFF2-40B4-BE49-F238E27FC236}">
                <a16:creationId xmlns:a16="http://schemas.microsoft.com/office/drawing/2014/main" id="{9553A0E4-C519-4688-9FBF-98D3C60EA9CE}"/>
              </a:ext>
            </a:extLst>
          </p:cNvPr>
          <p:cNvSpPr/>
          <p:nvPr/>
        </p:nvSpPr>
        <p:spPr>
          <a:xfrm>
            <a:off x="1015409" y="1601475"/>
            <a:ext cx="7792923" cy="819847"/>
          </a:xfrm>
          <a:prstGeom prst="rect">
            <a:avLst/>
          </a:prstGeom>
        </p:spPr>
        <p:txBody>
          <a:bodyPr wrap="square" lIns="86493" tIns="43247" rIns="86493" bIns="43247">
            <a:spAutoFit/>
          </a:bodyPr>
          <a:lstStyle/>
          <a:p>
            <a:pPr algn="l">
              <a:spcAft>
                <a:spcPct val="20000"/>
              </a:spcAft>
              <a:defRPr/>
            </a:pPr>
            <a:r>
              <a:rPr lang="en-US" sz="1400" b="1" i="1" dirty="0">
                <a:solidFill>
                  <a:schemeClr val="tx1">
                    <a:lumMod val="40000"/>
                    <a:lumOff val="60000"/>
                  </a:schemeClr>
                </a:solidFill>
                <a:latin typeface="Arial Narrow" panose="020B0606020202030204" pitchFamily="34" charset="0"/>
                <a:cs typeface="Calibri"/>
              </a:rPr>
              <a:t>_____________________________________________________________________________________________</a:t>
            </a:r>
          </a:p>
          <a:p>
            <a:pPr algn="l">
              <a:spcAft>
                <a:spcPct val="20000"/>
              </a:spcAft>
              <a:defRPr/>
            </a:pPr>
            <a:r>
              <a:rPr lang="en-US" sz="1400" b="1" i="1" dirty="0">
                <a:solidFill>
                  <a:schemeClr val="tx1">
                    <a:lumMod val="40000"/>
                    <a:lumOff val="60000"/>
                  </a:schemeClr>
                </a:solidFill>
                <a:latin typeface="Arial Narrow" panose="020B0606020202030204" pitchFamily="34" charset="0"/>
                <a:cs typeface="Calibri"/>
              </a:rPr>
              <a:t>_____________________________________________________________________________________________</a:t>
            </a:r>
          </a:p>
          <a:p>
            <a:pPr algn="l">
              <a:spcAft>
                <a:spcPct val="20000"/>
              </a:spcAft>
              <a:defRPr/>
            </a:pPr>
            <a:r>
              <a:rPr lang="en-US" sz="1400" b="1" i="1" dirty="0">
                <a:solidFill>
                  <a:schemeClr val="tx1">
                    <a:lumMod val="40000"/>
                    <a:lumOff val="60000"/>
                  </a:schemeClr>
                </a:solidFill>
                <a:latin typeface="Arial Narrow" panose="020B0606020202030204" pitchFamily="34" charset="0"/>
                <a:cs typeface="Calibri"/>
              </a:rPr>
              <a:t>_____________________________________________________________________________________________</a:t>
            </a:r>
            <a:endParaRPr lang="en-US" sz="1400" dirty="0">
              <a:solidFill>
                <a:schemeClr val="tx1">
                  <a:lumMod val="40000"/>
                  <a:lumOff val="60000"/>
                </a:schemeClr>
              </a:solidFill>
              <a:latin typeface="Arial Narrow" panose="020B0606020202030204" pitchFamily="34" charset="0"/>
              <a:cs typeface="Calibri"/>
            </a:endParaRPr>
          </a:p>
        </p:txBody>
      </p:sp>
      <p:grpSp>
        <p:nvGrpSpPr>
          <p:cNvPr id="60" name="Group 59">
            <a:extLst>
              <a:ext uri="{FF2B5EF4-FFF2-40B4-BE49-F238E27FC236}">
                <a16:creationId xmlns:a16="http://schemas.microsoft.com/office/drawing/2014/main" id="{5E4F68D5-96DE-4785-804E-2A99307E859C}"/>
              </a:ext>
            </a:extLst>
          </p:cNvPr>
          <p:cNvGrpSpPr/>
          <p:nvPr/>
        </p:nvGrpSpPr>
        <p:grpSpPr>
          <a:xfrm>
            <a:off x="38773" y="2496701"/>
            <a:ext cx="942195" cy="580144"/>
            <a:chOff x="38773" y="1652184"/>
            <a:chExt cx="942195" cy="884419"/>
          </a:xfrm>
        </p:grpSpPr>
        <p:sp>
          <p:nvSpPr>
            <p:cNvPr id="61" name="Arrow: Pentagon 60">
              <a:extLst>
                <a:ext uri="{FF2B5EF4-FFF2-40B4-BE49-F238E27FC236}">
                  <a16:creationId xmlns:a16="http://schemas.microsoft.com/office/drawing/2014/main" id="{29A4A87D-0CE9-4CD6-B2F3-382B88A1EFC3}"/>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62" name="Rectangle 61">
              <a:extLst>
                <a:ext uri="{FF2B5EF4-FFF2-40B4-BE49-F238E27FC236}">
                  <a16:creationId xmlns:a16="http://schemas.microsoft.com/office/drawing/2014/main" id="{EC606850-5B43-44C8-9EC6-6B22344B0523}"/>
                </a:ext>
              </a:extLst>
            </p:cNvPr>
            <p:cNvSpPr/>
            <p:nvPr/>
          </p:nvSpPr>
          <p:spPr>
            <a:xfrm>
              <a:off x="38773" y="1652184"/>
              <a:ext cx="883575"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2</a:t>
              </a:r>
              <a:r>
                <a:rPr lang="en-US" sz="1000" baseline="30000" dirty="0">
                  <a:solidFill>
                    <a:srgbClr val="2E5BB6"/>
                  </a:solidFill>
                  <a:latin typeface="Arial Narrow" panose="020B0606020202030204" pitchFamily="34" charset="0"/>
                  <a:cs typeface="Calibri" pitchFamily="34" charset="0"/>
                </a:rPr>
                <a:t>nd</a:t>
              </a:r>
              <a:r>
                <a:rPr lang="en-US" sz="1000" dirty="0">
                  <a:solidFill>
                    <a:srgbClr val="2E5BB6"/>
                  </a:solidFill>
                  <a:latin typeface="Arial Narrow" panose="020B0606020202030204" pitchFamily="34" charset="0"/>
                  <a:cs typeface="Calibri" pitchFamily="34" charset="0"/>
                </a:rPr>
                <a:t> level </a:t>
              </a:r>
              <a:r>
                <a:rPr lang="en-US" sz="1000" i="1" dirty="0">
                  <a:solidFill>
                    <a:srgbClr val="2E5BB6"/>
                  </a:solidFill>
                  <a:latin typeface="Arial Narrow" panose="020B0606020202030204" pitchFamily="34" charset="0"/>
                  <a:cs typeface="Calibri" pitchFamily="34" charset="0"/>
                </a:rPr>
                <a:t>value:</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1 min.</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“Support Pitch”</a:t>
              </a:r>
              <a:endParaRPr lang="en-US" sz="1400" dirty="0">
                <a:latin typeface="Arial Narrow" panose="020B0606020202030204" pitchFamily="34" charset="0"/>
              </a:endParaRPr>
            </a:p>
          </p:txBody>
        </p:sp>
      </p:grpSp>
    </p:spTree>
    <p:extLst>
      <p:ext uri="{BB962C8B-B14F-4D97-AF65-F5344CB8AC3E}">
        <p14:creationId xmlns:p14="http://schemas.microsoft.com/office/powerpoint/2010/main" val="1333151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t>Message for </a:t>
            </a:r>
            <a:r>
              <a:rPr lang="en-US" sz="2000" i="1" u="sng" dirty="0"/>
              <a:t>Frustrated Gardeners</a:t>
            </a:r>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You’re almost done. We just want to be ready for any question that comes up. And having our entire story on one page is incredibly handy for us and extremely helpful if we need to train someone else to use the story. So let’s add the details </a:t>
            </a:r>
            <a:r>
              <a:rPr lang="en-US" i="1" dirty="0"/>
              <a:t>that prove our value statements.</a:t>
            </a:r>
            <a:r>
              <a:rPr lang="en-US" dirty="0"/>
              <a:t> Here’s where you’ll be so much better off than other people: most people </a:t>
            </a:r>
            <a:r>
              <a:rPr lang="en-US" i="1" dirty="0"/>
              <a:t>start</a:t>
            </a:r>
            <a:r>
              <a:rPr lang="en-US" dirty="0"/>
              <a:t> with these details — and no audience cares about details until they believe you can make their life better! Your story is better than that. You’ll start with value, get their head nodding, and add details later. If you’re not sure what to write, I like to think of the “details” as answers to audience questions like, “That last thing you said is interesting. Can you tell me more about it?” For our example below, we’ll return to our friends at Simple Sprouts.</a:t>
            </a:r>
          </a:p>
        </p:txBody>
      </p:sp>
      <p:sp>
        <p:nvSpPr>
          <p:cNvPr id="19" name="Rectangle 18"/>
          <p:cNvSpPr/>
          <p:nvPr/>
        </p:nvSpPr>
        <p:spPr>
          <a:xfrm>
            <a:off x="954409" y="1689062"/>
            <a:ext cx="8018726" cy="518226"/>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You get a gorgeous garden in about </a:t>
            </a:r>
            <a:r>
              <a:rPr lang="en-US" sz="1400" b="1" i="1" u="sng" dirty="0">
                <a:latin typeface="Arial Narrow" panose="020B0606020202030204" pitchFamily="34" charset="0"/>
                <a:cs typeface="Calibri"/>
              </a:rPr>
              <a:t>five minutes</a:t>
            </a:r>
            <a:r>
              <a:rPr lang="en-US" sz="1400" b="1" i="1" dirty="0">
                <a:latin typeface="Arial Narrow" panose="020B0606020202030204" pitchFamily="34" charset="0"/>
                <a:cs typeface="Calibri"/>
              </a:rPr>
              <a:t> because you just drop our pods in the dirt and your plants have everything you need — the seeds, the soil, and even the right fertilizer.  </a:t>
            </a:r>
            <a:endParaRPr lang="en-US" sz="1400" dirty="0">
              <a:latin typeface="Arial Narrow" panose="020B0606020202030204" pitchFamily="34" charset="0"/>
              <a:cs typeface="Calibri"/>
            </a:endParaRPr>
          </a:p>
        </p:txBody>
      </p:sp>
      <p:grpSp>
        <p:nvGrpSpPr>
          <p:cNvPr id="2" name="Group 1">
            <a:extLst>
              <a:ext uri="{FF2B5EF4-FFF2-40B4-BE49-F238E27FC236}">
                <a16:creationId xmlns:a16="http://schemas.microsoft.com/office/drawing/2014/main" id="{D5540D67-3A50-4F03-A4D1-2FE7CEA68406}"/>
              </a:ext>
            </a:extLst>
          </p:cNvPr>
          <p:cNvGrpSpPr/>
          <p:nvPr/>
        </p:nvGrpSpPr>
        <p:grpSpPr>
          <a:xfrm>
            <a:off x="834640" y="2569597"/>
            <a:ext cx="7926586" cy="3553307"/>
            <a:chOff x="273600" y="2156167"/>
            <a:chExt cx="6796672" cy="4500401"/>
          </a:xfrm>
        </p:grpSpPr>
        <p:grpSp>
          <p:nvGrpSpPr>
            <p:cNvPr id="25" name="Group 24"/>
            <p:cNvGrpSpPr/>
            <p:nvPr/>
          </p:nvGrpSpPr>
          <p:grpSpPr>
            <a:xfrm>
              <a:off x="2063160" y="2256651"/>
              <a:ext cx="3344376" cy="4169246"/>
              <a:chOff x="2166318" y="1678816"/>
              <a:chExt cx="3511594" cy="4941465"/>
            </a:xfrm>
          </p:grpSpPr>
          <p:cxnSp>
            <p:nvCxnSpPr>
              <p:cNvPr id="14" name="Straight Connector 13"/>
              <p:cNvCxnSpPr>
                <a:cxnSpLocks/>
              </p:cNvCxnSpPr>
              <p:nvPr/>
            </p:nvCxnSpPr>
            <p:spPr bwMode="auto">
              <a:xfrm rot="5400000">
                <a:off x="-303620" y="4148756"/>
                <a:ext cx="4941463"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15" name="Straight Connector 14"/>
              <p:cNvCxnSpPr>
                <a:cxnSpLocks/>
              </p:cNvCxnSpPr>
              <p:nvPr/>
            </p:nvCxnSpPr>
            <p:spPr bwMode="auto">
              <a:xfrm rot="5400000">
                <a:off x="1451384" y="4148753"/>
                <a:ext cx="4941462"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16" name="Straight Connector 15"/>
              <p:cNvCxnSpPr>
                <a:cxnSpLocks/>
              </p:cNvCxnSpPr>
              <p:nvPr/>
            </p:nvCxnSpPr>
            <p:spPr bwMode="auto">
              <a:xfrm rot="5400000">
                <a:off x="3206397" y="4148743"/>
                <a:ext cx="4941442"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20" name="TextBox 19"/>
            <p:cNvSpPr txBox="1"/>
            <p:nvPr/>
          </p:nvSpPr>
          <p:spPr>
            <a:xfrm>
              <a:off x="459157" y="3768547"/>
              <a:ext cx="1633017" cy="2888021"/>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Pod contains seeds, soil, and fertilizer</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Works in the ground or in a pot</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A paper wrapper keeps your hands from touching the dirt</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Wrapper is biodegradable, so you help the Earth while growing a garden</a:t>
              </a:r>
            </a:p>
          </p:txBody>
        </p:sp>
        <p:sp>
          <p:nvSpPr>
            <p:cNvPr id="26" name="TextBox 25"/>
            <p:cNvSpPr txBox="1"/>
            <p:nvPr/>
          </p:nvSpPr>
          <p:spPr>
            <a:xfrm>
              <a:off x="273600" y="2156168"/>
              <a:ext cx="1830810" cy="1124126"/>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You won’t even get your hands dirty because </a:t>
              </a:r>
              <a:r>
                <a:rPr lang="en-US" sz="1300" b="1" i="1" kern="0" dirty="0">
                  <a:latin typeface="Arial Narrow" panose="020B0606020202030204" pitchFamily="34" charset="0"/>
                </a:rPr>
                <a:t>everything is inside our clean, biodegradable wrapper</a:t>
              </a:r>
              <a:r>
                <a:rPr lang="en-US" sz="1300" b="1" kern="0" dirty="0">
                  <a:latin typeface="Arial Narrow" panose="020B0606020202030204" pitchFamily="34" charset="0"/>
                </a:rPr>
                <a:t>!</a:t>
              </a:r>
            </a:p>
          </p:txBody>
        </p:sp>
        <p:sp>
          <p:nvSpPr>
            <p:cNvPr id="27" name="TextBox 26"/>
            <p:cNvSpPr txBox="1"/>
            <p:nvPr/>
          </p:nvSpPr>
          <p:spPr>
            <a:xfrm>
              <a:off x="2071309" y="2156168"/>
              <a:ext cx="1685096" cy="1124126"/>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Your garden will make dinners and BBQs tastier and more fun because of </a:t>
              </a:r>
              <a:r>
                <a:rPr lang="en-US" sz="1300" b="1" i="1" kern="0" dirty="0">
                  <a:latin typeface="Arial Narrow" panose="020B0606020202030204" pitchFamily="34" charset="0"/>
                </a:rPr>
                <a:t>our great veggie options</a:t>
              </a:r>
              <a:r>
                <a:rPr lang="en-US" sz="1300" b="1" kern="0" dirty="0">
                  <a:latin typeface="Arial Narrow" panose="020B0606020202030204" pitchFamily="34" charset="0"/>
                </a:rPr>
                <a:t>. </a:t>
              </a:r>
            </a:p>
          </p:txBody>
        </p:sp>
        <p:sp>
          <p:nvSpPr>
            <p:cNvPr id="28" name="TextBox 27"/>
            <p:cNvSpPr txBox="1"/>
            <p:nvPr/>
          </p:nvSpPr>
          <p:spPr>
            <a:xfrm>
              <a:off x="3743476" y="2156167"/>
              <a:ext cx="1654629" cy="1124126"/>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You’ll know what to make with what’s in season because we even send you </a:t>
              </a:r>
              <a:r>
                <a:rPr lang="en-US" sz="1300" b="1" i="1" kern="0" dirty="0">
                  <a:latin typeface="Arial Narrow" panose="020B0606020202030204" pitchFamily="34" charset="0"/>
                </a:rPr>
                <a:t>monthly recipes</a:t>
              </a:r>
              <a:r>
                <a:rPr lang="en-US" sz="1300" b="1" kern="0" dirty="0">
                  <a:latin typeface="Arial Narrow" panose="020B0606020202030204" pitchFamily="34" charset="0"/>
                </a:rPr>
                <a:t>!</a:t>
              </a:r>
            </a:p>
          </p:txBody>
        </p:sp>
        <p:sp>
          <p:nvSpPr>
            <p:cNvPr id="29" name="TextBox 28"/>
            <p:cNvSpPr txBox="1"/>
            <p:nvPr/>
          </p:nvSpPr>
          <p:spPr>
            <a:xfrm>
              <a:off x="5415643" y="2156168"/>
              <a:ext cx="1654629" cy="363994"/>
            </a:xfrm>
            <a:prstGeom prst="rect">
              <a:avLst/>
            </a:prstGeom>
            <a:noFill/>
          </p:spPr>
          <p:txBody>
            <a:bodyPr wrap="square" lIns="86493" tIns="43247" rIns="86493" bIns="43247" rtlCol="0">
              <a:spAutoFit/>
            </a:bodyPr>
            <a:lstStyle/>
            <a:p>
              <a:pPr lvl="0"/>
              <a:r>
                <a:rPr lang="en-US" sz="1300" b="1" kern="0" dirty="0">
                  <a:solidFill>
                    <a:schemeClr val="tx1">
                      <a:lumMod val="40000"/>
                      <a:lumOff val="60000"/>
                    </a:schemeClr>
                  </a:solidFill>
                  <a:latin typeface="Arial Narrow" panose="020B0606020202030204" pitchFamily="34" charset="0"/>
                </a:rPr>
                <a:t>Value sentence #4</a:t>
              </a:r>
            </a:p>
          </p:txBody>
        </p:sp>
        <p:sp>
          <p:nvSpPr>
            <p:cNvPr id="30" name="TextBox 29">
              <a:extLst>
                <a:ext uri="{FF2B5EF4-FFF2-40B4-BE49-F238E27FC236}">
                  <a16:creationId xmlns:a16="http://schemas.microsoft.com/office/drawing/2014/main" id="{E311AD33-5142-4249-BC59-C4C9743F6BCE}"/>
                </a:ext>
              </a:extLst>
            </p:cNvPr>
            <p:cNvSpPr txBox="1"/>
            <p:nvPr/>
          </p:nvSpPr>
          <p:spPr>
            <a:xfrm>
              <a:off x="2112474" y="3768547"/>
              <a:ext cx="1594617" cy="180629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Edible plant options</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Vegetables and herbs</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Plants selected for your location and weather so they grow well and fit the type of food you like</a:t>
              </a:r>
            </a:p>
          </p:txBody>
        </p:sp>
        <p:sp>
          <p:nvSpPr>
            <p:cNvPr id="32" name="TextBox 31">
              <a:extLst>
                <a:ext uri="{FF2B5EF4-FFF2-40B4-BE49-F238E27FC236}">
                  <a16:creationId xmlns:a16="http://schemas.microsoft.com/office/drawing/2014/main" id="{18B8C9BE-B203-4AC1-92EC-B904B99A0EE8}"/>
                </a:ext>
              </a:extLst>
            </p:cNvPr>
            <p:cNvSpPr txBox="1"/>
            <p:nvPr/>
          </p:nvSpPr>
          <p:spPr>
            <a:xfrm>
              <a:off x="3734592" y="3768547"/>
              <a:ext cx="1594617" cy="2274069"/>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Free monthly newsletter with tips and recipes</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Recipes change with the seasons to fit exactly what’s ready to pick in your garden</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latin typeface="Arial Narrow" panose="020B0606020202030204" pitchFamily="34" charset="0"/>
                  <a:cs typeface="Calibri"/>
                </a:rPr>
                <a:t>24x7 online community to share tips and recipes</a:t>
              </a:r>
            </a:p>
          </p:txBody>
        </p:sp>
        <p:sp>
          <p:nvSpPr>
            <p:cNvPr id="33" name="TextBox 32">
              <a:extLst>
                <a:ext uri="{FF2B5EF4-FFF2-40B4-BE49-F238E27FC236}">
                  <a16:creationId xmlns:a16="http://schemas.microsoft.com/office/drawing/2014/main" id="{77C9C984-0CB2-47B9-B296-D9DCF7042C45}"/>
                </a:ext>
              </a:extLst>
            </p:cNvPr>
            <p:cNvSpPr txBox="1"/>
            <p:nvPr/>
          </p:nvSpPr>
          <p:spPr>
            <a:xfrm>
              <a:off x="5381724" y="3768547"/>
              <a:ext cx="1594617" cy="2507955"/>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#1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Product detail #2 proving the value sentence above</a:t>
              </a:r>
            </a:p>
          </p:txBody>
        </p:sp>
      </p:grpSp>
      <p:grpSp>
        <p:nvGrpSpPr>
          <p:cNvPr id="41" name="Group 40">
            <a:extLst>
              <a:ext uri="{FF2B5EF4-FFF2-40B4-BE49-F238E27FC236}">
                <a16:creationId xmlns:a16="http://schemas.microsoft.com/office/drawing/2014/main" id="{6CA2DA40-F74E-4EAE-AAD3-A86CDF2D538A}"/>
              </a:ext>
            </a:extLst>
          </p:cNvPr>
          <p:cNvGrpSpPr/>
          <p:nvPr/>
        </p:nvGrpSpPr>
        <p:grpSpPr>
          <a:xfrm>
            <a:off x="27553" y="3676097"/>
            <a:ext cx="953415" cy="580144"/>
            <a:chOff x="27553" y="1652184"/>
            <a:chExt cx="953415" cy="884419"/>
          </a:xfrm>
        </p:grpSpPr>
        <p:sp>
          <p:nvSpPr>
            <p:cNvPr id="42" name="Arrow: Pentagon 41">
              <a:extLst>
                <a:ext uri="{FF2B5EF4-FFF2-40B4-BE49-F238E27FC236}">
                  <a16:creationId xmlns:a16="http://schemas.microsoft.com/office/drawing/2014/main" id="{0E2923FA-9400-49CD-82D3-B4323B9AEB7F}"/>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43" name="Rectangle 42">
              <a:extLst>
                <a:ext uri="{FF2B5EF4-FFF2-40B4-BE49-F238E27FC236}">
                  <a16:creationId xmlns:a16="http://schemas.microsoft.com/office/drawing/2014/main" id="{14929F5B-095D-44BC-A871-DCBACCFDEE01}"/>
                </a:ext>
              </a:extLst>
            </p:cNvPr>
            <p:cNvSpPr/>
            <p:nvPr/>
          </p:nvSpPr>
          <p:spPr>
            <a:xfrm>
              <a:off x="27553" y="1652184"/>
              <a:ext cx="906017"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Product </a:t>
              </a:r>
              <a:r>
                <a:rPr lang="en-US" sz="1000" i="1" dirty="0">
                  <a:solidFill>
                    <a:srgbClr val="2E5BB6"/>
                  </a:solidFill>
                  <a:latin typeface="Arial Narrow" panose="020B0606020202030204" pitchFamily="34" charset="0"/>
                  <a:cs typeface="Calibri" pitchFamily="34" charset="0"/>
                </a:rPr>
                <a:t>details:</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5 min.</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“Detail Pitch”</a:t>
              </a:r>
              <a:endParaRPr lang="en-US" sz="1400" dirty="0">
                <a:latin typeface="Arial Narrow" panose="020B0606020202030204" pitchFamily="34" charset="0"/>
              </a:endParaRPr>
            </a:p>
          </p:txBody>
        </p:sp>
      </p:grpSp>
    </p:spTree>
    <p:extLst>
      <p:ext uri="{BB962C8B-B14F-4D97-AF65-F5344CB8AC3E}">
        <p14:creationId xmlns:p14="http://schemas.microsoft.com/office/powerpoint/2010/main" val="2971510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90512" y="939262"/>
            <a:ext cx="8562975" cy="669925"/>
          </a:xfrm>
        </p:spPr>
        <p:txBody>
          <a:bodyPr/>
          <a:lstStyle/>
          <a:p>
            <a:r>
              <a:rPr lang="en-US" sz="2000" dirty="0"/>
              <a:t>Message for ___________________________</a:t>
            </a:r>
            <a:endParaRPr lang="en-US" sz="2000" i="1" u="sng" dirty="0"/>
          </a:p>
        </p:txBody>
      </p:sp>
      <p:sp>
        <p:nvSpPr>
          <p:cNvPr id="5" name="Text Placeholder 4">
            <a:extLst>
              <a:ext uri="{FF2B5EF4-FFF2-40B4-BE49-F238E27FC236}">
                <a16:creationId xmlns:a16="http://schemas.microsoft.com/office/drawing/2014/main" id="{A3AEBF02-BFDB-4F61-ACF8-D74B5F561DBE}"/>
              </a:ext>
            </a:extLst>
          </p:cNvPr>
          <p:cNvSpPr>
            <a:spLocks noGrp="1"/>
          </p:cNvSpPr>
          <p:nvPr>
            <p:ph type="body" sz="quarter" idx="11"/>
          </p:nvPr>
        </p:nvSpPr>
        <p:spPr>
          <a:xfrm>
            <a:off x="290513" y="102978"/>
            <a:ext cx="8741291" cy="932200"/>
          </a:xfrm>
        </p:spPr>
        <p:txBody>
          <a:bodyPr/>
          <a:lstStyle/>
          <a:p>
            <a:r>
              <a:rPr lang="en-US" dirty="0"/>
              <a:t>Now it’s your turn …</a:t>
            </a:r>
            <a:r>
              <a:rPr lang="en-US" dirty="0">
                <a:cs typeface="Calibri"/>
              </a:rPr>
              <a:t> to finish! </a:t>
            </a:r>
            <a:r>
              <a:rPr lang="en-US" dirty="0"/>
              <a:t>You’ve got your audience, your Elevator Pitch, and your Support Pitch. Let’s write down key details to help your audience when they say, “Tell more </a:t>
            </a:r>
            <a:r>
              <a:rPr lang="en-US" dirty="0" err="1"/>
              <a:t>more</a:t>
            </a:r>
            <a:r>
              <a:rPr lang="en-US" dirty="0"/>
              <a:t> about </a:t>
            </a:r>
            <a:r>
              <a:rPr lang="en-US" i="1" dirty="0"/>
              <a:t>that one</a:t>
            </a:r>
            <a:r>
              <a:rPr lang="en-US" dirty="0"/>
              <a:t>.” If you have employees or salespeople, these details help them answer questions after they learn the Elevator Pitch and Support Pitch. And if you have a website, these details are a perfect start for your frequently asked questions (FAQ) section. Don’t worry about forgetting a detail. You can always add more. And your Elevator Pitch and </a:t>
            </a:r>
            <a:r>
              <a:rPr lang="en-US" i="1" dirty="0"/>
              <a:t>Support Pitch </a:t>
            </a:r>
            <a:r>
              <a:rPr lang="en-US" dirty="0"/>
              <a:t>are more important than the details, because those two pitches are what you’ll use every day to </a:t>
            </a:r>
            <a:r>
              <a:rPr lang="en-US" i="1" dirty="0"/>
              <a:t>persuade people </a:t>
            </a:r>
            <a:r>
              <a:rPr lang="en-US" dirty="0"/>
              <a:t>and </a:t>
            </a:r>
            <a:r>
              <a:rPr lang="en-US" i="1" dirty="0"/>
              <a:t>help your idea win</a:t>
            </a:r>
            <a:r>
              <a:rPr lang="en-US" dirty="0"/>
              <a:t>.</a:t>
            </a:r>
          </a:p>
        </p:txBody>
      </p:sp>
      <p:sp>
        <p:nvSpPr>
          <p:cNvPr id="19" name="Rectangle 18"/>
          <p:cNvSpPr/>
          <p:nvPr/>
        </p:nvSpPr>
        <p:spPr>
          <a:xfrm>
            <a:off x="1020726" y="1601475"/>
            <a:ext cx="7787606" cy="819847"/>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a:t>
            </a:r>
            <a:endParaRPr lang="en-US" sz="1400" dirty="0">
              <a:latin typeface="Arial Narrow" panose="020B0606020202030204" pitchFamily="34" charset="0"/>
              <a:cs typeface="Calibri"/>
            </a:endParaRPr>
          </a:p>
        </p:txBody>
      </p:sp>
      <p:grpSp>
        <p:nvGrpSpPr>
          <p:cNvPr id="37" name="Group 36">
            <a:extLst>
              <a:ext uri="{FF2B5EF4-FFF2-40B4-BE49-F238E27FC236}">
                <a16:creationId xmlns:a16="http://schemas.microsoft.com/office/drawing/2014/main" id="{272F9933-68D6-4D3E-A28C-9556015C826E}"/>
              </a:ext>
            </a:extLst>
          </p:cNvPr>
          <p:cNvGrpSpPr/>
          <p:nvPr/>
        </p:nvGrpSpPr>
        <p:grpSpPr>
          <a:xfrm>
            <a:off x="885273" y="2569598"/>
            <a:ext cx="8081095" cy="3253224"/>
            <a:chOff x="393237" y="2156168"/>
            <a:chExt cx="6771624" cy="4120335"/>
          </a:xfrm>
        </p:grpSpPr>
        <p:grpSp>
          <p:nvGrpSpPr>
            <p:cNvPr id="38" name="Group 37">
              <a:extLst>
                <a:ext uri="{FF2B5EF4-FFF2-40B4-BE49-F238E27FC236}">
                  <a16:creationId xmlns:a16="http://schemas.microsoft.com/office/drawing/2014/main" id="{D393771A-9CA5-4747-A54D-23AA240EC67E}"/>
                </a:ext>
              </a:extLst>
            </p:cNvPr>
            <p:cNvGrpSpPr/>
            <p:nvPr/>
          </p:nvGrpSpPr>
          <p:grpSpPr>
            <a:xfrm>
              <a:off x="2063158" y="2256653"/>
              <a:ext cx="3344380" cy="4000750"/>
              <a:chOff x="2166316" y="1678825"/>
              <a:chExt cx="3511598" cy="4741781"/>
            </a:xfrm>
          </p:grpSpPr>
          <p:cxnSp>
            <p:nvCxnSpPr>
              <p:cNvPr id="47" name="Straight Connector 46">
                <a:extLst>
                  <a:ext uri="{FF2B5EF4-FFF2-40B4-BE49-F238E27FC236}">
                    <a16:creationId xmlns:a16="http://schemas.microsoft.com/office/drawing/2014/main" id="{5EF21557-03CF-46B7-881A-5702D32C3B05}"/>
                  </a:ext>
                </a:extLst>
              </p:cNvPr>
              <p:cNvCxnSpPr>
                <a:cxnSpLocks/>
              </p:cNvCxnSpPr>
              <p:nvPr/>
            </p:nvCxnSpPr>
            <p:spPr bwMode="auto">
              <a:xfrm rot="5400000">
                <a:off x="-203780"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48" name="Straight Connector 47">
                <a:extLst>
                  <a:ext uri="{FF2B5EF4-FFF2-40B4-BE49-F238E27FC236}">
                    <a16:creationId xmlns:a16="http://schemas.microsoft.com/office/drawing/2014/main" id="{402011B9-4786-466E-BE1E-EF7630804862}"/>
                  </a:ext>
                </a:extLst>
              </p:cNvPr>
              <p:cNvCxnSpPr>
                <a:cxnSpLocks/>
              </p:cNvCxnSpPr>
              <p:nvPr/>
            </p:nvCxnSpPr>
            <p:spPr bwMode="auto">
              <a:xfrm rot="5400000">
                <a:off x="1551225" y="4048921"/>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cxnSp>
            <p:nvCxnSpPr>
              <p:cNvPr id="49" name="Straight Connector 48">
                <a:extLst>
                  <a:ext uri="{FF2B5EF4-FFF2-40B4-BE49-F238E27FC236}">
                    <a16:creationId xmlns:a16="http://schemas.microsoft.com/office/drawing/2014/main" id="{E4ED9F16-1F77-4179-83DC-58045086EB53}"/>
                  </a:ext>
                </a:extLst>
              </p:cNvPr>
              <p:cNvCxnSpPr>
                <a:cxnSpLocks/>
              </p:cNvCxnSpPr>
              <p:nvPr/>
            </p:nvCxnSpPr>
            <p:spPr bwMode="auto">
              <a:xfrm rot="5400000">
                <a:off x="3306230" y="4048922"/>
                <a:ext cx="4741780" cy="1588"/>
              </a:xfrm>
              <a:prstGeom prst="line">
                <a:avLst/>
              </a:prstGeom>
              <a:solidFill>
                <a:schemeClr val="accent1"/>
              </a:solidFill>
              <a:ln w="6350" cap="flat" cmpd="sng" algn="ctr">
                <a:solidFill>
                  <a:schemeClr val="bg1">
                    <a:lumMod val="50000"/>
                  </a:schemeClr>
                </a:solidFill>
                <a:prstDash val="solid"/>
                <a:round/>
                <a:headEnd type="none" w="med" len="med"/>
                <a:tailEnd type="none" w="med" len="med"/>
              </a:ln>
              <a:effectLst/>
            </p:spPr>
          </p:cxnSp>
        </p:grpSp>
        <p:sp>
          <p:nvSpPr>
            <p:cNvPr id="39" name="TextBox 38">
              <a:extLst>
                <a:ext uri="{FF2B5EF4-FFF2-40B4-BE49-F238E27FC236}">
                  <a16:creationId xmlns:a16="http://schemas.microsoft.com/office/drawing/2014/main" id="{DD1F3DCF-91D0-4D2E-829B-8D3F74A868B0}"/>
                </a:ext>
              </a:extLst>
            </p:cNvPr>
            <p:cNvSpPr txBox="1"/>
            <p:nvPr/>
          </p:nvSpPr>
          <p:spPr>
            <a:xfrm>
              <a:off x="459157" y="3768547"/>
              <a:ext cx="1594617" cy="250795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p:txBody>
        </p:sp>
        <p:sp>
          <p:nvSpPr>
            <p:cNvPr id="40" name="TextBox 39">
              <a:extLst>
                <a:ext uri="{FF2B5EF4-FFF2-40B4-BE49-F238E27FC236}">
                  <a16:creationId xmlns:a16="http://schemas.microsoft.com/office/drawing/2014/main" id="{B3489029-46B7-46F5-8522-39FB5D6A407A}"/>
                </a:ext>
              </a:extLst>
            </p:cNvPr>
            <p:cNvSpPr txBox="1"/>
            <p:nvPr/>
          </p:nvSpPr>
          <p:spPr>
            <a:xfrm>
              <a:off x="393237" y="2156168"/>
              <a:ext cx="1660536" cy="870749"/>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p:txBody>
        </p:sp>
        <p:sp>
          <p:nvSpPr>
            <p:cNvPr id="53" name="TextBox 52">
              <a:extLst>
                <a:ext uri="{FF2B5EF4-FFF2-40B4-BE49-F238E27FC236}">
                  <a16:creationId xmlns:a16="http://schemas.microsoft.com/office/drawing/2014/main" id="{4B3AD658-8D82-4F49-943E-D4371004AC17}"/>
                </a:ext>
              </a:extLst>
            </p:cNvPr>
            <p:cNvSpPr txBox="1"/>
            <p:nvPr/>
          </p:nvSpPr>
          <p:spPr>
            <a:xfrm>
              <a:off x="2018214" y="2156168"/>
              <a:ext cx="1783137" cy="870749"/>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p:txBody>
        </p:sp>
        <p:sp>
          <p:nvSpPr>
            <p:cNvPr id="54" name="TextBox 53">
              <a:extLst>
                <a:ext uri="{FF2B5EF4-FFF2-40B4-BE49-F238E27FC236}">
                  <a16:creationId xmlns:a16="http://schemas.microsoft.com/office/drawing/2014/main" id="{B9A54323-B2EF-4240-B4D7-7BBE532994C6}"/>
                </a:ext>
              </a:extLst>
            </p:cNvPr>
            <p:cNvSpPr txBox="1"/>
            <p:nvPr/>
          </p:nvSpPr>
          <p:spPr>
            <a:xfrm>
              <a:off x="3640332" y="2156168"/>
              <a:ext cx="1783137" cy="870749"/>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p:txBody>
        </p:sp>
        <p:sp>
          <p:nvSpPr>
            <p:cNvPr id="55" name="TextBox 54">
              <a:extLst>
                <a:ext uri="{FF2B5EF4-FFF2-40B4-BE49-F238E27FC236}">
                  <a16:creationId xmlns:a16="http://schemas.microsoft.com/office/drawing/2014/main" id="{C258F75D-4555-46E3-AD17-E547008E1841}"/>
                </a:ext>
              </a:extLst>
            </p:cNvPr>
            <p:cNvSpPr txBox="1"/>
            <p:nvPr/>
          </p:nvSpPr>
          <p:spPr>
            <a:xfrm>
              <a:off x="5381724" y="2156168"/>
              <a:ext cx="1783137" cy="870749"/>
            </a:xfrm>
            <a:prstGeom prst="rect">
              <a:avLst/>
            </a:prstGeom>
            <a:noFill/>
          </p:spPr>
          <p:txBody>
            <a:bodyPr wrap="square" lIns="86493" tIns="43247" rIns="86493" bIns="43247" rtlCol="0">
              <a:spAutoFit/>
            </a:bodyPr>
            <a:lstStyle/>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a:p>
              <a:pPr lvl="0"/>
              <a:r>
                <a:rPr lang="en-US" sz="1300" b="1" kern="0" dirty="0">
                  <a:latin typeface="Arial Narrow" panose="020B0606020202030204" pitchFamily="34" charset="0"/>
                </a:rPr>
                <a:t>_____________________</a:t>
              </a:r>
            </a:p>
          </p:txBody>
        </p:sp>
        <p:sp>
          <p:nvSpPr>
            <p:cNvPr id="24" name="TextBox 23">
              <a:extLst>
                <a:ext uri="{FF2B5EF4-FFF2-40B4-BE49-F238E27FC236}">
                  <a16:creationId xmlns:a16="http://schemas.microsoft.com/office/drawing/2014/main" id="{8653DC21-F3A0-44C4-851C-3B4E87ADE5C1}"/>
                </a:ext>
              </a:extLst>
            </p:cNvPr>
            <p:cNvSpPr txBox="1"/>
            <p:nvPr/>
          </p:nvSpPr>
          <p:spPr>
            <a:xfrm>
              <a:off x="2112473" y="3768547"/>
              <a:ext cx="1594617" cy="250795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p:txBody>
        </p:sp>
        <p:sp>
          <p:nvSpPr>
            <p:cNvPr id="25" name="TextBox 24">
              <a:extLst>
                <a:ext uri="{FF2B5EF4-FFF2-40B4-BE49-F238E27FC236}">
                  <a16:creationId xmlns:a16="http://schemas.microsoft.com/office/drawing/2014/main" id="{8CA2C0C5-7C04-4448-A9AE-53C2E5F1FF08}"/>
                </a:ext>
              </a:extLst>
            </p:cNvPr>
            <p:cNvSpPr txBox="1"/>
            <p:nvPr/>
          </p:nvSpPr>
          <p:spPr>
            <a:xfrm>
              <a:off x="3760404" y="3768547"/>
              <a:ext cx="1594617" cy="250795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p:txBody>
        </p:sp>
        <p:sp>
          <p:nvSpPr>
            <p:cNvPr id="26" name="TextBox 25">
              <a:extLst>
                <a:ext uri="{FF2B5EF4-FFF2-40B4-BE49-F238E27FC236}">
                  <a16:creationId xmlns:a16="http://schemas.microsoft.com/office/drawing/2014/main" id="{8ECF969B-3F29-4239-A007-A18566A30EF5}"/>
                </a:ext>
              </a:extLst>
            </p:cNvPr>
            <p:cNvSpPr txBox="1"/>
            <p:nvPr/>
          </p:nvSpPr>
          <p:spPr>
            <a:xfrm>
              <a:off x="5475654" y="3768547"/>
              <a:ext cx="1594617" cy="2507956"/>
            </a:xfrm>
            <a:prstGeom prst="rect">
              <a:avLst/>
            </a:prstGeom>
            <a:noFill/>
          </p:spPr>
          <p:txBody>
            <a:bodyPr wrap="square" lIns="86493" tIns="43247" rIns="86493" bIns="43247" rtlCol="0">
              <a:spAutoFit/>
            </a:bodyPr>
            <a:lstStyle/>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a:p>
              <a:pPr marL="216233" lvl="1" indent="-216233" algn="l" eaLnBrk="0" hangingPunct="0">
                <a:spcBef>
                  <a:spcPts val="900"/>
                </a:spcBef>
                <a:spcAft>
                  <a:spcPts val="0"/>
                </a:spcAft>
                <a:buClr>
                  <a:schemeClr val="bg1">
                    <a:lumMod val="50000"/>
                  </a:schemeClr>
                </a:buClr>
                <a:buSzPct val="80000"/>
                <a:buFont typeface="Wingdings" charset="2"/>
                <a:buChar char=""/>
                <a:defRPr/>
              </a:pP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br>
                <a:rPr lang="en-US" sz="1200" kern="0" dirty="0">
                  <a:solidFill>
                    <a:schemeClr val="tx1">
                      <a:lumMod val="40000"/>
                      <a:lumOff val="60000"/>
                    </a:schemeClr>
                  </a:solidFill>
                  <a:latin typeface="Arial Narrow" panose="020B0606020202030204" pitchFamily="34" charset="0"/>
                  <a:cs typeface="Calibri"/>
                </a:rPr>
              </a:br>
              <a:r>
                <a:rPr lang="en-US" sz="1200" kern="0" dirty="0">
                  <a:solidFill>
                    <a:schemeClr val="tx1">
                      <a:lumMod val="40000"/>
                      <a:lumOff val="60000"/>
                    </a:schemeClr>
                  </a:solidFill>
                  <a:latin typeface="Arial Narrow" panose="020B0606020202030204" pitchFamily="34" charset="0"/>
                  <a:cs typeface="Calibri"/>
                </a:rPr>
                <a:t>____________________</a:t>
              </a:r>
            </a:p>
          </p:txBody>
        </p:sp>
      </p:grpSp>
      <p:grpSp>
        <p:nvGrpSpPr>
          <p:cNvPr id="33" name="Group 32">
            <a:extLst>
              <a:ext uri="{FF2B5EF4-FFF2-40B4-BE49-F238E27FC236}">
                <a16:creationId xmlns:a16="http://schemas.microsoft.com/office/drawing/2014/main" id="{C2591251-9469-4FDC-929F-B746BEDF98B0}"/>
              </a:ext>
            </a:extLst>
          </p:cNvPr>
          <p:cNvGrpSpPr/>
          <p:nvPr/>
        </p:nvGrpSpPr>
        <p:grpSpPr>
          <a:xfrm>
            <a:off x="27553" y="3676097"/>
            <a:ext cx="953415" cy="580144"/>
            <a:chOff x="27553" y="1652184"/>
            <a:chExt cx="953415" cy="884419"/>
          </a:xfrm>
        </p:grpSpPr>
        <p:sp>
          <p:nvSpPr>
            <p:cNvPr id="34" name="Arrow: Pentagon 33">
              <a:extLst>
                <a:ext uri="{FF2B5EF4-FFF2-40B4-BE49-F238E27FC236}">
                  <a16:creationId xmlns:a16="http://schemas.microsoft.com/office/drawing/2014/main" id="{EAA4FEFD-4891-4524-B6E0-285B3A359AB2}"/>
                </a:ext>
              </a:extLst>
            </p:cNvPr>
            <p:cNvSpPr/>
            <p:nvPr/>
          </p:nvSpPr>
          <p:spPr bwMode="auto">
            <a:xfrm>
              <a:off x="68540" y="1662347"/>
              <a:ext cx="912428" cy="874256"/>
            </a:xfrm>
            <a:prstGeom prst="homePlate">
              <a:avLst>
                <a:gd name="adj" fmla="val 19370"/>
              </a:avLst>
            </a:prstGeom>
            <a:solidFill>
              <a:srgbClr val="DDFFFF"/>
            </a:solidFill>
            <a:ln w="9525">
              <a:solidFill>
                <a:schemeClr val="tx1"/>
              </a:solidFill>
              <a:round/>
              <a:headEnd/>
              <a:tailEnd/>
            </a:ln>
          </p:spPr>
          <p:txBody>
            <a:bodyPr wrap="none" anchor="ctr"/>
            <a:lstStyle/>
            <a:p>
              <a:endParaRPr lang="en-US" sz="1800">
                <a:solidFill>
                  <a:schemeClr val="tx1"/>
                </a:solidFill>
                <a:latin typeface="Arial Narrow" panose="020B0606020202030204" pitchFamily="34" charset="0"/>
                <a:cs typeface="Calibri" pitchFamily="34" charset="0"/>
              </a:endParaRPr>
            </a:p>
          </p:txBody>
        </p:sp>
        <p:sp>
          <p:nvSpPr>
            <p:cNvPr id="35" name="Rectangle 34">
              <a:extLst>
                <a:ext uri="{FF2B5EF4-FFF2-40B4-BE49-F238E27FC236}">
                  <a16:creationId xmlns:a16="http://schemas.microsoft.com/office/drawing/2014/main" id="{215244C7-2713-4DB5-B781-99D8DD8D9DEF}"/>
                </a:ext>
              </a:extLst>
            </p:cNvPr>
            <p:cNvSpPr/>
            <p:nvPr/>
          </p:nvSpPr>
          <p:spPr>
            <a:xfrm>
              <a:off x="27553" y="1652184"/>
              <a:ext cx="906017" cy="844560"/>
            </a:xfrm>
            <a:prstGeom prst="rect">
              <a:avLst/>
            </a:prstGeom>
          </p:spPr>
          <p:txBody>
            <a:bodyPr wrap="none">
              <a:spAutoFit/>
            </a:bodyPr>
            <a:lstStyle/>
            <a:p>
              <a:r>
                <a:rPr lang="en-US" sz="1000" dirty="0">
                  <a:solidFill>
                    <a:srgbClr val="2E5BB6"/>
                  </a:solidFill>
                  <a:latin typeface="Arial Narrow" panose="020B0606020202030204" pitchFamily="34" charset="0"/>
                  <a:cs typeface="Calibri" pitchFamily="34" charset="0"/>
                </a:rPr>
                <a:t>Product </a:t>
              </a:r>
              <a:r>
                <a:rPr lang="en-US" sz="1000" i="1" dirty="0">
                  <a:solidFill>
                    <a:srgbClr val="2E5BB6"/>
                  </a:solidFill>
                  <a:latin typeface="Arial Narrow" panose="020B0606020202030204" pitchFamily="34" charset="0"/>
                  <a:cs typeface="Calibri" pitchFamily="34" charset="0"/>
                </a:rPr>
                <a:t>details:</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5 min.</a:t>
              </a:r>
              <a:br>
                <a:rPr lang="en-US" sz="1000" dirty="0">
                  <a:solidFill>
                    <a:srgbClr val="2E5BB6"/>
                  </a:solidFill>
                  <a:latin typeface="Arial Narrow" panose="020B0606020202030204" pitchFamily="34" charset="0"/>
                  <a:cs typeface="Calibri" pitchFamily="34" charset="0"/>
                </a:rPr>
              </a:br>
              <a:r>
                <a:rPr lang="en-US" sz="1000" dirty="0">
                  <a:solidFill>
                    <a:srgbClr val="2E5BB6"/>
                  </a:solidFill>
                  <a:latin typeface="Arial Narrow" panose="020B0606020202030204" pitchFamily="34" charset="0"/>
                  <a:cs typeface="Calibri" pitchFamily="34" charset="0"/>
                </a:rPr>
                <a:t>“Detail Pitch”</a:t>
              </a:r>
              <a:endParaRPr lang="en-US" sz="1400" dirty="0">
                <a:latin typeface="Arial Narrow" panose="020B0606020202030204" pitchFamily="34" charset="0"/>
              </a:endParaRPr>
            </a:p>
          </p:txBody>
        </p:sp>
      </p:grpSp>
    </p:spTree>
    <p:extLst>
      <p:ext uri="{BB962C8B-B14F-4D97-AF65-F5344CB8AC3E}">
        <p14:creationId xmlns:p14="http://schemas.microsoft.com/office/powerpoint/2010/main" val="3839457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BCF96-1E6B-4806-B890-1F2B790EDB09}"/>
              </a:ext>
            </a:extLst>
          </p:cNvPr>
          <p:cNvSpPr>
            <a:spLocks noGrp="1"/>
          </p:cNvSpPr>
          <p:nvPr>
            <p:ph type="title"/>
          </p:nvPr>
        </p:nvSpPr>
        <p:spPr>
          <a:xfrm>
            <a:off x="390625" y="381698"/>
            <a:ext cx="8562975" cy="669925"/>
          </a:xfrm>
        </p:spPr>
        <p:txBody>
          <a:bodyPr/>
          <a:lstStyle/>
          <a:p>
            <a:r>
              <a:rPr lang="en-US" dirty="0"/>
              <a:t>You’re done! So what’s next? </a:t>
            </a:r>
            <a:br>
              <a:rPr lang="en-US" dirty="0"/>
            </a:br>
            <a:r>
              <a:rPr lang="en-US" dirty="0"/>
              <a:t>Put it all together and just … get … comfortable. </a:t>
            </a:r>
          </a:p>
        </p:txBody>
      </p:sp>
      <p:sp>
        <p:nvSpPr>
          <p:cNvPr id="4" name="Text Placeholder 3">
            <a:extLst>
              <a:ext uri="{FF2B5EF4-FFF2-40B4-BE49-F238E27FC236}">
                <a16:creationId xmlns:a16="http://schemas.microsoft.com/office/drawing/2014/main" id="{9C9C3A2F-2B70-4B54-9D13-2663EECD76D9}"/>
              </a:ext>
            </a:extLst>
          </p:cNvPr>
          <p:cNvSpPr>
            <a:spLocks noGrp="1"/>
          </p:cNvSpPr>
          <p:nvPr>
            <p:ph type="body" sz="quarter" idx="11"/>
          </p:nvPr>
        </p:nvSpPr>
        <p:spPr>
          <a:xfrm>
            <a:off x="390625" y="1259246"/>
            <a:ext cx="7905149" cy="612567"/>
          </a:xfrm>
        </p:spPr>
        <p:txBody>
          <a:bodyPr/>
          <a:lstStyle/>
          <a:p>
            <a:pPr>
              <a:lnSpc>
                <a:spcPct val="150000"/>
              </a:lnSpc>
            </a:pPr>
            <a:r>
              <a:rPr lang="en-US" dirty="0"/>
              <a:t>After you use apply the lessons of the </a:t>
            </a:r>
            <a:r>
              <a:rPr lang="en-US" i="1" dirty="0"/>
              <a:t>Persuasion Foundation Formula</a:t>
            </a:r>
            <a:r>
              <a:rPr lang="en-US" dirty="0"/>
              <a:t>, I’m 100% serious when I say </a:t>
            </a:r>
            <a:r>
              <a:rPr lang="en-US" b="1" i="1" dirty="0"/>
              <a:t>your story will be more persuasive and give your ideas a better chance to win </a:t>
            </a:r>
            <a:r>
              <a:rPr lang="en-US" i="1" dirty="0"/>
              <a:t>than what you’ll hear from the vast majority of sales and marketing “experts” I’ve known over many years. </a:t>
            </a:r>
            <a:br>
              <a:rPr lang="en-US" i="1" dirty="0"/>
            </a:br>
            <a:endParaRPr lang="en-US" i="1" dirty="0"/>
          </a:p>
          <a:p>
            <a:pPr>
              <a:lnSpc>
                <a:spcPct val="150000"/>
              </a:lnSpc>
            </a:pPr>
            <a:r>
              <a:rPr lang="en-US" dirty="0"/>
              <a:t>For confidence, let’s test what we came up with for Simple Sprouts. At this point, you know them as well as I do, right? Imagine </a:t>
            </a:r>
            <a:r>
              <a:rPr lang="en-US" i="1" dirty="0"/>
              <a:t>you</a:t>
            </a:r>
            <a:r>
              <a:rPr lang="en-US" dirty="0"/>
              <a:t> are that “frustrated gardener” asking a friendly, credible person for help. In reply, that person uses their 1-minute “Support Pitch” below. Would </a:t>
            </a:r>
            <a:r>
              <a:rPr lang="en-US" i="1" dirty="0"/>
              <a:t>you</a:t>
            </a:r>
            <a:r>
              <a:rPr lang="en-US" dirty="0"/>
              <a:t> really ignore them? </a:t>
            </a:r>
          </a:p>
        </p:txBody>
      </p:sp>
      <p:sp>
        <p:nvSpPr>
          <p:cNvPr id="5" name="Rectangle 4">
            <a:extLst>
              <a:ext uri="{FF2B5EF4-FFF2-40B4-BE49-F238E27FC236}">
                <a16:creationId xmlns:a16="http://schemas.microsoft.com/office/drawing/2014/main" id="{E9F08B3C-7645-4FEA-8069-4582C83EBD33}"/>
              </a:ext>
            </a:extLst>
          </p:cNvPr>
          <p:cNvSpPr/>
          <p:nvPr/>
        </p:nvSpPr>
        <p:spPr>
          <a:xfrm>
            <a:off x="662749" y="2992813"/>
            <a:ext cx="7578883" cy="1010668"/>
          </a:xfrm>
          <a:prstGeom prst="rect">
            <a:avLst/>
          </a:prstGeom>
        </p:spPr>
        <p:txBody>
          <a:bodyPr wrap="square" lIns="86493" tIns="43247" rIns="86493" bIns="43247">
            <a:spAutoFit/>
          </a:bodyPr>
          <a:lstStyle/>
          <a:p>
            <a:pPr algn="l">
              <a:spcAft>
                <a:spcPct val="20000"/>
              </a:spcAft>
              <a:defRPr/>
            </a:pPr>
            <a:r>
              <a:rPr lang="en-US" sz="1200" i="1" dirty="0">
                <a:solidFill>
                  <a:srgbClr val="2E5BB6"/>
                </a:solidFill>
                <a:latin typeface="Arial Narrow" panose="020B0606020202030204" pitchFamily="34" charset="0"/>
                <a:cs typeface="Calibri"/>
              </a:rPr>
              <a:t>“So you say you’d like a garden, but don’t have a ton of time? You might want to check out our seed pods. They give you a gorgeous garden with about five minutes of work because you just drop the pods in dirt and your plants have everything you need — the seeds, the soil, and even the right fertilizer. </a:t>
            </a:r>
            <a:r>
              <a:rPr lang="en-US" sz="1200" i="1" kern="0" dirty="0">
                <a:solidFill>
                  <a:srgbClr val="2E5BB6"/>
                </a:solidFill>
                <a:latin typeface="Arial Narrow" panose="020B0606020202030204" pitchFamily="34" charset="0"/>
              </a:rPr>
              <a:t>You won’t even get your hands dirty because everything is inside a clean, biodegradable wrapper. And because we have a bunch of great veggie options, your dinners and BBQs will be tastier and more fun. Plus, if you can boil water, you’ll know what to make with what’s in season because we even send you monthly recipes. Want to take a look?”</a:t>
            </a:r>
            <a:endParaRPr lang="en-US" sz="1200" dirty="0">
              <a:solidFill>
                <a:srgbClr val="2E5BB6"/>
              </a:solidFill>
              <a:latin typeface="Arial Narrow" panose="020B0606020202030204" pitchFamily="34" charset="0"/>
              <a:cs typeface="Calibri"/>
            </a:endParaRPr>
          </a:p>
        </p:txBody>
      </p:sp>
      <p:sp>
        <p:nvSpPr>
          <p:cNvPr id="19" name="Text Placeholder 3">
            <a:extLst>
              <a:ext uri="{FF2B5EF4-FFF2-40B4-BE49-F238E27FC236}">
                <a16:creationId xmlns:a16="http://schemas.microsoft.com/office/drawing/2014/main" id="{BEEB2FD5-DB31-42A8-970B-36038C5BDDB1}"/>
              </a:ext>
            </a:extLst>
          </p:cNvPr>
          <p:cNvSpPr txBox="1">
            <a:spLocks/>
          </p:cNvSpPr>
          <p:nvPr/>
        </p:nvSpPr>
        <p:spPr bwMode="auto">
          <a:xfrm>
            <a:off x="290513" y="4404079"/>
            <a:ext cx="8562975" cy="612567"/>
          </a:xfrm>
          <a:prstGeom prst="rect">
            <a:avLst/>
          </a:prstGeom>
          <a:noFill/>
          <a:ln w="9525">
            <a:noFill/>
            <a:miter lim="800000"/>
            <a:headEnd/>
            <a:tailEnd/>
          </a:ln>
        </p:spPr>
        <p:txBody>
          <a:bodyPr vert="horz" wrap="square" lIns="91399" tIns="45700" rIns="91399" bIns="45700" numCol="1" anchor="t" anchorCtr="0" compatLnSpc="1">
            <a:prstTxWarp prst="textNoShape">
              <a:avLst/>
            </a:prstTxWarp>
          </a:bodyPr>
          <a:lstStyle>
            <a:lvl1pPr marL="0" indent="0" algn="l" rtl="0" fontAlgn="base">
              <a:spcBef>
                <a:spcPct val="30000"/>
              </a:spcBef>
              <a:spcAft>
                <a:spcPct val="0"/>
              </a:spcAft>
              <a:buClr>
                <a:srgbClr val="2E5BB6"/>
              </a:buClr>
              <a:buSzPct val="60000"/>
              <a:buFont typeface="Wingdings" panose="05000000000000000000" pitchFamily="2" charset="2"/>
              <a:buNone/>
              <a:defRPr sz="1100">
                <a:solidFill>
                  <a:schemeClr val="tx1"/>
                </a:solidFill>
                <a:latin typeface="Arial Narrow" panose="020B0606020202030204" pitchFamily="34" charset="0"/>
                <a:ea typeface="+mn-ea"/>
                <a:cs typeface="Calibri" pitchFamily="34" charset="0"/>
              </a:defRPr>
            </a:lvl1pPr>
            <a:lvl2pPr marL="344488" indent="-171450" algn="l" rtl="0" fontAlgn="base">
              <a:lnSpc>
                <a:spcPct val="90000"/>
              </a:lnSpc>
              <a:spcBef>
                <a:spcPct val="20000"/>
              </a:spcBef>
              <a:spcAft>
                <a:spcPct val="0"/>
              </a:spcAft>
              <a:buClr>
                <a:srgbClr val="2E5BB6"/>
              </a:buClr>
              <a:buSzPct val="65000"/>
              <a:buFont typeface="Courier New" panose="02070309020205020404" pitchFamily="49" charset="0"/>
              <a:buChar char="o"/>
              <a:defRPr sz="1400">
                <a:solidFill>
                  <a:schemeClr val="tx1"/>
                </a:solidFill>
                <a:latin typeface="Arial Narrow" panose="020B0606020202030204" pitchFamily="34" charset="0"/>
                <a:cs typeface="Calibri" pitchFamily="34" charset="0"/>
              </a:defRPr>
            </a:lvl2pPr>
            <a:lvl3pPr marL="747713" indent="-236538" algn="l" rtl="0" fontAlgn="base">
              <a:lnSpc>
                <a:spcPct val="90000"/>
              </a:lnSpc>
              <a:spcBef>
                <a:spcPct val="20000"/>
              </a:spcBef>
              <a:spcAft>
                <a:spcPct val="0"/>
              </a:spcAft>
              <a:buChar char="•"/>
              <a:defRPr sz="1400">
                <a:solidFill>
                  <a:schemeClr val="tx1"/>
                </a:solidFill>
                <a:latin typeface="Arial Narrow" panose="020B0606020202030204" pitchFamily="34" charset="0"/>
                <a:cs typeface="Calibri" pitchFamily="34" charset="0"/>
              </a:defRPr>
            </a:lvl3pPr>
            <a:lvl4pPr marL="1600200" indent="-342900" algn="l" rtl="0" fontAlgn="base">
              <a:lnSpc>
                <a:spcPct val="90000"/>
              </a:lnSpc>
              <a:spcBef>
                <a:spcPct val="20000"/>
              </a:spcBef>
              <a:spcAft>
                <a:spcPct val="0"/>
              </a:spcAft>
              <a:buChar char="–"/>
              <a:defRPr sz="1600">
                <a:solidFill>
                  <a:schemeClr val="tx1"/>
                </a:solidFill>
                <a:latin typeface="Calibri" pitchFamily="34" charset="0"/>
                <a:cs typeface="Calibri" pitchFamily="34" charset="0"/>
              </a:defRPr>
            </a:lvl4pPr>
            <a:lvl5pPr marL="2386013" indent="-323850" algn="l" rtl="0" fontAlgn="base">
              <a:lnSpc>
                <a:spcPct val="90000"/>
              </a:lnSpc>
              <a:spcBef>
                <a:spcPct val="20000"/>
              </a:spcBef>
              <a:spcAft>
                <a:spcPct val="0"/>
              </a:spcAft>
              <a:buClr>
                <a:schemeClr val="tx2"/>
              </a:buClr>
              <a:buChar char="–"/>
              <a:defRPr sz="1600">
                <a:solidFill>
                  <a:schemeClr val="tx1"/>
                </a:solidFill>
                <a:latin typeface="Calibri" pitchFamily="34" charset="0"/>
                <a:cs typeface="Calibri" pitchFamily="34" charset="0"/>
              </a:defRPr>
            </a:lvl5pPr>
            <a:lvl6pPr marL="2818534"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6pPr>
            <a:lvl7pPr marL="3251000"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7pPr>
            <a:lvl8pPr marL="3683465"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8pPr>
            <a:lvl9pPr marL="4115931"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9pPr>
          </a:lstStyle>
          <a:p>
            <a:pPr>
              <a:lnSpc>
                <a:spcPct val="150000"/>
              </a:lnSpc>
            </a:pPr>
            <a:r>
              <a:rPr lang="en-US" b="1" i="1" kern="0" dirty="0"/>
              <a:t>Ok. Enough about Simple Sprouts. It’s your time. And you’re ready! </a:t>
            </a:r>
          </a:p>
          <a:p>
            <a:pPr>
              <a:lnSpc>
                <a:spcPct val="150000"/>
              </a:lnSpc>
            </a:pPr>
            <a:r>
              <a:rPr lang="en-US" kern="0" dirty="0"/>
              <a:t>You’ve thought about your audience and connected what they desire to what you offer. You’ve built your story. Now, use it in conversation and meetings. Use it to sell your great ideas. Use it on your website. Use it in ads and press releases. When I create these stories for companies large and small, </a:t>
            </a:r>
            <a:r>
              <a:rPr lang="en-US" i="1" kern="0" dirty="0"/>
              <a:t>everyone</a:t>
            </a:r>
            <a:r>
              <a:rPr lang="en-US" kern="0" dirty="0"/>
              <a:t> from the CEO to the sales team and from the website team to the PR (public relations) department considers this one-page version of the story to be their </a:t>
            </a:r>
            <a:r>
              <a:rPr lang="en-US" i="1" kern="0" dirty="0"/>
              <a:t>foundation to be persuasive</a:t>
            </a:r>
            <a:r>
              <a:rPr lang="en-US" kern="0" dirty="0"/>
              <a:t>. </a:t>
            </a:r>
          </a:p>
          <a:p>
            <a:pPr>
              <a:lnSpc>
                <a:spcPct val="150000"/>
              </a:lnSpc>
            </a:pPr>
            <a:r>
              <a:rPr lang="en-US" b="1" kern="0" dirty="0"/>
              <a:t>Now you have your own </a:t>
            </a:r>
            <a:r>
              <a:rPr lang="en-US" b="1" i="1" kern="0" dirty="0"/>
              <a:t>Persuasion Foundation</a:t>
            </a:r>
            <a:r>
              <a:rPr lang="en-US" b="1" kern="0" dirty="0"/>
              <a:t>. </a:t>
            </a:r>
            <a:r>
              <a:rPr lang="en-US" kern="0" dirty="0"/>
              <a:t>Take it out for a spin. Get comfortable. Sure, you’ll refine it over time. But as long as you </a:t>
            </a:r>
            <a:r>
              <a:rPr lang="en-US" i="1" kern="0" dirty="0"/>
              <a:t>always </a:t>
            </a:r>
            <a:r>
              <a:rPr lang="en-US" kern="0" dirty="0"/>
              <a:t>remember to connect audience desires to what you offer, you’re giving yourself, your business, and your ideas </a:t>
            </a:r>
            <a:r>
              <a:rPr lang="en-US" b="1" kern="0" dirty="0"/>
              <a:t>the best chance to win</a:t>
            </a:r>
            <a:r>
              <a:rPr lang="en-US" kern="0" dirty="0"/>
              <a:t>.</a:t>
            </a:r>
          </a:p>
        </p:txBody>
      </p:sp>
    </p:spTree>
    <p:extLst>
      <p:ext uri="{BB962C8B-B14F-4D97-AF65-F5344CB8AC3E}">
        <p14:creationId xmlns:p14="http://schemas.microsoft.com/office/powerpoint/2010/main" val="3030557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Related image">
            <a:extLst>
              <a:ext uri="{FF2B5EF4-FFF2-40B4-BE49-F238E27FC236}">
                <a16:creationId xmlns:a16="http://schemas.microsoft.com/office/drawing/2014/main" id="{D24F03D3-CD73-4AEF-9A00-D631ACF254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37209"/>
          <a:stretch/>
        </p:blipFill>
        <p:spPr bwMode="auto">
          <a:xfrm>
            <a:off x="0" y="0"/>
            <a:ext cx="9144000" cy="459326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A458C0E-ED78-438A-A46E-B4D3FBAD35F8}"/>
              </a:ext>
            </a:extLst>
          </p:cNvPr>
          <p:cNvSpPr>
            <a:spLocks noGrp="1"/>
          </p:cNvSpPr>
          <p:nvPr>
            <p:ph type="title"/>
          </p:nvPr>
        </p:nvSpPr>
        <p:spPr>
          <a:xfrm>
            <a:off x="2537637" y="-163033"/>
            <a:ext cx="4068726" cy="1290083"/>
          </a:xfrm>
          <a:solidFill>
            <a:schemeClr val="tx1">
              <a:alpha val="68000"/>
            </a:schemeClr>
          </a:solidFill>
          <a:effectLst>
            <a:softEdge rad="317500"/>
          </a:effectLst>
        </p:spPr>
        <p:txBody>
          <a:bodyPr/>
          <a:lstStyle/>
          <a:p>
            <a:pPr algn="ctr"/>
            <a:r>
              <a:rPr lang="en-US" sz="3200" b="1" dirty="0">
                <a:solidFill>
                  <a:schemeClr val="bg1"/>
                </a:solidFill>
              </a:rPr>
              <a:t>Congratulations</a:t>
            </a:r>
            <a:r>
              <a:rPr lang="en-US" b="1" dirty="0">
                <a:solidFill>
                  <a:schemeClr val="bg1"/>
                </a:solidFill>
              </a:rPr>
              <a:t>!</a:t>
            </a:r>
          </a:p>
        </p:txBody>
      </p:sp>
      <p:sp>
        <p:nvSpPr>
          <p:cNvPr id="3" name="Slide Number Placeholder 2">
            <a:extLst>
              <a:ext uri="{FF2B5EF4-FFF2-40B4-BE49-F238E27FC236}">
                <a16:creationId xmlns:a16="http://schemas.microsoft.com/office/drawing/2014/main" id="{E7D5B3B2-4398-4869-AA9F-06012DDF0C8C}"/>
              </a:ext>
            </a:extLst>
          </p:cNvPr>
          <p:cNvSpPr>
            <a:spLocks noGrp="1"/>
          </p:cNvSpPr>
          <p:nvPr>
            <p:ph type="sldNum" sz="quarter" idx="10"/>
          </p:nvPr>
        </p:nvSpPr>
        <p:spPr/>
        <p:txBody>
          <a:bodyPr/>
          <a:lstStyle/>
          <a:p>
            <a:pPr>
              <a:defRPr/>
            </a:pPr>
            <a:fld id="{DFE0C305-EB60-4410-962D-772AA82E3DED}" type="slidenum">
              <a:rPr lang="en-US" smtClean="0"/>
              <a:pPr>
                <a:defRPr/>
              </a:pPr>
              <a:t>15</a:t>
            </a:fld>
            <a:endParaRPr lang="en-US"/>
          </a:p>
        </p:txBody>
      </p:sp>
      <p:sp>
        <p:nvSpPr>
          <p:cNvPr id="6" name="TextBox 5">
            <a:extLst>
              <a:ext uri="{FF2B5EF4-FFF2-40B4-BE49-F238E27FC236}">
                <a16:creationId xmlns:a16="http://schemas.microsoft.com/office/drawing/2014/main" id="{E0A09C0E-E389-4160-8BA2-8E55CC7A58BE}"/>
              </a:ext>
            </a:extLst>
          </p:cNvPr>
          <p:cNvSpPr txBox="1"/>
          <p:nvPr/>
        </p:nvSpPr>
        <p:spPr>
          <a:xfrm>
            <a:off x="542474" y="4756298"/>
            <a:ext cx="8059051" cy="1754326"/>
          </a:xfrm>
          <a:prstGeom prst="rect">
            <a:avLst/>
          </a:prstGeom>
          <a:noFill/>
        </p:spPr>
        <p:txBody>
          <a:bodyPr wrap="square" rtlCol="0">
            <a:spAutoFit/>
          </a:bodyPr>
          <a:lstStyle/>
          <a:p>
            <a:r>
              <a:rPr lang="en-US" sz="1800" dirty="0">
                <a:latin typeface="Arial Narrow" panose="020B0606020202030204" pitchFamily="34" charset="0"/>
              </a:rPr>
              <a:t>You’re a graduate of the </a:t>
            </a:r>
            <a:r>
              <a:rPr lang="en-US" sz="1800" i="1" dirty="0">
                <a:latin typeface="Arial Narrow" panose="020B0606020202030204" pitchFamily="34" charset="0"/>
              </a:rPr>
              <a:t>Persuasion Foundation Formula</a:t>
            </a:r>
            <a:r>
              <a:rPr lang="en-US" sz="1400" baseline="30000" dirty="0">
                <a:latin typeface="Arial Narrow" panose="020B0606020202030204" pitchFamily="34" charset="0"/>
              </a:rPr>
              <a:t>™</a:t>
            </a:r>
            <a:r>
              <a:rPr lang="en-US" sz="1800" dirty="0">
                <a:latin typeface="Arial Narrow" panose="020B0606020202030204" pitchFamily="34" charset="0"/>
              </a:rPr>
              <a:t> and you’ve created your own persuasive story. I can’t wait to hear about your successes as you </a:t>
            </a:r>
            <a:r>
              <a:rPr lang="en-US" sz="1800" i="1" dirty="0">
                <a:latin typeface="Arial Narrow" panose="020B0606020202030204" pitchFamily="34" charset="0"/>
              </a:rPr>
              <a:t>help people realize that doing what you want is truly in their own best interests.</a:t>
            </a:r>
            <a:r>
              <a:rPr lang="en-US" sz="1800" dirty="0">
                <a:latin typeface="Arial Narrow" panose="020B0606020202030204" pitchFamily="34" charset="0"/>
              </a:rPr>
              <a:t> </a:t>
            </a:r>
          </a:p>
          <a:p>
            <a:endParaRPr lang="en-US" sz="1800" dirty="0">
              <a:latin typeface="Arial Narrow" panose="020B0606020202030204" pitchFamily="34" charset="0"/>
            </a:endParaRPr>
          </a:p>
          <a:p>
            <a:r>
              <a:rPr lang="en-US" sz="1800" dirty="0">
                <a:latin typeface="Arial Narrow" panose="020B0606020202030204" pitchFamily="34" charset="0"/>
              </a:rPr>
              <a:t>Please spread the word by sending people you care about to KenRosen.tv. </a:t>
            </a:r>
            <a:br>
              <a:rPr lang="en-US" sz="1800" dirty="0">
                <a:latin typeface="Arial Narrow" panose="020B0606020202030204" pitchFamily="34" charset="0"/>
              </a:rPr>
            </a:br>
            <a:r>
              <a:rPr lang="en-US" sz="1800" dirty="0">
                <a:latin typeface="Arial Narrow" panose="020B0606020202030204" pitchFamily="34" charset="0"/>
              </a:rPr>
              <a:t>And </a:t>
            </a:r>
            <a:r>
              <a:rPr lang="en-US" sz="1800" b="1" i="1" dirty="0">
                <a:latin typeface="Arial Narrow" panose="020B0606020202030204" pitchFamily="34" charset="0"/>
              </a:rPr>
              <a:t>join my mission to help good people get more of what they want!</a:t>
            </a:r>
          </a:p>
        </p:txBody>
      </p:sp>
    </p:spTree>
    <p:extLst>
      <p:ext uri="{BB962C8B-B14F-4D97-AF65-F5344CB8AC3E}">
        <p14:creationId xmlns:p14="http://schemas.microsoft.com/office/powerpoint/2010/main" val="4278801219"/>
      </p:ext>
    </p:extLst>
  </p:cSld>
  <p:clrMapOvr>
    <a:masterClrMapping/>
  </p:clrMapOvr>
</p:sld>
</file>

<file path=ppt/theme/theme1.xml><?xml version="1.0" encoding="utf-8"?>
<a:theme xmlns:a="http://schemas.openxmlformats.org/drawingml/2006/main" name="LifeSciBATrainingv1">
  <a:themeElements>
    <a:clrScheme name="PW 3-16">
      <a:dk1>
        <a:srgbClr val="424456"/>
      </a:dk1>
      <a:lt1>
        <a:srgbClr val="FFFFFF"/>
      </a:lt1>
      <a:dk2>
        <a:srgbClr val="BE5C30"/>
      </a:dk2>
      <a:lt2>
        <a:srgbClr val="BCA34F"/>
      </a:lt2>
      <a:accent1>
        <a:srgbClr val="767878"/>
      </a:accent1>
      <a:accent2>
        <a:srgbClr val="4272D2"/>
      </a:accent2>
      <a:accent3>
        <a:srgbClr val="005874"/>
      </a:accent3>
      <a:accent4>
        <a:srgbClr val="E8A429"/>
      </a:accent4>
      <a:accent5>
        <a:srgbClr val="85013A"/>
      </a:accent5>
      <a:accent6>
        <a:srgbClr val="008000"/>
      </a:accent6>
      <a:hlink>
        <a:srgbClr val="67AFBD"/>
      </a:hlink>
      <a:folHlink>
        <a:srgbClr val="BCA34F"/>
      </a:folHlink>
    </a:clrScheme>
    <a:fontScheme name="ArielNarrow">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triangl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triangl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txDef>
      <a:spPr>
        <a:noFill/>
      </a:spPr>
      <a:bodyPr wrap="square" rtlCol="0">
        <a:spAutoFit/>
      </a:bodyPr>
      <a:lstStyle>
        <a:defPPr algn="l">
          <a:defRPr sz="2000" dirty="0" err="1" smtClean="0">
            <a:latin typeface="Arial Narrow" panose="020B0606020202030204" pitchFamily="34" charset="0"/>
          </a:defRPr>
        </a:defPPr>
      </a:lstStyle>
    </a:txDef>
  </a:objectDefaults>
  <a:extraClrSchemeLst>
    <a:extraClrScheme>
      <a:clrScheme name="LifeSciBATrainingv1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LifeSciBATrainingv1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LifeSciBATrainingv1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LifeSciBATrainingv1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LifeSciBATrainingv1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LifeSciBATrainingv1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LifeSciBATrainingv1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LifeSciBATrainingv1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Example Positioning Statement--Acme on Life Science</Template>
  <TotalTime>14318</TotalTime>
  <Words>8512</Words>
  <Application>Microsoft Macintosh PowerPoint</Application>
  <PresentationFormat>On-screen Show (4:3)</PresentationFormat>
  <Paragraphs>412</Paragraphs>
  <Slides>15</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 Narrow</vt:lpstr>
      <vt:lpstr>Calibri</vt:lpstr>
      <vt:lpstr>Calibri Light</vt:lpstr>
      <vt:lpstr>Courier New</vt:lpstr>
      <vt:lpstr>Garamond</vt:lpstr>
      <vt:lpstr>Times New Roman</vt:lpstr>
      <vt:lpstr>Wingdings</vt:lpstr>
      <vt:lpstr>LifeSciBATrainingv1</vt:lpstr>
      <vt:lpstr>Persuasion Foundation Formula™ Course </vt:lpstr>
      <vt:lpstr>Goals for Our Story</vt:lpstr>
      <vt:lpstr>Message for [Your Selected Target Audience]</vt:lpstr>
      <vt:lpstr>Message for [Your Selected Target Audience]</vt:lpstr>
      <vt:lpstr>Message for Frustrated Gardeners</vt:lpstr>
      <vt:lpstr>Message for ___________________________</vt:lpstr>
      <vt:lpstr>Message for Frustrated Gardeners</vt:lpstr>
      <vt:lpstr>Message for ___________________________</vt:lpstr>
      <vt:lpstr>Message for Frustrated Gardeners</vt:lpstr>
      <vt:lpstr>Message for Frustrated Gardeners</vt:lpstr>
      <vt:lpstr>Message for ___________________________</vt:lpstr>
      <vt:lpstr>Message for Frustrated Gardeners</vt:lpstr>
      <vt:lpstr>Message for ___________________________</vt:lpstr>
      <vt:lpstr>You’re done! So what’s next?  Put it all together and just … get … comfortable. </vt:lpstr>
      <vt:lpstr>Congratulations!</vt:lpstr>
    </vt:vector>
  </TitlesOfParts>
  <Company>Theory &amp; Practice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Deliverable Examples</dc:title>
  <dc:creator>Ken Rosen</dc:creator>
  <cp:lastModifiedBy>Ken Rosen (IC)</cp:lastModifiedBy>
  <cp:revision>259</cp:revision>
  <cp:lastPrinted>2013-03-15T17:25:26Z</cp:lastPrinted>
  <dcterms:created xsi:type="dcterms:W3CDTF">2002-06-06T18:25:30Z</dcterms:created>
  <dcterms:modified xsi:type="dcterms:W3CDTF">2021-07-23T20:16:27Z</dcterms:modified>
</cp:coreProperties>
</file>